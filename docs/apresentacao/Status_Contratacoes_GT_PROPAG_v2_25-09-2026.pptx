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1ª carga (de 17)</c:v>
                </c:pt>
              </c:strCache>
            </c:strRef>
          </c:tx>
          <c:spPr>
            <a:solidFill>
              <a:srgbClr val="E6E0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B223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Justificativa recebida</c:v>
                  </c:pt>
                  <c:pt idx="1">
                    <c:v>Via definida (ata/dispensa)</c:v>
                  </c:pt>
                  <c:pt idx="2">
                    <c:v>DOD elaborado</c:v>
                  </c:pt>
                  <c:pt idx="3">
                    <c:v>Manifestação do TI favorável</c:v>
                  </c:pt>
                  <c:pt idx="4">
                    <c:v>Processo SEI novo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7</c:v>
                </c:pt>
                <c:pt idx="2">
                  <c:v>5</c:v>
                </c:pt>
                <c:pt idx="3">
                  <c:v>1</c:v>
                </c:pt>
                <c:pt idx="4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2ª carga (de 20)</c:v>
                </c:pt>
              </c:strCache>
            </c:strRef>
          </c:tx>
          <c:spPr>
            <a:solidFill>
              <a:srgbClr val="1628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B223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Justificativa recebida</c:v>
                  </c:pt>
                  <c:pt idx="1">
                    <c:v>Via definida (ata/dispensa)</c:v>
                  </c:pt>
                  <c:pt idx="2">
                    <c:v>DOD elaborado</c:v>
                  </c:pt>
                  <c:pt idx="3">
                    <c:v>Manifestação do TI favorável</c:v>
                  </c:pt>
                  <c:pt idx="4">
                    <c:v>Processo SEI novo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14</c:v>
                </c:pt>
                <c:pt idx="1">
                  <c:v>9</c:v>
                </c:pt>
                <c:pt idx="2">
                  <c:v>7</c:v>
                </c:pt>
                <c:pt idx="3">
                  <c:v>5</c:v>
                </c:pt>
                <c:pt idx="4">
                  <c:v>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B2236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23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1B2236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Valor estimado (R$ mi)</c:v>
                </c:pt>
              </c:strCache>
            </c:strRef>
          </c:tx>
          <c:spPr>
            <a:solidFill>
              <a:srgbClr val="16284D"/>
            </a:solidFill>
            <a:effectLst/>
          </c:spPr>
          <c:invertIfNegative val="0"/>
          <c:dLbls>
            <c:numFmt formatCode="&quot;R$ &quot;0.00&quot; mi&quot;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6284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02 · Softwares</c:v>
                  </c:pt>
                  <c:pt idx="1">
                    <c:v>10 · Appliances backup</c:v>
                  </c:pt>
                  <c:pt idx="2">
                    <c:v>01 · Chromebooks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1.3</c:v>
                </c:pt>
                <c:pt idx="1">
                  <c:v>3.56</c:v>
                </c:pt>
                <c:pt idx="2">
                  <c:v>64.82</c:v>
                </c:pt>
              </c:numCache>
            </c:numRef>
          </c:val>
        </c:ser>
        <c:dLbls>
          <c:numFmt formatCode="&quot;R$ &quot;0.00&quot; mi&quot;" sourceLinked="0"/>
          <c:txPr>
            <a:bodyPr/>
            <a:lstStyle/>
            <a:p>
              <a:pPr>
                <a:defRPr b="1" i="0" strike="noStrike" sz="1400" u="none">
                  <a:solidFill>
                    <a:srgbClr val="16284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B223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Atualização da apresentação executiva com a planilha de andamento do GT de 24/09/2026 (2ª carga). Importante: a 2ª carga ainda não foi lançada no sistema — por regra, nada é implementado sem autorização. Os números do sistema refletem a 1ª carga (17 demandas); os números da 2ª carga são apurados da planilha e, quando dependem do checklist, aparecem como projeção.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mensagens. Primeiro: a planilha tem 20 linhas, mas não são simplesmente 3 linhas a mais — entraram 5 objetos e saíram 2. Segundo: houve avanço real no planejamento entre as duas cargas. Terceiro: o gargalo de responsabilidade continua — é dado do sistema. Quarto: a planilha nova traz divergências que precisam ser resolvidas antes de qualquer carga no sistema.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Painel do sistema capturado em alta definição (3840 × 2160 pixels). A imagem foi gerada a partir de uma réplica local construída com as mesmas migrations e a mesma carga da produção — os indicadores foram conferidos contra o banco de produção: 17 demandas, 276 atividades, 256 atividades abertas sem responsável e R$ 69.681.145,11. A 2ª carga (planilha de 24/09) ainda não está no sistema e só será lançada com autorização.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números da 2ª carga. O valor informado não mudou: R$ 69,68 milhões em três demandas. Justificativas pendentes caíram de 7 para 6, mesmo com mais demandas. As 354 atividades são uma projeção: é o checklist que o sistema geraria se a 2ª carga fosse lançada, mantendo a Tela interativa. No gráfico, os marcos da Etapa I nas duas cargas — atenção aos denominadores diferentes (17 e 20).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casamento entre as cargas foi feito pelo objeto, não pelo número, porque a planilha foi renumerada. 15 objetos continuam — 8 deles com número novo. A demanda de computadores foi desmembrada: básicos, notebooks e monitores ficaram no item 08 e os computadores avançados viraram o item 09. Saíram da planilha a Tela interativa, que o GT decidiu manter ativa, e o Firewall genérico, tratado como ponto de atenção no próximo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De-para completo entre a numeração da planilha de 24/09 (coluna Plan.) e a numeração que está no sistema (coluna Sist.). Em dourado, as renumeradas; em verde, as novas; em vermelho, os pontos que exigem verificação. Se a 2ª carga for autorizada, é preciso decidir se o sistema adota a numeração da planilha ou mantém a sua — o número no sistema é único e aparece na auditoria.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Firewall genérico sumiu da planilha e surgiu um Firewall Fortinet, em outra posição, já com processo SEI, justificativa e quantitativo. Tudo indica que é a mesma necessidade, agora detalhada — mas isso precisa ser confirmado pelo GT, porque muda o total da carteira (21 ou 22). Segundo ponto: a indicação de marca no objeto só é admitida com justificativa, nas hipóteses do art. 41, I, da Lei 14.133/2021. Vale ajustar o objeto para a especificação técnica ou juntar a justificativa de padronização.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Divergências encontradas na conferência linha a linha da planilha de 24/09 contra a 1ª carga. Nenhuma foi corrigida no sistema — por regra, qualquer lançamento depende de autorização. A de maior impacto é a possível dupla contagem de computadores: o item 08 lista 2.140 computadores de alto desempenho no quantitativo, enquanto o item 09 trata justamente de computadores avançados. Na 1ª carga também havia um erro de numeração: o Link de internet estava com número 0 na planilha — foi corrigido.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número de 32 atividades confere entre o documento de macroprocessos e o catálogo do sistema: 7 na Etapa I, 6 na II, 3 na III, 7 na IV e 9 na V. O checklist de cada demanda depende da modalidade: 32 na adesão, 26 nas demais (sem a Etapa II) e 7 enquanto está a definir. As 276 da produção foram conferidas por consulta direta ao banco. As 347 e 354 são projeções da 2ª carga: o checklist que o sistema geraria se a planilha fosse lançada.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Nenhuma linha da planilha indica avanço além da Etapa I: os marcos registrados são justificativa, DOD, ata, manifestação do TI e ETP/TR. A conta dos 58 a 86 dias: 15 dias corridos da SEPLAG, 20 dias úteis do PRODERJ (cerca de 28 corridos, ou 56 com a prorrogação) e 15 dias corridos da CGE.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Valores idênticos nas duas cargas: Chromebooks R$ 64.818.000,00; Appliances R$ 3.559.045,11; Softwares R$ 1.304.100,00; total R$ 69.681.145,11. A novidade da 2ª carga é a coluna de quantitativo: 13 linhas preenchidas, das quais 10 com quantidade efetiva (01, 02, 03, 05, 06, 07, 08, 10, 13 e 19) e 3 registrando que a quantidade não foi informada (04, 17 e 20).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Classificação pela planilha de 24/09, com a numeração da planilha, mais a Tela interativa, que está no sistema. Podem avançar: DOD elaborado e via definida por ata (ou participação). Em análise ou ajuste: justificativa recebida e DOD em análise, ou retorno com observações. Travadas: sem justificativa no drive, ou devolvidas à área técnica para rever quantitativo e itens. Total: 5 + 8 + 8 = 21.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Dado do sistema. O GT tem 15 integrantes em três frentes, mas só três atividades têm responsável. A coordenação pode resolver em uma reunião: designar o responsável geral de cada demanda e o responsável de cada etapa — o sistema propaga o nome para todas as atividades da etapa e avisa cada pessoa. A imagem mostra a tela de checklist da demanda 01 (Chromebooks).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Telas do sistema com os dados de produção (1ª carga): a lista de contratações com os filtros rápidos e o relatório de posição da carteira. Depois de autorizada a 2ª carga, estas mesmas telas passam a mostrar as 21 demandas.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Dois riscos novos nesta atualização: a carteira do sistema está defasada em relação à planilha, e a composição da 2ª carga tem pontos a confirmar (Firewall e computadores). Os demais seguem da apresentação anterior: divergência no número da ARP dos Softwares, atas sem vigência registrada e PCA/PEDTIC não confirmado.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demandas com DOD elaborado e via definida. Duas delas (Chromebooks e VoIP) estão paradas no Setor de Planejamento da FAETEC desde 18/09, sem resposta — o próximo passo é cobrar o retorno. O Antivírus entrou na lista e os Softwares saíram, porque o processo voltou ao GT com observações da Luene. Os 98% são Chromebooks (93%) mais Appliances (5%).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ações. A segunda é a decisão que depende de autorização: lançar a 2ª carga no sistema só depois de validadas as divergências e definido o de-para da numeração. Enquanto isso, o sistema segue com a 1ª carga e a Tela interativa ativa. Os prazos são sugestões para discussão no GT.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indicadores para o próximo report. O primeiro é novo: aderência entre a carteira do sistema e a planilha do GT (hoje 17 de 21, contando a Tela). As metas são sugestões para validação da coordenação.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8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GOVERNO DO ESTADO DO RIO DE JANEIRO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73775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E0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 PROPAG · COMPRAS PÚBLICAS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828800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E0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EXECUTIVA · ATUALIZAÇÃO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40280"/>
            <a:ext cx="10515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BFA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das contratações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BFA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FAETEC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02336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carteira passou de 17 para 20 demandas na planilha do GT. O que mudou, o que diverge e o que precisa de decisão.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4846320"/>
            <a:ext cx="1999427" cy="777240"/>
          </a:xfrm>
          <a:prstGeom prst="roundRect">
            <a:avLst>
              <a:gd name="adj" fmla="val 7059"/>
            </a:avLst>
          </a:prstGeom>
          <a:solidFill>
            <a:srgbClr val="1E3564"/>
          </a:solidFill>
          <a:ln w="9525">
            <a:solidFill>
              <a:srgbClr val="3A518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4873752"/>
            <a:ext cx="1725107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0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I</a:t>
            </a:r>
            <a:endParaRPr lang="en-US" sz="10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B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13827" y="4846320"/>
            <a:ext cx="1999427" cy="777240"/>
          </a:xfrm>
          <a:prstGeom prst="roundRect">
            <a:avLst>
              <a:gd name="adj" fmla="val 7059"/>
            </a:avLst>
          </a:prstGeom>
          <a:solidFill>
            <a:srgbClr val="1E3564"/>
          </a:solidFill>
          <a:ln w="9525">
            <a:solidFill>
              <a:srgbClr val="3A518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50987" y="4873752"/>
            <a:ext cx="1725107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0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II</a:t>
            </a:r>
            <a:endParaRPr lang="en-US" sz="10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B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Adesão à ARP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96134" y="4846320"/>
            <a:ext cx="1999427" cy="777240"/>
          </a:xfrm>
          <a:prstGeom prst="roundRect">
            <a:avLst>
              <a:gd name="adj" fmla="val 7059"/>
            </a:avLst>
          </a:prstGeom>
          <a:solidFill>
            <a:srgbClr val="1E3564"/>
          </a:solidFill>
          <a:ln w="9525">
            <a:solidFill>
              <a:srgbClr val="3A518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33294" y="4873752"/>
            <a:ext cx="1725107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0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III</a:t>
            </a:r>
            <a:endParaRPr lang="en-US" sz="10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B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Comunicações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278441" y="4846320"/>
            <a:ext cx="1999427" cy="777240"/>
          </a:xfrm>
          <a:prstGeom prst="roundRect">
            <a:avLst>
              <a:gd name="adj" fmla="val 7059"/>
            </a:avLst>
          </a:prstGeom>
          <a:solidFill>
            <a:srgbClr val="1E3564"/>
          </a:solidFill>
          <a:ln w="9525">
            <a:solidFill>
              <a:srgbClr val="3A518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15601" y="4873752"/>
            <a:ext cx="1725107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0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IV</a:t>
            </a:r>
            <a:endParaRPr lang="en-US" sz="10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B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de preços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460748" y="4846320"/>
            <a:ext cx="1999427" cy="777240"/>
          </a:xfrm>
          <a:prstGeom prst="roundRect">
            <a:avLst>
              <a:gd name="adj" fmla="val 7059"/>
            </a:avLst>
          </a:prstGeom>
          <a:solidFill>
            <a:srgbClr val="1E3564"/>
          </a:solidFill>
          <a:ln w="9525">
            <a:solidFill>
              <a:srgbClr val="3A518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597908" y="4873752"/>
            <a:ext cx="1725107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0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V</a:t>
            </a:r>
            <a:endParaRPr lang="en-US" sz="10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B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Formalização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B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SEDES · SECTI · FAETEC · PRODERJ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516575" y="585216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B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Posição em 25/09/2026</a:t>
            </a:r>
            <a:endParaRPr lang="en-US" sz="1300" dirty="0"/>
          </a:p>
          <a:p>
            <a:pPr algn="r" indent="0" marL="0">
              <a:buNone/>
            </a:pPr>
            <a:r>
              <a:rPr lang="en-US" sz="1300" dirty="0">
                <a:solidFill>
                  <a:srgbClr val="CF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(1ª carga) × planilha do GT de 24/09 (2ª carga)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5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EXECUTIVO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04672"/>
            <a:ext cx="10728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62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carteira cresceu, mas continua no planejamento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5227168" cy="1965960"/>
          </a:xfrm>
          <a:prstGeom prst="roundRect">
            <a:avLst>
              <a:gd name="adj" fmla="val 3721"/>
            </a:avLst>
          </a:prstGeom>
          <a:solidFill>
            <a:srgbClr val="FBFAF6"/>
          </a:solidFill>
          <a:ln w="9525">
            <a:solidFill>
              <a:srgbClr val="E2DCCF"/>
            </a:solidFill>
            <a:prstDash val="solid"/>
          </a:ln>
          <a:effectLst>
            <a:outerShdw sx="100000" sy="100000" kx="0" ky="0" algn="bl" rotWithShape="0" blurRad="76200" dist="25400" dir="5400000">
              <a:srgbClr val="16284D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194560"/>
            <a:ext cx="548640" cy="548640"/>
          </a:xfrm>
          <a:prstGeom prst="ellipse">
            <a:avLst/>
          </a:prstGeom>
          <a:solidFill>
            <a:srgbClr val="16284D"/>
          </a:solidFill>
          <a:ln w="12700">
            <a:solidFill>
              <a:srgbClr val="16284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2148840"/>
            <a:ext cx="385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→ 20 demandas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743200"/>
            <a:ext cx="3855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4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de +3 na planilha: 5 objetos novos e 2 que saíram (Tela interativa e Firewall). Com a Tela mantida ativa, a carteira consolidada tem 21.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33008" y="1828800"/>
            <a:ext cx="5227168" cy="1965960"/>
          </a:xfrm>
          <a:prstGeom prst="roundRect">
            <a:avLst>
              <a:gd name="adj" fmla="val 3721"/>
            </a:avLst>
          </a:prstGeom>
          <a:solidFill>
            <a:srgbClr val="FBFAF6"/>
          </a:solidFill>
          <a:ln w="9525">
            <a:solidFill>
              <a:srgbClr val="E2DCCF"/>
            </a:solidFill>
            <a:prstDash val="solid"/>
          </a:ln>
          <a:effectLst>
            <a:outerShdw sx="100000" sy="100000" kx="0" ky="0" algn="bl" rotWithShape="0" blurRad="76200" dist="25400" dir="5400000">
              <a:srgbClr val="16284D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53048" y="2194560"/>
            <a:ext cx="548640" cy="548640"/>
          </a:xfrm>
          <a:prstGeom prst="ellipse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53048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330288" y="2148840"/>
            <a:ext cx="385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planejamento andou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7330288" y="2743200"/>
            <a:ext cx="3855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4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 elaborado 5 → 7, manifestação favorável do TI 1 → 5, processo SEI novo 3 → 17. Nenhuma demanda passou da Etapa I.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1520" y="4069080"/>
            <a:ext cx="5227168" cy="1965960"/>
          </a:xfrm>
          <a:prstGeom prst="roundRect">
            <a:avLst>
              <a:gd name="adj" fmla="val 3721"/>
            </a:avLst>
          </a:prstGeom>
          <a:solidFill>
            <a:srgbClr val="FBFAF6"/>
          </a:solidFill>
          <a:ln w="9525">
            <a:solidFill>
              <a:srgbClr val="E2DCCF"/>
            </a:solidFill>
            <a:prstDash val="solid"/>
          </a:ln>
          <a:effectLst>
            <a:outerShdw sx="100000" sy="100000" kx="0" ky="0" algn="bl" rotWithShape="0" blurRad="76200" dist="25400" dir="5400000">
              <a:srgbClr val="16284D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51560" y="4434840"/>
            <a:ext cx="548640" cy="548640"/>
          </a:xfrm>
          <a:prstGeom prst="ellipse">
            <a:avLst/>
          </a:prstGeom>
          <a:solidFill>
            <a:srgbClr val="B3372B"/>
          </a:solidFill>
          <a:ln w="12700">
            <a:solidFill>
              <a:srgbClr val="B337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51560" y="4434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828800" y="4389120"/>
            <a:ext cx="385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3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 sem responsável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1828800" y="4983480"/>
            <a:ext cx="3855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4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sistema, 256 de 259 atividades abertas não têm integrante designado. Nenhuma demanda tem responsável geral.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33008" y="4069080"/>
            <a:ext cx="5227168" cy="1965960"/>
          </a:xfrm>
          <a:prstGeom prst="roundRect">
            <a:avLst>
              <a:gd name="adj" fmla="val 3721"/>
            </a:avLst>
          </a:prstGeom>
          <a:solidFill>
            <a:srgbClr val="FBFAF6"/>
          </a:solidFill>
          <a:ln w="9525">
            <a:solidFill>
              <a:srgbClr val="E2DCCF"/>
            </a:solidFill>
            <a:prstDash val="solid"/>
          </a:ln>
          <a:effectLst>
            <a:outerShdw sx="100000" sy="100000" kx="0" ky="0" algn="bl" rotWithShape="0" blurRad="76200" dist="25400" dir="5400000">
              <a:srgbClr val="16284D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53048" y="4434840"/>
            <a:ext cx="548640" cy="548640"/>
          </a:xfrm>
          <a:prstGeom prst="ellipse">
            <a:avLst/>
          </a:prstGeom>
          <a:solidFill>
            <a:srgbClr val="C8962F"/>
          </a:solidFill>
          <a:ln w="12700">
            <a:solidFill>
              <a:srgbClr val="C8962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53048" y="4434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330288" y="4389120"/>
            <a:ext cx="385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A5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divergências na planilha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7330288" y="4983480"/>
            <a:ext cx="3855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4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× Firewall Fortinet, possível dupla contagem de computadores, 4 processos SEI com ano incoerente, entre outras.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632764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 PROPAG · Posição em 25/09/2026 · Fontes: sistema (1ª carga) e planilha do GT de 24/09 (2ª carga)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10545775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8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EM PRODUÇÃO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53035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BFA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Painel de contratações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790895" y="566928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CF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 3840 × 2160 (4K) · dados idênticos à produção em 25/09 · 1ª carga, 17 demandas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313536" y="1143000"/>
            <a:ext cx="9564624" cy="5404104"/>
          </a:xfrm>
          <a:prstGeom prst="rect">
            <a:avLst/>
          </a:prstGeom>
          <a:solidFill>
            <a:srgbClr val="FFFFFF"/>
          </a:solidFill>
          <a:ln w="9525">
            <a:solidFill>
              <a:srgbClr val="CFC7B6"/>
            </a:solidFill>
            <a:prstDash val="solid"/>
          </a:ln>
          <a:effectLst>
            <a:outerShdw sx="100000" sy="100000" kx="0" ky="0" algn="bl" rotWithShape="0" blurRad="127000" dist="38100" dir="5400000">
              <a:srgbClr val="16284D">
                <a:alpha val="16000"/>
              </a:srgbClr>
            </a:outerShdw>
          </a:effectLst>
        </p:spPr>
      </p:sp>
      <p:pic>
        <p:nvPicPr>
          <p:cNvPr id="6" name="Image 0" descr="/tmp/claude-0/-home-user-seenemar-transportes/2be66098-066f-5523-9455-c1f8c8895c82/scratchpad/ppt/img/dashboard_4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0968" y="1170432"/>
            <a:ext cx="950976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5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 · 2ª CARGA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04672"/>
            <a:ext cx="10728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62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carteira em quatro números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2510714" cy="1737360"/>
          </a:xfrm>
          <a:prstGeom prst="roundRect">
            <a:avLst>
              <a:gd name="adj" fmla="val 4211"/>
            </a:avLst>
          </a:prstGeom>
          <a:solidFill>
            <a:srgbClr val="FBFAF6"/>
          </a:solidFill>
          <a:ln w="9525">
            <a:solidFill>
              <a:srgbClr val="E2DCCF"/>
            </a:solidFill>
            <a:prstDash val="solid"/>
          </a:ln>
          <a:effectLst>
            <a:outerShdw sx="100000" sy="100000" kx="0" ky="0" algn="bl" rotWithShape="0" blurRad="76200" dist="25400" dir="5400000">
              <a:srgbClr val="16284D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05840" y="1920240"/>
            <a:ext cx="20535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4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Demandas na planilha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240280"/>
            <a:ext cx="205351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62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52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108960"/>
            <a:ext cx="21449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 sobre a 1ª carga · 21 com a Tela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0834" y="1783080"/>
            <a:ext cx="2510714" cy="1737360"/>
          </a:xfrm>
          <a:prstGeom prst="roundRect">
            <a:avLst>
              <a:gd name="adj" fmla="val 4211"/>
            </a:avLst>
          </a:prstGeom>
          <a:solidFill>
            <a:srgbClr val="FBFAF6"/>
          </a:solidFill>
          <a:ln w="9525">
            <a:solidFill>
              <a:srgbClr val="E2DCCF"/>
            </a:solidFill>
            <a:prstDash val="solid"/>
          </a:ln>
          <a:effectLst>
            <a:outerShdw sx="100000" sy="100000" kx="0" ky="0" algn="bl" rotWithShape="0" blurRad="76200" dist="25400" dir="5400000">
              <a:srgbClr val="16284D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745154" y="1920240"/>
            <a:ext cx="20535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4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informado (R$ mi)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745154" y="2240280"/>
            <a:ext cx="205351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62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69,7</a:t>
            </a:r>
            <a:endParaRPr lang="en-US" sz="5200" dirty="0"/>
          </a:p>
        </p:txBody>
      </p:sp>
      <p:sp>
        <p:nvSpPr>
          <p:cNvPr id="11" name="Text 9"/>
          <p:cNvSpPr txBox="1"/>
          <p:nvPr/>
        </p:nvSpPr>
        <p:spPr>
          <a:xfrm>
            <a:off x="3745154" y="3108960"/>
            <a:ext cx="21449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inalterado · só 3 de 20 com valor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0148" y="1783080"/>
            <a:ext cx="2510714" cy="1737360"/>
          </a:xfrm>
          <a:prstGeom prst="roundRect">
            <a:avLst>
              <a:gd name="adj" fmla="val 4211"/>
            </a:avLst>
          </a:prstGeom>
          <a:solidFill>
            <a:srgbClr val="FBFAF6"/>
          </a:solidFill>
          <a:ln w="9525">
            <a:solidFill>
              <a:srgbClr val="E2DCCF"/>
            </a:solidFill>
            <a:prstDash val="solid"/>
          </a:ln>
          <a:effectLst>
            <a:outerShdw sx="100000" sy="100000" kx="0" ky="0" algn="bl" rotWithShape="0" blurRad="76200" dist="25400" dir="5400000">
              <a:srgbClr val="16284D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84468" y="1920240"/>
            <a:ext cx="20535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4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justificativa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84468" y="2240280"/>
            <a:ext cx="205351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B3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5200" dirty="0"/>
          </a:p>
        </p:txBody>
      </p:sp>
      <p:sp>
        <p:nvSpPr>
          <p:cNvPr id="15" name="Text 13"/>
          <p:cNvSpPr txBox="1"/>
          <p:nvPr/>
        </p:nvSpPr>
        <p:spPr>
          <a:xfrm>
            <a:off x="6484468" y="3108960"/>
            <a:ext cx="21449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eram 7 na 1ª carga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49461" y="1783080"/>
            <a:ext cx="2510714" cy="1737360"/>
          </a:xfrm>
          <a:prstGeom prst="roundRect">
            <a:avLst>
              <a:gd name="adj" fmla="val 4211"/>
            </a:avLst>
          </a:prstGeom>
          <a:solidFill>
            <a:srgbClr val="FBFAF6"/>
          </a:solidFill>
          <a:ln w="9525">
            <a:solidFill>
              <a:srgbClr val="E2DCCF"/>
            </a:solidFill>
            <a:prstDash val="solid"/>
          </a:ln>
          <a:effectLst>
            <a:outerShdw sx="100000" sy="100000" kx="0" ky="0" algn="bl" rotWithShape="0" blurRad="76200" dist="25400" dir="5400000">
              <a:srgbClr val="16284D">
                <a:alpha val="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223781" y="1920240"/>
            <a:ext cx="20535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4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Atividades previstas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223781" y="2240280"/>
            <a:ext cx="205351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8A5F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354</a:t>
            </a:r>
            <a:endParaRPr lang="en-US" sz="5200" dirty="0"/>
          </a:p>
        </p:txBody>
      </p:sp>
      <p:sp>
        <p:nvSpPr>
          <p:cNvPr id="19" name="Text 17"/>
          <p:cNvSpPr txBox="1"/>
          <p:nvPr/>
        </p:nvSpPr>
        <p:spPr>
          <a:xfrm>
            <a:off x="9223781" y="3108960"/>
            <a:ext cx="21449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eram 276 · projeção, fora do sistema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3749040"/>
            <a:ext cx="1072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Marcos do planejamento · 1ª carga (17) × 2ª carga (20)</a:t>
            </a:r>
            <a:endParaRPr lang="en-US" sz="16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731520" y="4069080"/>
          <a:ext cx="10728655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 txBox="1"/>
          <p:nvPr/>
        </p:nvSpPr>
        <p:spPr>
          <a:xfrm>
            <a:off x="731520" y="632764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 PROPAG · Posição em 25/09/2026 · Fontes: sistema (1ª carga) e planilha do GT de 24/09 (2ª carga)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10545775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5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 · 1ª × 2ª CARGA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04672"/>
            <a:ext cx="10728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62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“Mais 3 linhas” são 5 entradas e 2 saídas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3393338" cy="3429000"/>
          </a:xfrm>
          <a:prstGeom prst="roundRect">
            <a:avLst>
              <a:gd name="adj" fmla="val 2156"/>
            </a:avLst>
          </a:prstGeom>
          <a:solidFill>
            <a:srgbClr val="E1E8F5"/>
          </a:solidFill>
          <a:ln w="12700">
            <a:solidFill>
              <a:srgbClr val="E1E8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901952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62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901952"/>
            <a:ext cx="20217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Continuam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5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objeto; 8 renumeradas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834640"/>
            <a:ext cx="293613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Chromebooks · Softwares · VoIP · Câmeras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(06→05) · Microsoft (07→06)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Antivírus (08→07) · Computadores (09→08)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Appliances · Switch ToR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(13→12) · Rack (14→13)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lógicos · Telefonia móvel · Switch core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99178" y="1783080"/>
            <a:ext cx="3393338" cy="3429000"/>
          </a:xfrm>
          <a:prstGeom prst="roundRect">
            <a:avLst>
              <a:gd name="adj" fmla="val 2156"/>
            </a:avLst>
          </a:prstGeom>
          <a:solidFill>
            <a:srgbClr val="E2EFE6"/>
          </a:solidFill>
          <a:ln w="12700">
            <a:solidFill>
              <a:srgbClr val="E2EF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73498" y="1901952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5587898" y="1901952"/>
            <a:ext cx="20217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Entraram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5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correspondente no sistema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673498" y="2834640"/>
            <a:ext cx="293613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Computadores avançados (desmembrado)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Access Point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· Switch de acesso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· Firewall Fortinet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· Computador quântico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66837" y="1783080"/>
            <a:ext cx="3393338" cy="3429000"/>
          </a:xfrm>
          <a:prstGeom prst="roundRect">
            <a:avLst>
              <a:gd name="adj" fmla="val 2156"/>
            </a:avLst>
          </a:prstGeom>
          <a:solidFill>
            <a:srgbClr val="FBE2DE"/>
          </a:solidFill>
          <a:ln w="12700">
            <a:solidFill>
              <a:srgbClr val="FBE2D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41157" y="1901952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B3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9255557" y="1901952"/>
            <a:ext cx="20217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3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Saíram da planilha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5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seguem ativas no sistema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341157" y="2834640"/>
            <a:ext cx="293613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Tela interativa — mantida ativa por decisão do GT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Firewall — ponto de atenção: pode ter sido substituído pelo Firewall Fortinet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5394960"/>
            <a:ext cx="10728655" cy="749808"/>
          </a:xfrm>
          <a:prstGeom prst="roundRect">
            <a:avLst>
              <a:gd name="adj" fmla="val 9756"/>
            </a:avLst>
          </a:prstGeom>
          <a:solidFill>
            <a:srgbClr val="FBFAF6"/>
          </a:solidFill>
          <a:ln w="9525">
            <a:solidFill>
              <a:srgbClr val="E2DCCF"/>
            </a:solidFill>
            <a:prstDash val="solid"/>
          </a:ln>
          <a:effectLst>
            <a:outerShdw sx="100000" sy="100000" kx="0" ky="0" algn="bl" rotWithShape="0" blurRad="76200" dist="25400" dir="5400000">
              <a:srgbClr val="16284D">
                <a:alpha val="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1005840" y="5394960"/>
            <a:ext cx="101800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Conta: </a:t>
            </a:r>
            <a:pPr indent="0" marL="0">
              <a:buNone/>
            </a:pPr>
            <a:r>
              <a:rPr lang="en-US" sz="1500" dirty="0">
                <a:solidFill>
                  <a:srgbClr val="4A4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17 − 2 + 5 = 20 linhas na planilha.  Carteira consolidada: </a:t>
            </a:r>
            <a:pPr indent="0" marL="0">
              <a:buNone/>
            </a:pPr>
            <a:r>
              <a:rPr lang="en-US" sz="15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+ Tela interativa = 21</a:t>
            </a:r>
            <a:pPr indent="0" marL="0">
              <a:buNone/>
            </a:pPr>
            <a:r>
              <a:rPr lang="en-US" sz="1500" dirty="0">
                <a:solidFill>
                  <a:srgbClr val="4A4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(22 se o Firewall do sistema for uma demanda distinta do Firewall Fortinet).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632764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 PROPAG · Posição em 25/09/2026 · Fontes: sistema (1ª carga) e planilha do GT de 24/09 (2ª carga)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10545775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5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 · DE-PARA DA NUMERAÇÃO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04672"/>
            <a:ext cx="10728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62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Número na planilha × número no sistema</a:t>
            </a:r>
            <a:endParaRPr lang="en-US" sz="3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91640"/>
          <a:ext cx="5227168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2148840"/>
                <a:gridCol w="548640"/>
                <a:gridCol w="202676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B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B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B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B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Mudança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Chromebooks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 de acordo; ETP elaborado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Softwares edição/arquitetura/eng.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Retornou ao GT com observações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Telefonia VoIP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SEI novo informado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Câmeras de segurança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Aguarda revisão da justificativa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de internet (SD-WAN)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A5F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Renumerada · DOD elaborado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Licenças Microsoft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A5F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Renumerada · TI SIM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Antivírus com EDR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A5F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Renumerada · DOD elaborado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Computadores básicos, notebooks, monitores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A5F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Renumerada · desmembrada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Computadores avançados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6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Nova (saiu do item 09 do sistema)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Appliances para backup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 de acordo; ETP elaborado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 top of rack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SEI novo; sem justificativa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33008" y="1691640"/>
          <a:ext cx="5227168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2148840"/>
                <a:gridCol w="548640"/>
                <a:gridCol w="202676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B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B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B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B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Mudança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Servidor hiperconvergente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A5F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Renumerada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19U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A5F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Renumerada · ata ARP 167/2025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Point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6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Pontos lógicos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33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SEI com ano 2028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Telefonia móvel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33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SEI com ano 2029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 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33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SEI com ano 2025; sem quantitativo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 de acesso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6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Firewall Fortinet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33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Nova ou substitui o Firewall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Computador quântico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6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Tela interativa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33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Fora da planilha · mantida ativa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Firewall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33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Fora da planilha · ponto de atenção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731520" y="632764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 PROPAG · Posição em 25/09/2026 · Fontes: sistema (1ª carga) e planilha do GT de 24/09 (2ª carga)</a:t>
            </a:r>
            <a:endParaRPr lang="en-US" sz="1050" dirty="0"/>
          </a:p>
        </p:txBody>
      </p:sp>
      <p:sp>
        <p:nvSpPr>
          <p:cNvPr id="7" name="Text 3"/>
          <p:cNvSpPr txBox="1"/>
          <p:nvPr/>
        </p:nvSpPr>
        <p:spPr>
          <a:xfrm>
            <a:off x="10545775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5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DE ATENÇÃO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04672"/>
            <a:ext cx="10728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62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Firewall (sistema) × Firewall Fortinet (planilha)</a:t>
            </a:r>
            <a:endParaRPr lang="en-US" sz="3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91640"/>
          <a:ext cx="1072865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931920"/>
                <a:gridCol w="460217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B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B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1ª carga · Firewall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B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2ª carga · Firewall Fortinet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Número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no sistema e na 1ª carga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 na planilha de 24/09 (o 12 agora é o Servidor)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Firewall — genérico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Firewall Fortinet — indica marca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Processo SEI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informado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SEI-260005/008714/2026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Justificativa / DOD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justificativa no drive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recebida em 24/09 · DOD em análise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Quantitativo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informado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NGFW, 2 conjuntos de licenças, 3 tipos de console (2 de cada), treinamento (3)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Ata · TI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ata · sem manifestação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ata · TI: NÃO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sistema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ativo · a definir · 7 atividades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existe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1520" y="4572000"/>
            <a:ext cx="5227168" cy="1572768"/>
          </a:xfrm>
          <a:prstGeom prst="roundRect">
            <a:avLst>
              <a:gd name="adj" fmla="val 4651"/>
            </a:avLst>
          </a:prstGeom>
          <a:solidFill>
            <a:srgbClr val="F7E9C9"/>
          </a:solidFill>
          <a:ln w="9525">
            <a:solidFill>
              <a:srgbClr val="F7E9C9"/>
            </a:solidFill>
            <a:prstDash val="solid"/>
          </a:ln>
          <a:effectLst>
            <a:outerShdw sx="100000" sy="100000" kx="0" ky="0" algn="bl" rotWithShape="0" blurRad="76200" dist="25400" dir="5400000">
              <a:srgbClr val="16284D">
                <a:alpha val="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960120" y="4645152"/>
            <a:ext cx="476996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A5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do GT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mesma demanda, agora detalhada? Então o 12 do sistema é atualizado e a carteira fica com 21. Se for outra, o Firewall genérico continua e a carteira vai a 22.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233008" y="4572000"/>
            <a:ext cx="5227168" cy="1572768"/>
          </a:xfrm>
          <a:prstGeom prst="roundRect">
            <a:avLst>
              <a:gd name="adj" fmla="val 4651"/>
            </a:avLst>
          </a:prstGeom>
          <a:solidFill>
            <a:srgbClr val="FBE2DE"/>
          </a:solidFill>
          <a:ln w="9525">
            <a:solidFill>
              <a:srgbClr val="FBE2DE"/>
            </a:solidFill>
            <a:prstDash val="solid"/>
          </a:ln>
          <a:effectLst>
            <a:outerShdw sx="100000" sy="100000" kx="0" ky="0" algn="bl" rotWithShape="0" blurRad="76200" dist="25400" dir="5400000">
              <a:srgbClr val="16284D">
                <a:alpha val="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461608" y="4645152"/>
            <a:ext cx="476996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B3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Indicação de marca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Citar “Fortinet” no objeto exige justificativa formal (padronização ou compatibilidade), conforme o art. 41, I, da Lei 14.133/2021. Sem ela, o DOD e o TR ficam expostos a questionamento.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632764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 PROPAG · Posição em 25/09/2026 · Fontes: sistema (1ª carga) e planilha do GT de 24/09 (2ª carga)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10545775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5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DOS DADOS · 2ª CARGA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04672"/>
            <a:ext cx="10728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62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Nove divergências a resolver antes da carga</a:t>
            </a:r>
            <a:endParaRPr lang="en-US" sz="3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91640"/>
          <a:ext cx="10728655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3383280"/>
                <a:gridCol w="2011680"/>
                <a:gridCol w="496793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B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B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Divergência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B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 (nº planilha)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B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fazer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Firewall × Firewall Fortinet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 · sistema 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Confirmar se é a mesma demanda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Possível dupla contagem de computadores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 × 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Quantitativo do 08 inclui 2.140 de alto desempenho; o 09 é “avançados”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Objeto × quantitativo não batem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Objeto: 2.260 notebooks e 7.640 + 600 monitores; quantitativo: 600 monitores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Processo SEI com ano ≠ 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· 15 · 16 · 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Anos 2027, 2028, 2029 e 2025 — conferir no SEI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Nº da ARP diverge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DOD cita ARP 147/2024; ata cita 1477/2024 (CELIC/RS)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Tela interativa fora da planilha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 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Mantida ativa; confirmar com a área demandante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processo SEI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· 18 · 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Abrir ou informar o processo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Informação regrediu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· Servidor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1ª carga: “já tem ata e aceite”; 2ª: “sem justificativa”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Objeto atípico, sem quantitativo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· Comp. quântico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Validar a necessidade e a aderência ao PEDTIC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31520" y="632764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 PROPAG · Posição em 25/09/2026 · Fonte: planilha de andamento do GT de 24/09/2026 (2ª carga)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10545775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5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 · NÚMERO DE ATIVIDADES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04672"/>
            <a:ext cx="10728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62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 atividades por fluxo: confirmado</a:t>
            </a:r>
            <a:endParaRPr lang="en-US" sz="3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91640"/>
          <a:ext cx="1072865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234440"/>
                <a:gridCol w="5394960"/>
                <a:gridCol w="135605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B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Número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B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B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Conferência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B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Atividades do fluxo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+ 6 + 3 + 7 + 9 (Etapas I a V) · documento = sistema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F6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macroprocesso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· 16 · 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Etapa I · Etapas II a IV (6 + 3 + 7) · Etapa V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F6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Checklist no sistema (1ª carga)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adesões × 32 + 3 × 26 + 10 a definir × 7 · consulta à produção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F6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Situação das 276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· 9 · 250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concluídas · em curso (5 + 2 + 2) · pendentes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F6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Checklist da 2ª carga (20)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× 32 + 3 × 26 + 11 × 7, pela mesma regra da 1ª carga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8A5F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Projeção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Consolidado com a Tela (21)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347 + 7 (Tela interativa, a definir)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8A5F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Projeção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Prazos legais previstos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→ 27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→ 9 demandas com via definida × 3 prazos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8A5F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Projeção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31520" y="4572000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Ponte 276 → 354:  +60 das 5 novas (Access Point 32 + 4 × 7)  ·  +25 Rack 19U (a definir → adesão)  ·  −7 Firewall do sistema fora da planilha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98348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regra que enquadra a modalidade pela coluna “Ata” da planilha, aplicada à 1ª carga, reproduz exatamente as 276 atividades da produção — por isso a projeção é confiável. Detalhe completo no relatório de verificação.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632764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 PROPAG · Posição em 25/09/2026 · Fontes: sistema (1ª carga) e planilha do GT de 24/09 (2ª carga)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10545775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8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 CRÍTICO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04672"/>
            <a:ext cx="10728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BFA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Nenhuma demanda passou da Etapa 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1984797" cy="2331720"/>
          </a:xfrm>
          <a:prstGeom prst="roundRect">
            <a:avLst>
              <a:gd name="adj" fmla="val 3686"/>
            </a:avLst>
          </a:prstGeom>
          <a:solidFill>
            <a:srgbClr val="C8962F"/>
          </a:solidFill>
          <a:ln w="9525">
            <a:solidFill>
              <a:srgbClr val="C8962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" y="1965960"/>
            <a:ext cx="16190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I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2240280"/>
            <a:ext cx="16190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2651760"/>
            <a:ext cx="161903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62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3611880"/>
            <a:ext cx="16190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atividades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17485" y="1828800"/>
            <a:ext cx="1984797" cy="2331720"/>
          </a:xfrm>
          <a:prstGeom prst="roundRect">
            <a:avLst>
              <a:gd name="adj" fmla="val 3686"/>
            </a:avLst>
          </a:prstGeom>
          <a:solidFill>
            <a:srgbClr val="1E3564"/>
          </a:solidFill>
          <a:ln w="9525">
            <a:solidFill>
              <a:srgbClr val="3A518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118653" y="1965960"/>
            <a:ext cx="16190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II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118653" y="2240280"/>
            <a:ext cx="16190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Adesão à ARP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118653" y="2651760"/>
            <a:ext cx="161903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BFA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6000" dirty="0"/>
          </a:p>
        </p:txBody>
      </p:sp>
      <p:sp>
        <p:nvSpPr>
          <p:cNvPr id="13" name="Text 11"/>
          <p:cNvSpPr txBox="1"/>
          <p:nvPr/>
        </p:nvSpPr>
        <p:spPr>
          <a:xfrm>
            <a:off x="3118653" y="3611880"/>
            <a:ext cx="16190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ata válida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103449" y="1828800"/>
            <a:ext cx="1984797" cy="2331720"/>
          </a:xfrm>
          <a:prstGeom prst="roundRect">
            <a:avLst>
              <a:gd name="adj" fmla="val 3686"/>
            </a:avLst>
          </a:prstGeom>
          <a:solidFill>
            <a:srgbClr val="1E3564"/>
          </a:solidFill>
          <a:ln w="19050">
            <a:solidFill>
              <a:srgbClr val="E8867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04617" y="1965960"/>
            <a:ext cx="16190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III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304617" y="2240280"/>
            <a:ext cx="16190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Comunicações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304617" y="2651760"/>
            <a:ext cx="161903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BFA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6000" dirty="0"/>
          </a:p>
        </p:txBody>
      </p:sp>
      <p:sp>
        <p:nvSpPr>
          <p:cNvPr id="18" name="Text 16"/>
          <p:cNvSpPr txBox="1"/>
          <p:nvPr/>
        </p:nvSpPr>
        <p:spPr>
          <a:xfrm>
            <a:off x="5304617" y="3611880"/>
            <a:ext cx="16190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B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SEPLAG · PRODERJ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289414" y="1828800"/>
            <a:ext cx="1984797" cy="2331720"/>
          </a:xfrm>
          <a:prstGeom prst="roundRect">
            <a:avLst>
              <a:gd name="adj" fmla="val 3686"/>
            </a:avLst>
          </a:prstGeom>
          <a:solidFill>
            <a:srgbClr val="1E3564"/>
          </a:solidFill>
          <a:ln w="9525">
            <a:solidFill>
              <a:srgbClr val="3A518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0582" y="1965960"/>
            <a:ext cx="16190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IV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490582" y="2240280"/>
            <a:ext cx="16190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de preços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490582" y="2651760"/>
            <a:ext cx="161903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BFA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6000" dirty="0"/>
          </a:p>
        </p:txBody>
      </p:sp>
      <p:sp>
        <p:nvSpPr>
          <p:cNvPr id="23" name="Text 21"/>
          <p:cNvSpPr txBox="1"/>
          <p:nvPr/>
        </p:nvSpPr>
        <p:spPr>
          <a:xfrm>
            <a:off x="7490582" y="3611880"/>
            <a:ext cx="16190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ponto focal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475379" y="1828800"/>
            <a:ext cx="1984797" cy="2331720"/>
          </a:xfrm>
          <a:prstGeom prst="roundRect">
            <a:avLst>
              <a:gd name="adj" fmla="val 3686"/>
            </a:avLst>
          </a:prstGeom>
          <a:solidFill>
            <a:srgbClr val="1E3564"/>
          </a:solidFill>
          <a:ln w="19050">
            <a:solidFill>
              <a:srgbClr val="E8867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76547" y="1965960"/>
            <a:ext cx="16190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V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9676547" y="2240280"/>
            <a:ext cx="16190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Formalização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676547" y="2651760"/>
            <a:ext cx="161903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BFA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6000" dirty="0"/>
          </a:p>
        </p:txBody>
      </p:sp>
      <p:sp>
        <p:nvSpPr>
          <p:cNvPr id="28" name="Text 26"/>
          <p:cNvSpPr txBox="1"/>
          <p:nvPr/>
        </p:nvSpPr>
        <p:spPr>
          <a:xfrm>
            <a:off x="9676547" y="3611880"/>
            <a:ext cx="16190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B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CGE · sem ponto focal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31520" y="4526280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F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20 demandas da planilha (17 no sistema) estão no planejamento. Cada uma ainda tem pela frente </a:t>
            </a:r>
            <a:pPr indent="0" marL="0">
              <a:buNone/>
            </a:pPr>
            <a:r>
              <a:rPr lang="en-US" sz="1700" b="1" dirty="0">
                <a:solidFill>
                  <a:srgbClr val="FB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a 86 dias corridos</a:t>
            </a:r>
            <a:pPr indent="0" marL="0">
              <a:buNone/>
            </a:pPr>
            <a:r>
              <a:rPr lang="en-US" sz="1700" dirty="0">
                <a:solidFill>
                  <a:srgbClr val="CF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só de análises externas — SEPLAG 15 corridos, PRODERJ 20 úteis (+20) e CGE 15 corridos.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731520" y="632764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 PROPAG · Posição em 25/09/2026 · Fontes: sistema (1ª carga) e planilha do GT de 24/09 (2ª carga)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10545775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5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CONCENTRAÇÃO DE VALOR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04672"/>
            <a:ext cx="10728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62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93% do valor em uma única demanda</a:t>
            </a:r>
            <a:endParaRPr lang="en-US" sz="3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1783080"/>
          <a:ext cx="75895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641080" y="1783080"/>
            <a:ext cx="2816352" cy="3291840"/>
          </a:xfrm>
          <a:prstGeom prst="roundRect">
            <a:avLst>
              <a:gd name="adj" fmla="val 2597"/>
            </a:avLst>
          </a:prstGeom>
          <a:solidFill>
            <a:srgbClr val="FBFAF6"/>
          </a:solidFill>
          <a:ln w="9525">
            <a:solidFill>
              <a:srgbClr val="E2DCCF"/>
            </a:solidFill>
            <a:prstDash val="solid"/>
          </a:ln>
          <a:effectLst>
            <a:outerShdw sx="100000" sy="100000" kx="0" ky="0" algn="bl" rotWithShape="0" blurRad="76200" dist="25400" dir="5400000">
              <a:srgbClr val="16284D">
                <a:alpha val="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915400" y="19659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B3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6600" dirty="0"/>
          </a:p>
        </p:txBody>
      </p:sp>
      <p:sp>
        <p:nvSpPr>
          <p:cNvPr id="7" name="Text 4"/>
          <p:cNvSpPr txBox="1"/>
          <p:nvPr/>
        </p:nvSpPr>
        <p:spPr>
          <a:xfrm>
            <a:off x="8915400" y="30175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20 demandas sem valor estimado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915400" y="38404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Eram 14 de 17. O tamanho real da carteira segue desconhecido.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530352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4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2ª carga não trouxe nenhum valor novo: são os mesmos R$ 69,68 mi da 1ª carga. Agora, porém, 10 demandas têm quantitativo informado — base para a estimativa.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632764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 PROPAG · Posição em 25/09/2026 · Fonte: planilha de andamento do GT de 24/09/2026 (2ª carga)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10545775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5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PRONTIDÃO DA CARTEIRA · 2ª CARGA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04672"/>
            <a:ext cx="10728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62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podem avançar; 8 esperam justificativa ou revisão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3246120" cy="4343400"/>
          </a:xfrm>
          <a:prstGeom prst="roundRect">
            <a:avLst>
              <a:gd name="adj" fmla="val 2254"/>
            </a:avLst>
          </a:prstGeom>
          <a:solidFill>
            <a:srgbClr val="E1E8F5"/>
          </a:solidFill>
          <a:ln w="12700">
            <a:solidFill>
              <a:srgbClr val="E1E8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874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62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187452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Podem avançar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6974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 elaborado e via definida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108960"/>
            <a:ext cx="2697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Chromebooks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Telefonia VoIP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Licenças Microsoft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Antivírus com EDR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Appliances para backup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51960" y="1783080"/>
            <a:ext cx="3246120" cy="4343400"/>
          </a:xfrm>
          <a:prstGeom prst="roundRect">
            <a:avLst>
              <a:gd name="adj" fmla="val 2254"/>
            </a:avLst>
          </a:prstGeom>
          <a:solidFill>
            <a:srgbClr val="F7E9C9"/>
          </a:solidFill>
          <a:ln w="12700">
            <a:solidFill>
              <a:srgbClr val="F7E9C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6280" y="1874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8A5F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5349240" y="187452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5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análise ou ajuste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6974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Justificativa recebida, DOD em análise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3108960"/>
            <a:ext cx="2697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Softwares (retornou com obs.)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Computadores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Rack 19U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· Telefonia móvel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· Switch core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· Firewall Fortinet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· Computador quântico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interativa (sist. 05)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72400" y="1783080"/>
            <a:ext cx="3687775" cy="4343400"/>
          </a:xfrm>
          <a:prstGeom prst="roundRect">
            <a:avLst>
              <a:gd name="adj" fmla="val 1984"/>
            </a:avLst>
          </a:prstGeom>
          <a:solidFill>
            <a:srgbClr val="FBE2DE"/>
          </a:solidFill>
          <a:ln w="12700">
            <a:solidFill>
              <a:srgbClr val="FBE2D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46720" y="1874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B3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800" dirty="0"/>
          </a:p>
        </p:txBody>
      </p:sp>
      <p:sp>
        <p:nvSpPr>
          <p:cNvPr id="16" name="Text 14"/>
          <p:cNvSpPr txBox="1"/>
          <p:nvPr/>
        </p:nvSpPr>
        <p:spPr>
          <a:xfrm>
            <a:off x="8869680" y="1874520"/>
            <a:ext cx="2407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3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Travadas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046720" y="2788920"/>
            <a:ext cx="313913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justificativa (6)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Computadores avançados · 11 Switch ToR · 12 Servidor hiperconvergente · 14 Access Point · 15 Pontos lógicos · 18 Switch de acesso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Devolvidas à área técnica (2)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Câmeras (desde 24/09) · 05 Link de internet (desde 23/09)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5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1ª carga eram 10 travadas de 17.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632764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 PROPAG · Posição em 25/09/2026 · Fonte: planilha de andamento do GT de 24/09/2026 (2ª carga) · Tela: sistema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10545775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5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PAPÉIS E RESPONSABILIDADES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04672"/>
            <a:ext cx="10728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62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Quase nenhuma atividade tem dono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78308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B3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99%</a:t>
            </a:r>
            <a:endParaRPr lang="en-US" sz="10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2004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atividades abertas </a:t>
            </a:r>
            <a:pPr indent="0" marL="0">
              <a:buNone/>
            </a:pPr>
            <a:r>
              <a:rPr lang="en-US" sz="1800" b="1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responsável</a:t>
            </a:r>
            <a:pPr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sistema — 256 de 259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4069080"/>
            <a:ext cx="3931920" cy="0"/>
          </a:xfrm>
          <a:prstGeom prst="line">
            <a:avLst/>
          </a:prstGeom>
          <a:noFill/>
          <a:ln w="9525">
            <a:solidFill>
              <a:srgbClr val="D8D1C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412394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0/17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412394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demandas com responsável geral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4636008"/>
            <a:ext cx="3931920" cy="0"/>
          </a:xfrm>
          <a:prstGeom prst="line">
            <a:avLst/>
          </a:prstGeom>
          <a:noFill/>
          <a:ln w="9525">
            <a:solidFill>
              <a:srgbClr val="D8D1C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469087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469087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responsáveis por etapa designados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5202936"/>
            <a:ext cx="3931920" cy="0"/>
          </a:xfrm>
          <a:prstGeom prst="line">
            <a:avLst/>
          </a:prstGeom>
          <a:noFill/>
          <a:ln w="9525">
            <a:solidFill>
              <a:srgbClr val="D8D1C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52578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5257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 com atividade: Gibson (2) e Luene (1)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940503" y="1755648"/>
            <a:ext cx="6547104" cy="3706749"/>
          </a:xfrm>
          <a:prstGeom prst="rect">
            <a:avLst/>
          </a:prstGeom>
          <a:solidFill>
            <a:srgbClr val="FFFFFF"/>
          </a:solidFill>
          <a:ln w="9525">
            <a:solidFill>
              <a:srgbClr val="CFC7B6"/>
            </a:solidFill>
            <a:prstDash val="solid"/>
          </a:ln>
          <a:effectLst>
            <a:outerShdw sx="100000" sy="100000" kx="0" ky="0" algn="bl" rotWithShape="0" blurRad="127000" dist="38100" dir="5400000">
              <a:srgbClr val="16284D">
                <a:alpha val="16000"/>
              </a:srgbClr>
            </a:outerShdw>
          </a:effectLst>
        </p:spPr>
      </p:sp>
      <p:pic>
        <p:nvPicPr>
          <p:cNvPr id="16" name="Image 0" descr="/tmp/claude-0/-home-user-seenemar-transportes/2be66098-066f-5523-9455-c1f8c8895c82/scratchpad/ppt/img/detalh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7935" y="1783080"/>
            <a:ext cx="6492240" cy="3651885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4967935" y="5526405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da demanda 01 no sistema: atividades “Sem responsável” e responsável geral “não definido”.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731520" y="632764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 PROPAG · Posição em 25/09/2026 · Fonte: Sistema de Controle de Contratações (1ª carga, 17 demandas)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10545775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5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POR DENTRO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04672"/>
            <a:ext cx="10728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62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Tudo o que está nesta apresentação sai do sistema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04088" y="1801368"/>
            <a:ext cx="5236312" cy="2969428"/>
          </a:xfrm>
          <a:prstGeom prst="rect">
            <a:avLst/>
          </a:prstGeom>
          <a:solidFill>
            <a:srgbClr val="FFFFFF"/>
          </a:solidFill>
          <a:ln w="9525">
            <a:solidFill>
              <a:srgbClr val="CFC7B6"/>
            </a:solidFill>
            <a:prstDash val="solid"/>
          </a:ln>
          <a:effectLst>
            <a:outerShdw sx="100000" sy="100000" kx="0" ky="0" algn="bl" rotWithShape="0" blurRad="127000" dist="38100" dir="5400000">
              <a:srgbClr val="16284D">
                <a:alpha val="16000"/>
              </a:srgbClr>
            </a:outerShdw>
          </a:effectLst>
        </p:spPr>
      </p:sp>
      <p:pic>
        <p:nvPicPr>
          <p:cNvPr id="5" name="Image 0" descr="/tmp/claude-0/-home-user-seenemar-transportes/2be66098-066f-5523-9455-c1f8c8895c82/scratchpad/ppt/img/contrataco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5181448" cy="29145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4880524"/>
            <a:ext cx="518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Contratações · lista com filtros rápidos, etapa, responsável e situação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251296" y="1801368"/>
            <a:ext cx="5236312" cy="2969428"/>
          </a:xfrm>
          <a:prstGeom prst="rect">
            <a:avLst/>
          </a:prstGeom>
          <a:solidFill>
            <a:srgbClr val="FFFFFF"/>
          </a:solidFill>
          <a:ln w="9525">
            <a:solidFill>
              <a:srgbClr val="CFC7B6"/>
            </a:solidFill>
            <a:prstDash val="solid"/>
          </a:ln>
          <a:effectLst>
            <a:outerShdw sx="100000" sy="100000" kx="0" ky="0" algn="bl" rotWithShape="0" blurRad="127000" dist="38100" dir="5400000">
              <a:srgbClr val="16284D">
                <a:alpha val="16000"/>
              </a:srgbClr>
            </a:outerShdw>
          </a:effectLst>
        </p:spPr>
      </p:sp>
      <p:pic>
        <p:nvPicPr>
          <p:cNvPr id="8" name="Image 1" descr="/tmp/claude-0/-home-user-seenemar-transportes/2be66098-066f-5523-9455-c1f8c8895c82/scratchpad/ppt/img/relatori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1828800"/>
            <a:ext cx="5181448" cy="291456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278728" y="4880524"/>
            <a:ext cx="518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· posição da carteira, com filtros e exportação para Excel e PDF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731520" y="544068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4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de autorizada a 2ª carga, as mesmas telas passam a mostrar as 21 demandas — com o de-para da numeração registrado na auditoria.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731520" y="632764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 PROPAG · Posição em 25/09/2026 · Fonte: Sistema de Controle de Contratações (1ª carga, 17 demandas)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10545775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5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 E PONTOS DE ATENÇÃO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04672"/>
            <a:ext cx="10728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62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Seis riscos a tratar antes de avançar</a:t>
            </a:r>
            <a:endParaRPr lang="en-US" sz="3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91640"/>
          <a:ext cx="10728655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103120"/>
                <a:gridCol w="2926080"/>
                <a:gridCol w="268193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B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Risco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B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 (nº planilha)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B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B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Carteira desatualizada no sistema</a:t>
                      </a:r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 a carteira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Painel mostra 17; planilha tem 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Decidir e autorizar a 2ª carga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Firewall duplicado ou substituído</a:t>
                      </a:r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 · sistema 12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21 ou 22; marca sem justificativa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GT confirma e ajusta o objeto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Dupla contagem de computadores</a:t>
                      </a:r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 × 09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Superdimensionar a compra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Conciliar quantitativos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Nº da ARP diverge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(147 × 1477/2024)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 · Softwares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Adesão na ata errada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Validar o nº com a CELIC/RS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Atas sem vigência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(6 de 6 no sistema)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Catálogo de atas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 da Etapa II: carona em ata vencida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Registrar vigência e saldo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PCA/PEDTIC não confirmado</a:t>
                      </a:r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 a carteira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 fora do PEDTIC exige revisão extraordinária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Ponto focal PCA confirma cada item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31520" y="632764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 PROPAG · Posição em 25/09/2026 · Fontes: sistema (1ª carga) e planilha do GT de 24/09 (2ª carga)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10545775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5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04672"/>
            <a:ext cx="10728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62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demandas podem andar já</a:t>
            </a:r>
            <a:endParaRPr lang="en-US" sz="3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91640"/>
          <a:ext cx="10728655" cy="914400"/>
        </p:xfrm>
        <a:graphic>
          <a:graphicData uri="http://schemas.openxmlformats.org/drawingml/2006/table">
            <a:tbl>
              <a:tblPr/>
              <a:tblGrid>
                <a:gridCol w="3063240"/>
                <a:gridCol w="1280160"/>
                <a:gridCol w="3657600"/>
                <a:gridCol w="272765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B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Demanda (nº planilha · sist.)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B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B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 está (24/09)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B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Próximo passo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 · Chromebooks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F5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sist. 01 · Adesão · ARP 032/2026 SEAD/MA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R$ 64,82 mi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Entregue pelo GT; em análise no Planejamento FAETEC desde 18/09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Cobrar retorno; confirmar PCA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· Appliances backup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F5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sist. 10 · Adesão · PE-RP 016/2024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R$ 3,56 mi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ETP elaborado; TR em elaboração; TI de acordo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Concluir TR e mapa de riscos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 · Telefonia VoIP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F5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sist. 03 · Participante · PE-RP 012/2024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Entregue; em análise no Planejamento desde 18/09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Cobrar retorno; confirmar PCA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 · Licenças Microsoft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F5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sist. 07 · Participante · PERP 12/25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Aguarda publicação da ata; PRODERJ remaneja quantitativo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Acompanhar a 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 · Antivírus com EDR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F5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sist. 08 · Adesão · ARP 02/2026 TJMA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DOD elaborado; documentos em elaboração; TI pendente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Manifestação do TI (Gibson)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31520" y="576072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A4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Mudança: </a:t>
            </a:r>
            <a:pPr indent="0" marL="0">
              <a:buNone/>
            </a:pPr>
            <a:r>
              <a:rPr lang="en-US" sz="1350" dirty="0">
                <a:solidFill>
                  <a:srgbClr val="4A4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Antivírus entrou na lista (DOD elaborado) e os Softwares saíram — o processo retornou ao GT com observações. Juntas, as cinco somam 98% do valor informado.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632764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 PROPAG · Posição em 25/09/2026 · Fonte: planilha de andamento do GT de 24/09/2026 (2ª carga)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10545775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5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RECOMENDAÇÕES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04672"/>
            <a:ext cx="10728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62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Plano para os próximos 30 dias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3393338" cy="1920240"/>
          </a:xfrm>
          <a:prstGeom prst="roundRect">
            <a:avLst>
              <a:gd name="adj" fmla="val 3810"/>
            </a:avLst>
          </a:prstGeom>
          <a:solidFill>
            <a:srgbClr val="FBFAF6"/>
          </a:solidFill>
          <a:ln w="9525">
            <a:solidFill>
              <a:srgbClr val="E2DCCF"/>
            </a:solidFill>
            <a:prstDash val="solid"/>
          </a:ln>
          <a:effectLst>
            <a:outerShdw sx="100000" sy="100000" kx="0" ky="0" algn="bl" rotWithShape="0" blurRad="76200" dist="25400" dir="5400000">
              <a:srgbClr val="16284D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039112"/>
            <a:ext cx="457200" cy="457200"/>
          </a:xfrm>
          <a:prstGeom prst="ellipse">
            <a:avLst/>
          </a:prstGeom>
          <a:solidFill>
            <a:srgbClr val="C8962F"/>
          </a:solidFill>
          <a:ln w="12700">
            <a:solidFill>
              <a:srgbClr val="C8962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587752"/>
            <a:ext cx="284469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as 9 divergências da planilha e decidir o caso Firewall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337560"/>
            <a:ext cx="2844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Coordenação e conformidade · Semana 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99178" y="1783080"/>
            <a:ext cx="3393338" cy="1920240"/>
          </a:xfrm>
          <a:prstGeom prst="roundRect">
            <a:avLst>
              <a:gd name="adj" fmla="val 3810"/>
            </a:avLst>
          </a:prstGeom>
          <a:solidFill>
            <a:srgbClr val="FBFAF6"/>
          </a:solidFill>
          <a:ln w="9525">
            <a:solidFill>
              <a:srgbClr val="E2DCCF"/>
            </a:solidFill>
            <a:prstDash val="solid"/>
          </a:ln>
          <a:effectLst>
            <a:outerShdw sx="100000" sy="100000" kx="0" ky="0" algn="bl" rotWithShape="0" blurRad="76200" dist="25400" dir="5400000">
              <a:srgbClr val="16284D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73498" y="2039112"/>
            <a:ext cx="457200" cy="457200"/>
          </a:xfrm>
          <a:prstGeom prst="ellipse">
            <a:avLst/>
          </a:prstGeom>
          <a:solidFill>
            <a:srgbClr val="C8962F"/>
          </a:solidFill>
          <a:ln w="12700">
            <a:solidFill>
              <a:srgbClr val="C8962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73498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73498" y="2587752"/>
            <a:ext cx="284469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Autorizar a carga da 2ª planilha no sistema, com o de-para da numeração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673498" y="3337560"/>
            <a:ext cx="2844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Coordenação e administrador · após validação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66837" y="1783080"/>
            <a:ext cx="3393338" cy="1920240"/>
          </a:xfrm>
          <a:prstGeom prst="roundRect">
            <a:avLst>
              <a:gd name="adj" fmla="val 3810"/>
            </a:avLst>
          </a:prstGeom>
          <a:solidFill>
            <a:srgbClr val="FBFAF6"/>
          </a:solidFill>
          <a:ln w="9525">
            <a:solidFill>
              <a:srgbClr val="E2DCCF"/>
            </a:solidFill>
            <a:prstDash val="solid"/>
          </a:ln>
          <a:effectLst>
            <a:outerShdw sx="100000" sy="100000" kx="0" ky="0" algn="bl" rotWithShape="0" blurRad="76200" dist="25400" dir="5400000">
              <a:srgbClr val="16284D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41157" y="2039112"/>
            <a:ext cx="457200" cy="457200"/>
          </a:xfrm>
          <a:prstGeom prst="ellipse">
            <a:avLst/>
          </a:prstGeom>
          <a:solidFill>
            <a:srgbClr val="C8962F"/>
          </a:solidFill>
          <a:ln w="12700">
            <a:solidFill>
              <a:srgbClr val="C8962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41157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41157" y="2587752"/>
            <a:ext cx="284469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Designar responsável geral e responsáveis por etapa nas 21 demandas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341157" y="3337560"/>
            <a:ext cx="2844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Coordenação · Semana 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977640"/>
            <a:ext cx="3393338" cy="1920240"/>
          </a:xfrm>
          <a:prstGeom prst="roundRect">
            <a:avLst>
              <a:gd name="adj" fmla="val 3810"/>
            </a:avLst>
          </a:prstGeom>
          <a:solidFill>
            <a:srgbClr val="FBFAF6"/>
          </a:solidFill>
          <a:ln w="9525">
            <a:solidFill>
              <a:srgbClr val="E2DCCF"/>
            </a:solidFill>
            <a:prstDash val="solid"/>
          </a:ln>
          <a:effectLst>
            <a:outerShdw sx="100000" sy="100000" kx="0" ky="0" algn="bl" rotWithShape="0" blurRad="76200" dist="25400" dir="5400000">
              <a:srgbClr val="16284D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05840" y="4233672"/>
            <a:ext cx="457200" cy="457200"/>
          </a:xfrm>
          <a:prstGeom prst="ellipse">
            <a:avLst/>
          </a:prstGeom>
          <a:solidFill>
            <a:srgbClr val="C8962F"/>
          </a:solidFill>
          <a:ln w="12700">
            <a:solidFill>
              <a:srgbClr val="C8962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05840" y="4233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" y="4782312"/>
            <a:ext cx="284469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Cobrar o retorno do Planejamento FAETEC (01 e 03, desde 18/09) e das devolvidas (04 e 05)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5532120"/>
            <a:ext cx="2844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focais (Frente III) · Semana 1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99178" y="3977640"/>
            <a:ext cx="3393338" cy="1920240"/>
          </a:xfrm>
          <a:prstGeom prst="roundRect">
            <a:avLst>
              <a:gd name="adj" fmla="val 3810"/>
            </a:avLst>
          </a:prstGeom>
          <a:solidFill>
            <a:srgbClr val="FBFAF6"/>
          </a:solidFill>
          <a:ln w="9525">
            <a:solidFill>
              <a:srgbClr val="E2DCCF"/>
            </a:solidFill>
            <a:prstDash val="solid"/>
          </a:ln>
          <a:effectLst>
            <a:outerShdw sx="100000" sy="100000" kx="0" ky="0" algn="bl" rotWithShape="0" blurRad="76200" dist="25400" dir="5400000">
              <a:srgbClr val="16284D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73498" y="4233672"/>
            <a:ext cx="457200" cy="457200"/>
          </a:xfrm>
          <a:prstGeom prst="ellipse">
            <a:avLst/>
          </a:prstGeom>
          <a:solidFill>
            <a:srgbClr val="C8962F"/>
          </a:solidFill>
          <a:ln w="12700">
            <a:solidFill>
              <a:srgbClr val="C8962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73498" y="4233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673498" y="4782312"/>
            <a:ext cx="284469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Obter as 6 justificativas pendentes (09, 11, 12, 14, 15, 18)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673498" y="5532120"/>
            <a:ext cx="2844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Coordenação e área demandante · Semanas 1–2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66837" y="3977640"/>
            <a:ext cx="3393338" cy="1920240"/>
          </a:xfrm>
          <a:prstGeom prst="roundRect">
            <a:avLst>
              <a:gd name="adj" fmla="val 3810"/>
            </a:avLst>
          </a:prstGeom>
          <a:solidFill>
            <a:srgbClr val="FBFAF6"/>
          </a:solidFill>
          <a:ln w="9525">
            <a:solidFill>
              <a:srgbClr val="E2DCCF"/>
            </a:solidFill>
            <a:prstDash val="solid"/>
          </a:ln>
          <a:effectLst>
            <a:outerShdw sx="100000" sy="100000" kx="0" ky="0" algn="bl" rotWithShape="0" blurRad="76200" dist="25400" dir="5400000">
              <a:srgbClr val="16284D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41157" y="4233672"/>
            <a:ext cx="457200" cy="457200"/>
          </a:xfrm>
          <a:prstGeom prst="ellipse">
            <a:avLst/>
          </a:prstGeom>
          <a:solidFill>
            <a:srgbClr val="C8962F"/>
          </a:solidFill>
          <a:ln w="12700">
            <a:solidFill>
              <a:srgbClr val="C8962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41157" y="4233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8341157" y="4782312"/>
            <a:ext cx="284469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PCA/PEDTIC e vigência das atas; estimar valor das 17 sem valor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341157" y="5532120"/>
            <a:ext cx="2844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Frentes II e III · Semanas 2–3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731520" y="632764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 PROPAG · Posição em 25/09/2026 · Fontes: sistema (1ª carga) e planilha do GT de 24/09 (2ª carga) · prazos sugeridos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10545775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28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04672"/>
            <a:ext cx="10728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BFA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Indicadores para o próximo report</a:t>
            </a:r>
            <a:endParaRPr lang="en-US" sz="3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83080"/>
          <a:ext cx="10728655" cy="914400"/>
        </p:xfrm>
        <a:graphic>
          <a:graphicData uri="http://schemas.openxmlformats.org/drawingml/2006/table">
            <a:tbl>
              <a:tblPr/>
              <a:tblGrid>
                <a:gridCol w="6217920"/>
                <a:gridCol w="2194560"/>
                <a:gridCol w="231617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E0B4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E0B4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Hoje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E0B4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em 30 dias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B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Carteira do sistema igual à planilha do GT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5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F2B3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de 21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5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FB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de 21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5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B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Demandas com responsável geral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F2B3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de 17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FB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de 21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B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Atividades abertas com responsável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5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F2B3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5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FB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5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B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Justificativas da área recebidas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FB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de 20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FB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de 20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B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Divergências da planilha resolvidas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5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F2B3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de 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5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FB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de 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5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B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Demandas além da Etapa 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F2B3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FB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ao menos 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31520" y="5715000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da carga autorizada, todos os indicadores saem do sistema: Painel, Relatórios e Minhas pendências.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632764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 PROPAG · Posição em 25/09/2026 · Fontes: sistema (1ª carga) e planilha do GT de 24/09 (2ª carga) · metas sugeridas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10545775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GT PROPAG · Compras Públicas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Status das contratações · GT PROPAG</dc:title>
  <dc:subject>Apresentação executiva · posição em 25/09/2026 · 1ª × 2ª carga</dc:subject>
  <dc:creator>PptxGenJS</dc:creator>
  <cp:lastModifiedBy>PptxGenJS</cp:lastModifiedBy>
  <cp:revision>1</cp:revision>
  <dcterms:created xsi:type="dcterms:W3CDTF">2026-09-25T12:44:37Z</dcterms:created>
  <dcterms:modified xsi:type="dcterms:W3CDTF">2026-09-25T12:44:37Z</dcterms:modified>
</cp:coreProperties>
</file>