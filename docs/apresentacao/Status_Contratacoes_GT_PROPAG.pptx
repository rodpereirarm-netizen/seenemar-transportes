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Concluídas (17)</c:v>
                </c:pt>
              </c:strCache>
            </c:strRef>
          </c:tx>
          <c:spPr>
            <a:solidFill>
              <a:srgbClr val="162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Atividades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 curso (9)</c:v>
                </c:pt>
              </c:strCache>
            </c:strRef>
          </c:tx>
          <c:spPr>
            <a:solidFill>
              <a:srgbClr val="C89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Atividades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Pendentes (250)</c:v>
                </c:pt>
              </c:strCache>
            </c:strRef>
          </c:tx>
          <c:spPr>
            <a:solidFill>
              <a:srgbClr val="E6E0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Atividades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2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estimado (R$ mi)</c:v>
                </c:pt>
              </c:strCache>
            </c:strRef>
          </c:tx>
          <c:spPr>
            <a:solidFill>
              <a:srgbClr val="16284D"/>
            </a:solidFill>
            <a:effectLst/>
          </c:spPr>
          <c:invertIfNegative val="0"/>
          <c:dLbls>
            <c:numFmt formatCode="&quot;R$ &quot;0.00&quot; mi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6284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02 · Softwares</c:v>
                  </c:pt>
                  <c:pt idx="1">
                    <c:v>10 · Appliances backup</c:v>
                  </c:pt>
                  <c:pt idx="2">
                    <c:v>01 · Chromebooks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3.56</c:v>
                </c:pt>
                <c:pt idx="2">
                  <c:v>64.82</c:v>
                </c:pt>
              </c:numCache>
            </c:numRef>
          </c:val>
        </c:ser>
        <c:dLbls>
          <c:numFmt formatCode="&quot;R$ &quot;0.00&quot; mi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6284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2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Concluído</c:v>
                </c:pt>
              </c:strCache>
            </c:strRef>
          </c:tx>
          <c:spPr>
            <a:solidFill>
              <a:srgbClr val="162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PCA/PEDTIC confirmado (0/17)</c:v>
                  </c:pt>
                  <c:pt idx="1">
                    <c:v>TR · Mapa de riscos (0/17)</c:v>
                  </c:pt>
                  <c:pt idx="2">
                    <c:v>Manifestação do TI (1/17)</c:v>
                  </c:pt>
                  <c:pt idx="3">
                    <c:v>ETP (2/17)</c:v>
                  </c:pt>
                  <c:pt idx="4">
                    <c:v>DOD (5/17)</c:v>
                  </c:pt>
                  <c:pt idx="5">
                    <c:v>Definição da via (7/17)</c:v>
                  </c:pt>
                  <c:pt idx="6">
                    <c:v>Justificativa da área (10/17)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5</c:v>
                </c:pt>
                <c:pt idx="5">
                  <c:v>7</c:v>
                </c:pt>
                <c:pt idx="6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 andamento</c:v>
                </c:pt>
              </c:strCache>
            </c:strRef>
          </c:tx>
          <c:spPr>
            <a:solidFill>
              <a:srgbClr val="C896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PCA/PEDTIC confirmado (0/17)</c:v>
                  </c:pt>
                  <c:pt idx="1">
                    <c:v>TR · Mapa de riscos (0/17)</c:v>
                  </c:pt>
                  <c:pt idx="2">
                    <c:v>Manifestação do TI (1/17)</c:v>
                  </c:pt>
                  <c:pt idx="3">
                    <c:v>ETP (2/17)</c:v>
                  </c:pt>
                  <c:pt idx="4">
                    <c:v>DOD (5/17)</c:v>
                  </c:pt>
                  <c:pt idx="5">
                    <c:v>Definição da via (7/17)</c:v>
                  </c:pt>
                  <c:pt idx="6">
                    <c:v>Justificativa da área (10/17)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4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Não iniciado</c:v>
                </c:pt>
              </c:strCache>
            </c:strRef>
          </c:tx>
          <c:spPr>
            <a:solidFill>
              <a:srgbClr val="E6E0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PCA/PEDTIC confirmado (0/17)</c:v>
                  </c:pt>
                  <c:pt idx="1">
                    <c:v>TR · Mapa de riscos (0/17)</c:v>
                  </c:pt>
                  <c:pt idx="2">
                    <c:v>Manifestação do TI (1/17)</c:v>
                  </c:pt>
                  <c:pt idx="3">
                    <c:v>ETP (2/17)</c:v>
                  </c:pt>
                  <c:pt idx="4">
                    <c:v>DOD (5/17)</c:v>
                  </c:pt>
                  <c:pt idx="5">
                    <c:v>Definição da via (7/17)</c:v>
                  </c:pt>
                  <c:pt idx="6">
                    <c:v>Justificativa da área (10/17)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17</c:v>
                </c:pt>
                <c:pt idx="1">
                  <c:v>17</c:v>
                </c:pt>
                <c:pt idx="2">
                  <c:v>14</c:v>
                </c:pt>
                <c:pt idx="3">
                  <c:v>12</c:v>
                </c:pt>
                <c:pt idx="4">
                  <c:v>7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2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2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status da carteira de contratações do GT PROPAG, com os dados do sistema na posição de 24 de setembro de 2026. A mensagem central: a carteira inteira ainda está no planejamento, e o que trava o avanço é responsabilidade, justificativa e enquadramento — não os prazos legais, que ainda nem começaram a correr.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mensagens para guardar. Primeiro: toda a carteira está na Etapa I, com 6% das atividades concluídas. Segundo: quase nenhuma atividade tem dono — esse é o gargalo mais fácil de resolver e o que mais destrava. Terceiro: justificativa e enquadramento travam mais da metade das demandas. Quarto: o valor informado está concentrado nos Chromebooks, e a maioria das demandas nem tem estimativa.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checklist completo das 17 demandas soma 276 atividades, porque a quantidade depende da modalidade: 32 na adesão, 26 nas demais, 7 enquanto a modalidade está a definir. Só 17 estão concluídas e 9 em curso. Os 21 prazos legais previstos na carteira — SEPLAG, PRODERJ e CGE — ainda não começaram, porque nenhuma demanda chegou às Etapas III e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carteira inteira está no planejamento. As etapas com prazo legal, destacadas em vermelho, ainda não receberam nenhuma demanda. A conta dos 58 a 86 dias: 15 dias corridos da SEPLAG, 20 dias úteis do PRODERJ (cerca de 28 corridos, ou 56 com a prorrogação de mais 20 úteis) e 15 dias corridos da CGE. É o tempo mínimo de análises de terceiros por contratação. As Etapas IV e V também não têm ponto focal nomeado na relação de participantes do 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total informado: R$ 69,68 milhões. Chromebooks responde por 93%, Appliances para backup por 5% e Softwares de edição e arquitetura por 2%. As 14 demandas sem estimativa impedem dimensionar a carteira — o valor real só será conhecido quando a pesquisa prévia ou a origem da estimativa for registrada.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Classificação feita a partir dos dados do sistema. Podem avançar: demandas com justificativa, DOD elaborado e modalidade definida. Em elaboração: justificativa recebida e DOD em andamento. Travadas: sem justificativa da área técnica, com divergência a validar ou devolvidas à área demandante. A demanda 02 tem valor e processo SEI, mas está travada pela divergência no número da ata; a 13 cita ata e aceite que não estão registrados.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mais importante. O GT tem 15 integrantes em três frentes, mas no sistema só três atividades têm responsável. A coordenação pode resolver isso em uma reunião: designar o responsável geral de cada demanda e o responsável de cada etapa — o sistema propaga o nome para todas as atividades da etapa e avisa cada pessoa. As Etapas IV e V (pesquisa de preços e formalização) são 100% FAETEC e não têm ponto focal nomeado.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da Etapa I mostra onde o planejamento para. A justificativa chegou em 10 demandas, mas só 5 DODs estão elaborados. Manifestação do TI favorável existe em apenas uma (Telefonia VoIP), e nenhum TR ou mapa de riscos foi iniciado. O PCA/PEDTIC não está confirmado em nenhuma demanda: se algum item estiver fora do PEDTIC, será preciso justificativa técnica e revisão extraordinária — vale confirmar isso logo, antes de investir nos artefatos.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primeiros riscos são divergências de registro que o sistema já sinaliza. O terceiro é estrutural: nenhuma das seis atas tem vigência registrada, e sem ata válida o fluxo de adesão é interrompido no gate da Etapa II. O quarto afeta toda a carteira: o PCA/PEDTIC não foi confirmado em nenhuma demanda. O quinto são as duas demandas devolvidas à área técnica por falta de definição de quantitativo e itens.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cinco demandas têm justificativa, DOD elaborado e a via de contratação definida — quatro por ata de registro de preços e uma com a divergência a resolver. Concentrar a equipe nelas é o caminho mais curto para levar as primeiras contratações às etapas de comunicação à SEPLAG e análise do PRODERJ, onde começam os prazos legais. A demanda 08 (antivírus) também tem ata identificada, mas o DOD ainda está em elaboração.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ações, com dono e semana sugerida, na ordem em que mais destravam. As três primeiras são decisões da coordenação e da conformidade e podem sair na primeira reunião. A quarta depende das áreas demandantes. A quinta e a sexta são de registro — sem elas, o sistema não consegue medir valor nem risco de ata. Os prazos são sugestões para discussão no 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de seis indicadores para o próximo report, todos medidos pelo sistema. As metas são sugestões para validação da coordenação. A meta de ao menos três demandas além da Etapa I considera as cinco demandas prioritárias do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DO ESTADO DO RIO DE JANEIRO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73775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COMPRAS PÚBLICAS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das contratações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FAETEC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demandas de TI, um fluxo de 5 etapas e 32 atividades, e três prazos legais que não podem atrasar.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13827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0987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à ARP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96134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3294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III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78441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15601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IV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preços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60748" y="4846320"/>
            <a:ext cx="1999427" cy="777240"/>
          </a:xfrm>
          <a:prstGeom prst="roundRect">
            <a:avLst>
              <a:gd name="adj" fmla="val 7059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97908" y="4873752"/>
            <a:ext cx="17251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V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 · SECTI · FAETEC · PRODERJ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73775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em 24/09/2026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Sistema de Controle de Contratações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carteira está parada no planejamento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548640" cy="548640"/>
          </a:xfrm>
          <a:prstGeom prst="ellipse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4884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17 na Etapa I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74320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das 276 atividades concluídas. Nenhuma demanda chegou à adesão, às análises ou à pesquisa de preços.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33008" y="182880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194560"/>
            <a:ext cx="548640" cy="548640"/>
          </a:xfrm>
          <a:prstGeom prst="ellipse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14884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sem responsável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30288" y="274320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de 259 atividades abertas sem integrante designado. Nenhuma demanda tem responsável geral.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38912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sem justificativa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98348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demandas bloqueiam o DOD por falta de justificativa; 10 seguem com a modalidade “a definir”.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33008" y="4069080"/>
            <a:ext cx="5227168" cy="1965960"/>
          </a:xfrm>
          <a:prstGeom prst="roundRect">
            <a:avLst>
              <a:gd name="adj" fmla="val 3721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3048" y="4434840"/>
            <a:ext cx="548640" cy="548640"/>
          </a:xfrm>
          <a:prstGeom prst="ellipse">
            <a:avLst/>
          </a:prstGeom>
          <a:solidFill>
            <a:srgbClr val="16284D"/>
          </a:solidFill>
          <a:ln w="12700">
            <a:solidFill>
              <a:srgbClr val="162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3048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30288" y="4389120"/>
            <a:ext cx="385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do valor em 1 demanda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330288" y="4983480"/>
            <a:ext cx="3855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Chromebooks soma R$ 64,8 mi dos R$ 69,7 mi informados; 14 demandas ainda não têm estimativa.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carteira em quatro números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510714" cy="1874520"/>
          </a:xfrm>
          <a:prstGeom prst="roundRect">
            <a:avLst>
              <a:gd name="adj" fmla="val 3902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38528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em carteira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86000"/>
            <a:ext cx="20535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de TI, todas na Etapa 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0834" y="1783080"/>
            <a:ext cx="2510714" cy="1874520"/>
          </a:xfrm>
          <a:prstGeom prst="roundRect">
            <a:avLst>
              <a:gd name="adj" fmla="val 3902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5154" y="1938528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informado (R$ mi)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5154" y="2286000"/>
            <a:ext cx="20535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745154" y="320040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apenas 3 das 17 demandas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510714" cy="1874520"/>
          </a:xfrm>
          <a:prstGeom prst="roundRect">
            <a:avLst>
              <a:gd name="adj" fmla="val 3902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84468" y="1938528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concluídas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84468" y="2286000"/>
            <a:ext cx="20535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320040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276 no checklist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49461" y="1783080"/>
            <a:ext cx="2510714" cy="1874520"/>
          </a:xfrm>
          <a:prstGeom prst="roundRect">
            <a:avLst>
              <a:gd name="adj" fmla="val 3902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23781" y="1938528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legais iniciados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23781" y="2286000"/>
            <a:ext cx="20535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0/21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9223781" y="3200400"/>
            <a:ext cx="20535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SEPLAG, PRODERJ e CGE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9776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276 atividades do checklist</a:t>
            </a:r>
            <a:endParaRPr lang="en-US" sz="16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31520" y="4343400"/>
          <a:ext cx="10728655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CRÍTICO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demanda passou da Etapa 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C8962F"/>
          </a:solidFill>
          <a:ln w="9525">
            <a:solidFill>
              <a:srgbClr val="C896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atividades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17485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18653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18653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à ARP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18653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3118653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ata válida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03449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19050">
            <a:solidFill>
              <a:srgbClr val="E886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4617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III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304617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4617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5304617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SEPLAG · PRODERJ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89414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9525">
            <a:solidFill>
              <a:srgbClr val="3A518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0582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490582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preços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90582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7490582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ponto focal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5379" y="1828800"/>
            <a:ext cx="1984797" cy="2331720"/>
          </a:xfrm>
          <a:prstGeom prst="roundRect">
            <a:avLst>
              <a:gd name="adj" fmla="val 3686"/>
            </a:avLst>
          </a:prstGeom>
          <a:solidFill>
            <a:srgbClr val="1E3564"/>
          </a:solidFill>
          <a:ln w="19050">
            <a:solidFill>
              <a:srgbClr val="E886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76547" y="1965960"/>
            <a:ext cx="16190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V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76547" y="22402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76547" y="2651760"/>
            <a:ext cx="16190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28" name="Text 26"/>
          <p:cNvSpPr txBox="1"/>
          <p:nvPr/>
        </p:nvSpPr>
        <p:spPr>
          <a:xfrm>
            <a:off x="9676547" y="3611880"/>
            <a:ext cx="16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CGE · sem ponto focal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526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contratação ainda tem pela frente </a:t>
            </a:r>
            <a:pPr indent="0" marL="0">
              <a:buNone/>
            </a:pPr>
            <a:r>
              <a:rPr lang="en-US" sz="1700" b="1" dirty="0">
                <a:solidFill>
                  <a:srgbClr val="FB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 86 dias corridos</a:t>
            </a:r>
            <a:pPr indent="0" marL="0">
              <a:buNone/>
            </a:pPr>
            <a:r>
              <a:rPr lang="en-US" sz="17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 de análises externas — SEPLAG 15 dias corridos, PRODERJ 20 dias úteis (+20) e CGE 15 dias corridos —, sem contar a elaboração dos artefatos.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VALOR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 do valor em uma única demanda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83080"/>
          <a:ext cx="7589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783080"/>
            <a:ext cx="2816352" cy="3291840"/>
          </a:xfrm>
          <a:prstGeom prst="roundRect">
            <a:avLst>
              <a:gd name="adj" fmla="val 2597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915400" y="1965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3017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17 demandas sem valor estimado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real da carteira ainda é desconhecido.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14 de 17 demandas sem estimativa, não é possível dimensionar a carteira nem priorizar por valor. As três demandas com valor são justamente as que já têm processo SEI novo.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PRONTIDÃO DA CARTEIRA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das 17 demandas estão travadas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E1E8F5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avançar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recebida, DOD elaborado e via definida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2900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Chromebooks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Telefonia VoIP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Licenças Microsoft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Appliances para backup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246120" cy="4251960"/>
          </a:xfrm>
          <a:prstGeom prst="roundRect">
            <a:avLst>
              <a:gd name="adj" fmla="val 2254"/>
            </a:avLst>
          </a:prstGeom>
          <a:solidFill>
            <a:srgbClr val="F7E9C9"/>
          </a:solidFill>
          <a:ln w="12700">
            <a:solidFill>
              <a:srgbClr val="F7E9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A5F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920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elaboração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88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recebida, DOD em elaboração ou análise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42900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Tela interativa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Antivírus com EDR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Computadores e monitores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1783080"/>
            <a:ext cx="3687775" cy="4251960"/>
          </a:xfrm>
          <a:prstGeom prst="roundRect">
            <a:avLst>
              <a:gd name="adj" fmla="val 1984"/>
            </a:avLst>
          </a:prstGeom>
          <a:solidFill>
            <a:srgbClr val="FBE2DE"/>
          </a:solidFill>
          <a:ln w="12700">
            <a:solidFill>
              <a:srgbClr val="FBE2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1920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1920240"/>
            <a:ext cx="2224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Travadas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834640"/>
            <a:ext cx="31391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justificativa (6)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Switch ToR · 12 Firewall · 14 Rack 19U · 15 Pontos lógicos · 16 Telefonia móvel · 17 Switch core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Softwares · 13 Servidor hiperconvergente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Devolvidas 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Câmeras · 06 Link de internet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nenhuma atividade tem dono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3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atividades abertas </a:t>
            </a:r>
            <a:pPr indent="0" marL="0">
              <a:buNone/>
            </a:pPr>
            <a:r>
              <a:rPr lang="en-US" sz="18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responsável</a:t>
            </a:r>
            <a:pPr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256 de 259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20640" y="1828800"/>
            <a:ext cx="6339535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9019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0/17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901952"/>
            <a:ext cx="4967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com responsável geral da coordenação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2542032"/>
            <a:ext cx="6339535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15184"/>
            <a:ext cx="4967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 por etapa designados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20640" y="3255264"/>
            <a:ext cx="6339535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33284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28416"/>
            <a:ext cx="4967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com atividade atribuída: Gibson (2) e Luene (1)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20640" y="3968496"/>
            <a:ext cx="6339535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40416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· V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041648"/>
            <a:ext cx="49679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sem ponto focal nomeado no GT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20640" y="4681728"/>
            <a:ext cx="6339535" cy="0"/>
          </a:xfrm>
          <a:prstGeom prst="line">
            <a:avLst/>
          </a:prstGeom>
          <a:noFill/>
          <a:ln w="9525">
            <a:solidFill>
              <a:srgbClr val="D8D1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responsável, a atividade não aparece nas pendências de ninguém e nenhum aviso é disparado. Designar donos é a ação mais barata e a que mais destrava.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I · PLANEJAMENTO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artefatos técnicos mal começaram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10728655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76072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ETP concluído inclui o reaproveitamento do ETP do PRODERJ nas demandas 03 e 07 (participante da ata).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PONTOS DE ATENÇÃO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riscos a tratar antes de avançar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7286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743200"/>
                <a:gridCol w="26819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da ARP diverge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(147 × 1477/2024)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· Softwares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Adesão na ata errada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o nº com a CELIC/RS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 e aceite sem registro</a:t>
                      </a:r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· Servidor hiperconvergente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 sem justificativa nem ata cadastrada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Localizar e registrar ata e aceite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Atas sem vigência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(6 de 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atas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da Etapa II: carona em ata vencida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vigência e saldo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PCA/PEDTIC não confirmado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(17 de 17)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a carteira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fora do PEDTIC exige revisão extraordinária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focal PCA confirma cada 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Devolvidas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à área técnica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· Câmeras e 06 · Link de internet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Quantitativo e itens indefinidos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Pactuar prazo de retorno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demandas podem andar já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72865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3017520"/>
                <a:gridCol w="35048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está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Próximo passo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· Chromebooks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Adesão · ARP 032/2026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R$ 64,82 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ETP em elaboração; TI em análise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Concluir ETP e manifestação do TI; confirmar PCA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Appliances backup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Adesão · PE-RP 016/2024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R$ 3,56 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 elaborado; aguardando envio ao 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ao TI, confirmar PCA e iniciar ETP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· Telefonia VoIP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Participante · PE-RP 012/2024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ETP do PRODERJ; TI de acordo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PCA; seguir para TR e aprovação da VPA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· Licenças Microsoft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Participante · PERP 12/25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ETP do PRODERJ; ata em assinatura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Acompanhar publicação da ata; manifestação do 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· Softwares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Adesão · ARP CELIC/RS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R$ 1,30 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Divergência no nº da ARP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2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Resolver a divergência e seguir com o ETP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Juntas, somam </a:t>
            </a:r>
            <a:pPr indent="0" marL="0">
              <a:buNone/>
            </a:pPr>
            <a:r>
              <a:rPr lang="en-US" sz="1400" b="1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 valor informado</a:t>
            </a:r>
            <a:pPr indent="0" marL="0">
              <a:buNone/>
            </a:pPr>
            <a:r>
              <a:rPr lang="en-US" sz="1400" dirty="0">
                <a:solidFill>
                  <a:srgbClr val="4A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já têm justificativa, DOD elaborado e ata identificada.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5F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2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para os próximos 30 dias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3911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87752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responsável geral e responsáveis por etapa nas 17 demandas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192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· Semana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99178" y="178308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3498" y="203911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349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73498" y="2587752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ponto focal para as Etapas IV e V e liberar o acesso dos 15 integrantes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33192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 administrador · Semana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6837" y="178308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1157" y="203911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41157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1157" y="2587752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as divergências das demandas 02 e 13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41157" y="331927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· Semana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23367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782312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as 7 justificativas pendentes (demandas 11 a 17)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51383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e área demandante · Semanas 1–2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99178" y="39776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3498" y="423367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73498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73498" y="4782312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PCA/PEDTIC, valor e processo SEI das 17 demandas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73498" y="551383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focais (Frente III) · Semana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6837" y="3977640"/>
            <a:ext cx="3393338" cy="1920240"/>
          </a:xfrm>
          <a:prstGeom prst="roundRect">
            <a:avLst>
              <a:gd name="adj" fmla="val 3810"/>
            </a:avLst>
          </a:prstGeom>
          <a:solidFill>
            <a:srgbClr val="FBFAF6"/>
          </a:solidFill>
          <a:ln w="9525">
            <a:solidFill>
              <a:srgbClr val="E2DCCF"/>
            </a:solidFill>
            <a:prstDash val="solid"/>
          </a:ln>
          <a:effectLst>
            <a:outerShdw sx="100000" sy="100000" kx="0" ky="0" algn="bl" rotWithShape="0" blurRad="76200" dist="25400" dir="5400000">
              <a:srgbClr val="16284D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41157" y="4233672"/>
            <a:ext cx="457200" cy="457200"/>
          </a:xfrm>
          <a:prstGeom prst="ellipse">
            <a:avLst/>
          </a:prstGeom>
          <a:solidFill>
            <a:srgbClr val="C8962F"/>
          </a:solidFill>
          <a:ln w="12700">
            <a:solidFill>
              <a:srgbClr val="C896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41157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41157" y="4782312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vigência das 6 atas e enquadrar as 10 demandas “a definir”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41157" y="5513832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(Frente II) · Semanas 2–3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 · prazos sugeridos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04672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BFA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para o próximo report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728655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2194560"/>
                <a:gridCol w="23161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0B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0B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E0B4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em 30 dias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Demandas com responsável geral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Atividades abertas com responsável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Justificativas da área recebidas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PCA/PEDTIC confirmado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Atas com vigência registrada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de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Demandas além da Etapa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F2B3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de 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BFA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 menos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1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7150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indicadores saem do sistema: Painel, Relatórios › Report semanal e Minhas pendências.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327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PROPAG · Posição em 24/09/2026 · Fonte: Sistema de Controle de Contratações · metas sugeridas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1054577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GT PROPAG · Compras Públicas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das contratações · GT PROPAG</dc:title>
  <dc:subject>Apresentação executiva · posição em 24/09/2026</dc:subject>
  <dc:creator>PptxGenJS</dc:creator>
  <cp:lastModifiedBy>PptxGenJS</cp:lastModifiedBy>
  <cp:revision>1</cp:revision>
  <dcterms:created xsi:type="dcterms:W3CDTF">2026-09-24T19:55:49Z</dcterms:created>
  <dcterms:modified xsi:type="dcterms:W3CDTF">2026-09-24T19:55:49Z</dcterms:modified>
</cp:coreProperties>
</file>