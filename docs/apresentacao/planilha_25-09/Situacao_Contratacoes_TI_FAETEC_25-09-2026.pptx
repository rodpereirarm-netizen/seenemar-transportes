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Apresentação da situação das 20 demandas de contratação de tecnologia da informação da FAETEC acompanhadas pelo GT PROPAG. Todos os dados foram extraídos exclusivamente da planilha de andamento do GT com posição de 25/09/2026.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Síntese da carteira. Todas as demandas estão na fase preparatória. Nove possuem DOD elaborado e dez têm ata de registro de preços indicada, por adesão ou participação. Nove demandas não possuem justificativa no drive, o que condiciona a continuidade da instrução. O valor estimado está registrado em apenas três demandas, que somam R$ 69,68 milhões.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Distribuição das 20 demandas por marco registrado na planilha. Cada barra soma 20. No campo de ata, “Não preenchido” indica que o status não foi informado; no item 01, apesar do status em branco, a observação cita a ARP 032/2026 da SEAD/MA.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Situação registrada na planilha para as demandas 01 a 10. Na coluna TI, “SIM” corresponde à manifestação favorável (“De Acordo”) registrada na planilha. No item 06, a observação do TI registra “aguardando análise e remanejamento do quantitativo pelo PRODERJ”.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Situação registrada na planilha para as demandas 11 a 20. Nenhuma delas possui valor estimado nem manifestação do TI. Os itens 14, 18 e 20 não têm processo SEI informado.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Relação das atas indicadas na planilha, com a transcrição do campo de observação da ata e do registro no DOD. Os itens 13 e 14 indicam a mesma ata (ARP 167/2025 – SEPLAG/MG). Nos itens 02 e 18, os registros do DOD e da ata diferem, conforme detalhado nos pontos de atenção.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Valores globais registrados na planilha: Chromebooks R$ 64.818.000,00; Appliances para backup R$ 3.559.045,11; Softwares de edição e arquitetura R$ 1.304.100,00. Total de R$ 69.681.145,11. As demais 17 demandas não possuem valor estimado registrado.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Agrupamento das 20 demandas conforme as colunas “Último andamento” e “Observação” da planilha. Cada demanda aparece em um único grupo. O grupo mais numeroso é o das nove demandas sem justificativa no drive, itens 11 a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Demandas que reúnem DOD elaborado e manifestação favorável da área de TI, segundo a planilha. Três delas (01, 03 e 06) aguardam a análise encaminhada; o item 02 retornou ao GT para atualização da justificativa; o item 10 está com o TR em elaboração.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Registros que apresentam divergência interna ou informação incompleta na própria planilha. Recomenda-se a conferência com os processos correspondentes antes da consolidação dos dados.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Encaminhamentos derivados diretamente dos registros da planilha. As tratativas dos itens 12 e 18 transcrevem as anotações existentes: no item 12, a anuência do órgão deve ser obtida pelo Compras.gov; no item 18, aguarda-se o retorno da empresa quanto à disponibilidade de saldo, e o órgão gerenciador informou que o processo deverá observar os procedimentos previstos na legislação vigente.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Síntese final para deliberação do Subsecretário Executivo, com base exclusiva na planilha de andamento do GT de 25/09/2026.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84D"/>
        </a:solidFill>
      </p:bgPr>
    </p:bg>
    <p:spTree>
      <p:nvGrpSpPr>
        <p:cNvPr id="1" name=""/>
        <p:cNvGrpSpPr/>
        <p:nvPr/>
      </p:nvGrpSpPr>
      <p:grpSpPr>
        <a:xfrm>
          <a:off x="0" y="0"/>
          <a:ext cx="0" cy="0"/>
          <a:chOff x="0" y="0"/>
          <a:chExt cx="0" cy="0"/>
        </a:xfrm>
      </p:grpSpPr>
      <p:sp>
        <p:nvSpPr>
          <p:cNvPr id="2" name="Shape 0"/>
          <p:cNvSpPr/>
          <p:nvPr/>
        </p:nvSpPr>
        <p:spPr>
          <a:xfrm>
            <a:off x="0" y="0"/>
            <a:ext cx="384048" cy="6858000"/>
          </a:xfrm>
          <a:prstGeom prst="rect">
            <a:avLst/>
          </a:prstGeom>
          <a:solidFill>
            <a:srgbClr val="C8962F"/>
          </a:solidFill>
          <a:ln w="12700">
            <a:solidFill>
              <a:srgbClr val="C8962F"/>
            </a:solidFill>
            <a:prstDash val="solid"/>
          </a:ln>
        </p:spPr>
      </p:sp>
      <p:sp>
        <p:nvSpPr>
          <p:cNvPr id="3" name="Text 1"/>
          <p:cNvSpPr txBox="1"/>
          <p:nvPr/>
        </p:nvSpPr>
        <p:spPr>
          <a:xfrm>
            <a:off x="1005840" y="640080"/>
            <a:ext cx="5943600" cy="274320"/>
          </a:xfrm>
          <a:prstGeom prst="rect">
            <a:avLst/>
          </a:prstGeom>
          <a:noFill/>
          <a:ln/>
        </p:spPr>
        <p:txBody>
          <a:bodyPr wrap="square" lIns="0" tIns="0" rIns="0" bIns="0" rtlCol="0" anchor="ctr"/>
          <a:lstStyle/>
          <a:p>
            <a:pPr indent="0" marL="0">
              <a:buNone/>
            </a:pPr>
            <a:r>
              <a:rPr lang="en-US" sz="1200" b="1" spc="300" kern="0" dirty="0">
                <a:solidFill>
                  <a:srgbClr val="FBFAF6"/>
                </a:solidFill>
                <a:latin typeface="Calibri" pitchFamily="34" charset="0"/>
                <a:ea typeface="Calibri" pitchFamily="34" charset="-122"/>
                <a:cs typeface="Calibri" pitchFamily="34" charset="-120"/>
              </a:rPr>
              <a:t>GOVERNO DO ESTADO DO RIO DE JANEIRO</a:t>
            </a:r>
            <a:endParaRPr lang="en-US" sz="1200" dirty="0"/>
          </a:p>
        </p:txBody>
      </p:sp>
      <p:sp>
        <p:nvSpPr>
          <p:cNvPr id="4" name="Text 2"/>
          <p:cNvSpPr txBox="1"/>
          <p:nvPr/>
        </p:nvSpPr>
        <p:spPr>
          <a:xfrm>
            <a:off x="6476695" y="640080"/>
            <a:ext cx="5029200" cy="274320"/>
          </a:xfrm>
          <a:prstGeom prst="rect">
            <a:avLst/>
          </a:prstGeom>
          <a:noFill/>
          <a:ln/>
        </p:spPr>
        <p:txBody>
          <a:bodyPr wrap="square" lIns="0" tIns="0" rIns="0" bIns="0" rtlCol="0" anchor="ctr"/>
          <a:lstStyle/>
          <a:p>
            <a:pPr algn="r" indent="0" marL="0">
              <a:buNone/>
            </a:pPr>
            <a:r>
              <a:rPr lang="en-US" sz="1200" b="1" spc="300" kern="0" dirty="0">
                <a:solidFill>
                  <a:srgbClr val="E0B45A"/>
                </a:solidFill>
                <a:latin typeface="Calibri" pitchFamily="34" charset="0"/>
                <a:ea typeface="Calibri" pitchFamily="34" charset="-122"/>
                <a:cs typeface="Calibri" pitchFamily="34" charset="-120"/>
              </a:rPr>
              <a:t>GT PROPAG · COMPRAS PÚBLICAS</a:t>
            </a:r>
            <a:endParaRPr lang="en-US" sz="1200" dirty="0"/>
          </a:p>
        </p:txBody>
      </p:sp>
      <p:sp>
        <p:nvSpPr>
          <p:cNvPr id="5" name="Text 3"/>
          <p:cNvSpPr txBox="1"/>
          <p:nvPr/>
        </p:nvSpPr>
        <p:spPr>
          <a:xfrm>
            <a:off x="1005840" y="1874520"/>
            <a:ext cx="9144000" cy="320040"/>
          </a:xfrm>
          <a:prstGeom prst="rect">
            <a:avLst/>
          </a:prstGeom>
          <a:noFill/>
          <a:ln/>
        </p:spPr>
        <p:txBody>
          <a:bodyPr wrap="square" lIns="0" tIns="0" rIns="0" bIns="0" rtlCol="0" anchor="ctr"/>
          <a:lstStyle/>
          <a:p>
            <a:pPr indent="0" marL="0">
              <a:buNone/>
            </a:pPr>
            <a:r>
              <a:rPr lang="en-US" sz="1500" b="1" spc="400" kern="0" dirty="0">
                <a:solidFill>
                  <a:srgbClr val="E0B45A"/>
                </a:solidFill>
                <a:latin typeface="Calibri" pitchFamily="34" charset="0"/>
                <a:ea typeface="Calibri" pitchFamily="34" charset="-122"/>
                <a:cs typeface="Calibri" pitchFamily="34" charset="-120"/>
              </a:rPr>
              <a:t>APRESENTAÇÃO EXECUTIVA</a:t>
            </a:r>
            <a:endParaRPr lang="en-US" sz="1500" dirty="0"/>
          </a:p>
        </p:txBody>
      </p:sp>
      <p:sp>
        <p:nvSpPr>
          <p:cNvPr id="6" name="Text 4"/>
          <p:cNvSpPr txBox="1"/>
          <p:nvPr/>
        </p:nvSpPr>
        <p:spPr>
          <a:xfrm>
            <a:off x="1005840" y="2286000"/>
            <a:ext cx="10058400" cy="1737360"/>
          </a:xfrm>
          <a:prstGeom prst="rect">
            <a:avLst/>
          </a:prstGeom>
          <a:noFill/>
          <a:ln/>
        </p:spPr>
        <p:txBody>
          <a:bodyPr wrap="square" lIns="0" tIns="0" rIns="0" bIns="0" rtlCol="0" anchor="t"/>
          <a:lstStyle/>
          <a:p>
            <a:pPr indent="0" marL="0">
              <a:buNone/>
            </a:pPr>
            <a:r>
              <a:rPr lang="en-US" sz="5200" b="1" dirty="0">
                <a:solidFill>
                  <a:srgbClr val="FBFAF6"/>
                </a:solidFill>
                <a:latin typeface="Cambria" pitchFamily="34" charset="0"/>
                <a:ea typeface="Cambria" pitchFamily="34" charset="-122"/>
                <a:cs typeface="Cambria" pitchFamily="34" charset="-120"/>
              </a:rPr>
              <a:t>Situação das contratações</a:t>
            </a:r>
            <a:endParaRPr lang="en-US" sz="5200" dirty="0"/>
          </a:p>
          <a:p>
            <a:pPr indent="0" marL="0">
              <a:buNone/>
            </a:pPr>
            <a:r>
              <a:rPr lang="en-US" sz="5200" b="1" dirty="0">
                <a:solidFill>
                  <a:srgbClr val="FBFAF6"/>
                </a:solidFill>
                <a:latin typeface="Cambria" pitchFamily="34" charset="0"/>
                <a:ea typeface="Cambria" pitchFamily="34" charset="-122"/>
                <a:cs typeface="Cambria" pitchFamily="34" charset="-120"/>
              </a:rPr>
              <a:t>de TI da FAETEC</a:t>
            </a:r>
            <a:endParaRPr lang="en-US" sz="5200" dirty="0"/>
          </a:p>
        </p:txBody>
      </p:sp>
      <p:sp>
        <p:nvSpPr>
          <p:cNvPr id="7" name="Shape 5"/>
          <p:cNvSpPr/>
          <p:nvPr/>
        </p:nvSpPr>
        <p:spPr>
          <a:xfrm>
            <a:off x="1005840" y="4224528"/>
            <a:ext cx="1463040" cy="0"/>
          </a:xfrm>
          <a:prstGeom prst="line">
            <a:avLst/>
          </a:prstGeom>
          <a:noFill/>
          <a:ln w="31750">
            <a:solidFill>
              <a:srgbClr val="C8962F"/>
            </a:solidFill>
            <a:prstDash val="solid"/>
          </a:ln>
        </p:spPr>
      </p:sp>
      <p:sp>
        <p:nvSpPr>
          <p:cNvPr id="8" name="Text 6"/>
          <p:cNvSpPr txBox="1"/>
          <p:nvPr/>
        </p:nvSpPr>
        <p:spPr>
          <a:xfrm>
            <a:off x="1005840" y="4434840"/>
            <a:ext cx="9326880" cy="777240"/>
          </a:xfrm>
          <a:prstGeom prst="rect">
            <a:avLst/>
          </a:prstGeom>
          <a:noFill/>
          <a:ln/>
        </p:spPr>
        <p:txBody>
          <a:bodyPr wrap="square" lIns="0" tIns="0" rIns="0" bIns="0" rtlCol="0" anchor="t"/>
          <a:lstStyle/>
          <a:p>
            <a:pPr indent="0" marL="0">
              <a:buNone/>
            </a:pPr>
            <a:r>
              <a:rPr lang="en-US" sz="1800" dirty="0">
                <a:solidFill>
                  <a:srgbClr val="CBD3E4"/>
                </a:solidFill>
                <a:latin typeface="Calibri" pitchFamily="34" charset="0"/>
                <a:ea typeface="Calibri" pitchFamily="34" charset="-122"/>
                <a:cs typeface="Calibri" pitchFamily="34" charset="-120"/>
              </a:rPr>
              <a:t>Carteira de 20 demandas acompanhadas pelo GT PROPAG: estágio da fase preparatória, atas de registro de preços indicadas, pendências e encaminhamentos.</a:t>
            </a:r>
            <a:endParaRPr lang="en-US" sz="1800" dirty="0"/>
          </a:p>
        </p:txBody>
      </p:sp>
      <p:sp>
        <p:nvSpPr>
          <p:cNvPr id="9" name="Text 7"/>
          <p:cNvSpPr txBox="1"/>
          <p:nvPr/>
        </p:nvSpPr>
        <p:spPr>
          <a:xfrm>
            <a:off x="1005840" y="5715000"/>
            <a:ext cx="5943600" cy="594360"/>
          </a:xfrm>
          <a:prstGeom prst="rect">
            <a:avLst/>
          </a:prstGeom>
          <a:noFill/>
          <a:ln/>
        </p:spPr>
        <p:txBody>
          <a:bodyPr wrap="square" lIns="0" tIns="0" rIns="0" bIns="0" rtlCol="0" anchor="b"/>
          <a:lstStyle/>
          <a:p>
            <a:pPr indent="0" marL="0">
              <a:buNone/>
            </a:pPr>
            <a:r>
              <a:rPr lang="en-US" sz="1400" b="1" dirty="0">
                <a:solidFill>
                  <a:srgbClr val="FBFAF6"/>
                </a:solidFill>
                <a:latin typeface="Calibri" pitchFamily="34" charset="0"/>
                <a:ea typeface="Calibri" pitchFamily="34" charset="-122"/>
                <a:cs typeface="Calibri" pitchFamily="34" charset="-120"/>
              </a:rPr>
              <a:t>Apresentação ao Subsecretário Executivo</a:t>
            </a:r>
            <a:endParaRPr lang="en-US" sz="1400" dirty="0"/>
          </a:p>
          <a:p>
            <a:pPr indent="0" marL="0">
              <a:buNone/>
            </a:pPr>
            <a:r>
              <a:rPr lang="en-US" sz="1400" dirty="0">
                <a:solidFill>
                  <a:srgbClr val="CBD3E4"/>
                </a:solidFill>
                <a:latin typeface="Calibri" pitchFamily="34" charset="0"/>
                <a:ea typeface="Calibri" pitchFamily="34" charset="-122"/>
                <a:cs typeface="Calibri" pitchFamily="34" charset="-120"/>
              </a:rPr>
              <a:t>Posição de 25/09/2026</a:t>
            </a:r>
            <a:endParaRPr lang="en-US" sz="1400" dirty="0"/>
          </a:p>
        </p:txBody>
      </p:sp>
      <p:sp>
        <p:nvSpPr>
          <p:cNvPr id="10" name="Text 8"/>
          <p:cNvSpPr txBox="1"/>
          <p:nvPr/>
        </p:nvSpPr>
        <p:spPr>
          <a:xfrm>
            <a:off x="6476695" y="5715000"/>
            <a:ext cx="5029200" cy="594360"/>
          </a:xfrm>
          <a:prstGeom prst="rect">
            <a:avLst/>
          </a:prstGeom>
          <a:noFill/>
          <a:ln/>
        </p:spPr>
        <p:txBody>
          <a:bodyPr wrap="square" lIns="0" tIns="0" rIns="0" bIns="0" rtlCol="0" anchor="b"/>
          <a:lstStyle/>
          <a:p>
            <a:pPr algn="r" indent="0" marL="0">
              <a:buNone/>
            </a:pPr>
            <a:r>
              <a:rPr lang="en-US" sz="1300" b="1" dirty="0">
                <a:solidFill>
                  <a:srgbClr val="FBFAF6"/>
                </a:solidFill>
                <a:latin typeface="Calibri" pitchFamily="34" charset="0"/>
                <a:ea typeface="Calibri" pitchFamily="34" charset="-122"/>
                <a:cs typeface="Calibri" pitchFamily="34" charset="-120"/>
              </a:rPr>
              <a:t>Fonte</a:t>
            </a:r>
            <a:endParaRPr lang="en-US" sz="1300" dirty="0"/>
          </a:p>
          <a:p>
            <a:pPr algn="r" indent="0" marL="0">
              <a:buNone/>
            </a:pPr>
            <a:r>
              <a:rPr lang="en-US" sz="1300" dirty="0">
                <a:solidFill>
                  <a:srgbClr val="CBD3E4"/>
                </a:solidFill>
                <a:latin typeface="Calibri" pitchFamily="34" charset="0"/>
                <a:ea typeface="Calibri" pitchFamily="34" charset="-122"/>
                <a:cs typeface="Calibri" pitchFamily="34" charset="-120"/>
              </a:rPr>
              <a:t>Planilha de andamento do GT PROPAG, 25/09/2026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8962F"/>
          </a:solidFill>
          <a:ln w="12700">
            <a:solidFill>
              <a:srgbClr val="C8962F"/>
            </a:solidFill>
            <a:prstDash val="solid"/>
          </a:ln>
        </p:spPr>
      </p:sp>
      <p:sp>
        <p:nvSpPr>
          <p:cNvPr id="3" name="Text 1"/>
          <p:cNvSpPr txBox="1"/>
          <p:nvPr/>
        </p:nvSpPr>
        <p:spPr>
          <a:xfrm>
            <a:off x="685800" y="457200"/>
            <a:ext cx="10820095" cy="274320"/>
          </a:xfrm>
          <a:prstGeom prst="rect">
            <a:avLst/>
          </a:prstGeom>
          <a:noFill/>
          <a:ln/>
        </p:spPr>
        <p:txBody>
          <a:bodyPr wrap="square" lIns="0" tIns="0" rIns="0" bIns="0" rtlCol="0" anchor="ctr"/>
          <a:lstStyle/>
          <a:p>
            <a:pPr indent="0" marL="0">
              <a:buNone/>
            </a:pPr>
            <a:r>
              <a:rPr lang="en-US" sz="1150" b="1" spc="300" kern="0" dirty="0">
                <a:solidFill>
                  <a:srgbClr val="8A5F0D"/>
                </a:solidFill>
                <a:latin typeface="Calibri" pitchFamily="34" charset="0"/>
                <a:ea typeface="Calibri" pitchFamily="34" charset="-122"/>
                <a:cs typeface="Calibri" pitchFamily="34" charset="-120"/>
              </a:rPr>
              <a:t>SUMÁRIO EXECUTIVO</a:t>
            </a:r>
            <a:endParaRPr lang="en-US" sz="1150" dirty="0"/>
          </a:p>
        </p:txBody>
      </p:sp>
      <p:sp>
        <p:nvSpPr>
          <p:cNvPr id="4" name="Text 2"/>
          <p:cNvSpPr txBox="1"/>
          <p:nvPr/>
        </p:nvSpPr>
        <p:spPr>
          <a:xfrm>
            <a:off x="685800" y="749808"/>
            <a:ext cx="10820095" cy="658368"/>
          </a:xfrm>
          <a:prstGeom prst="rect">
            <a:avLst/>
          </a:prstGeom>
          <a:noFill/>
          <a:ln/>
        </p:spPr>
        <p:txBody>
          <a:bodyPr wrap="square" lIns="0" tIns="0" rIns="0" bIns="0" rtlCol="0" anchor="t"/>
          <a:lstStyle/>
          <a:p>
            <a:pPr indent="0" marL="0">
              <a:buNone/>
            </a:pPr>
            <a:r>
              <a:rPr lang="en-US" sz="3200" b="1" dirty="0">
                <a:solidFill>
                  <a:srgbClr val="16284D"/>
                </a:solidFill>
                <a:latin typeface="Cambria" pitchFamily="34" charset="0"/>
                <a:ea typeface="Cambria" pitchFamily="34" charset="-122"/>
                <a:cs typeface="Cambria" pitchFamily="34" charset="-120"/>
              </a:rPr>
              <a:t>As 20 demandas encontram-se na fase preparatória</a:t>
            </a:r>
            <a:endParaRPr lang="en-US" sz="3200" dirty="0"/>
          </a:p>
        </p:txBody>
      </p:sp>
      <p:sp>
        <p:nvSpPr>
          <p:cNvPr id="5" name="Shape 3"/>
          <p:cNvSpPr/>
          <p:nvPr/>
        </p:nvSpPr>
        <p:spPr>
          <a:xfrm>
            <a:off x="685800" y="1481328"/>
            <a:ext cx="1005840" cy="0"/>
          </a:xfrm>
          <a:prstGeom prst="line">
            <a:avLst/>
          </a:prstGeom>
          <a:noFill/>
          <a:ln w="25400">
            <a:solidFill>
              <a:srgbClr val="C8962F"/>
            </a:solidFill>
            <a:prstDash val="solid"/>
          </a:ln>
        </p:spPr>
      </p:sp>
      <p:sp>
        <p:nvSpPr>
          <p:cNvPr id="6" name="Shape 4"/>
          <p:cNvSpPr/>
          <p:nvPr/>
        </p:nvSpPr>
        <p:spPr>
          <a:xfrm>
            <a:off x="685800" y="1783080"/>
            <a:ext cx="5250028" cy="2011680"/>
          </a:xfrm>
          <a:prstGeom prst="rect">
            <a:avLst/>
          </a:prstGeom>
          <a:solidFill>
            <a:srgbClr val="FFFFFF"/>
          </a:solidFill>
          <a:ln w="9525">
            <a:solidFill>
              <a:srgbClr val="E2DCCF"/>
            </a:solidFill>
            <a:prstDash val="solid"/>
          </a:ln>
          <a:effectLst>
            <a:outerShdw sx="100000" sy="100000" kx="0" ky="0" algn="bl" rotWithShape="0" blurRad="101600" dist="25400" dir="5400000">
              <a:srgbClr val="16284D">
                <a:alpha val="7000"/>
              </a:srgbClr>
            </a:outerShdw>
          </a:effectLst>
        </p:spPr>
      </p:sp>
      <p:sp>
        <p:nvSpPr>
          <p:cNvPr id="7" name="Shape 5"/>
          <p:cNvSpPr/>
          <p:nvPr/>
        </p:nvSpPr>
        <p:spPr>
          <a:xfrm>
            <a:off x="685800" y="1783080"/>
            <a:ext cx="64008" cy="2011680"/>
          </a:xfrm>
          <a:prstGeom prst="rect">
            <a:avLst/>
          </a:prstGeom>
          <a:solidFill>
            <a:srgbClr val="C8962F"/>
          </a:solidFill>
          <a:ln w="12700">
            <a:solidFill>
              <a:srgbClr val="C8962F"/>
            </a:solidFill>
            <a:prstDash val="solid"/>
          </a:ln>
        </p:spPr>
      </p:sp>
      <p:sp>
        <p:nvSpPr>
          <p:cNvPr id="8" name="Text 6"/>
          <p:cNvSpPr txBox="1"/>
          <p:nvPr/>
        </p:nvSpPr>
        <p:spPr>
          <a:xfrm>
            <a:off x="1005840" y="1984248"/>
            <a:ext cx="2194560" cy="685800"/>
          </a:xfrm>
          <a:prstGeom prst="rect">
            <a:avLst/>
          </a:prstGeom>
          <a:noFill/>
          <a:ln/>
        </p:spPr>
        <p:txBody>
          <a:bodyPr wrap="square" lIns="0" tIns="0" rIns="0" bIns="0" rtlCol="0" anchor="ctr"/>
          <a:lstStyle/>
          <a:p>
            <a:pPr indent="0" marL="0">
              <a:buNone/>
            </a:pPr>
            <a:r>
              <a:rPr lang="en-US" sz="3600" b="1" dirty="0">
                <a:solidFill>
                  <a:srgbClr val="16284D"/>
                </a:solidFill>
                <a:latin typeface="Cambria" pitchFamily="34" charset="0"/>
                <a:ea typeface="Cambria" pitchFamily="34" charset="-122"/>
                <a:cs typeface="Cambria" pitchFamily="34" charset="-120"/>
              </a:rPr>
              <a:t>9 de 20</a:t>
            </a:r>
            <a:endParaRPr lang="en-US" sz="3600" dirty="0"/>
          </a:p>
        </p:txBody>
      </p:sp>
      <p:sp>
        <p:nvSpPr>
          <p:cNvPr id="9" name="Text 7"/>
          <p:cNvSpPr txBox="1"/>
          <p:nvPr/>
        </p:nvSpPr>
        <p:spPr>
          <a:xfrm>
            <a:off x="3200400" y="1984248"/>
            <a:ext cx="2506828" cy="685800"/>
          </a:xfrm>
          <a:prstGeom prst="rect">
            <a:avLst/>
          </a:prstGeom>
          <a:noFill/>
          <a:ln/>
        </p:spPr>
        <p:txBody>
          <a:bodyPr wrap="square" lIns="0" tIns="0" rIns="0" bIns="0" rtlCol="0" anchor="ctr"/>
          <a:lstStyle/>
          <a:p>
            <a:pPr indent="0" marL="0">
              <a:buNone/>
            </a:pPr>
            <a:r>
              <a:rPr lang="en-US" sz="1700" b="1" dirty="0">
                <a:solidFill>
                  <a:srgbClr val="1B2236"/>
                </a:solidFill>
                <a:latin typeface="Calibri" pitchFamily="34" charset="0"/>
                <a:ea typeface="Calibri" pitchFamily="34" charset="-122"/>
                <a:cs typeface="Calibri" pitchFamily="34" charset="-120"/>
              </a:rPr>
              <a:t>DODs elaborados</a:t>
            </a:r>
            <a:endParaRPr lang="en-US" sz="1700" dirty="0"/>
          </a:p>
        </p:txBody>
      </p:sp>
      <p:sp>
        <p:nvSpPr>
          <p:cNvPr id="10" name="Text 8"/>
          <p:cNvSpPr txBox="1"/>
          <p:nvPr/>
        </p:nvSpPr>
        <p:spPr>
          <a:xfrm>
            <a:off x="1005840" y="2761488"/>
            <a:ext cx="4655668" cy="896112"/>
          </a:xfrm>
          <a:prstGeom prst="rect">
            <a:avLst/>
          </a:prstGeom>
          <a:noFill/>
          <a:ln/>
        </p:spPr>
        <p:txBody>
          <a:bodyPr wrap="square" lIns="0" tIns="0" rIns="0" bIns="0" rtlCol="0" anchor="t"/>
          <a:lstStyle/>
          <a:p>
            <a:pPr indent="0" marL="0">
              <a:buNone/>
            </a:pPr>
            <a:r>
              <a:rPr lang="en-US" sz="1400" dirty="0">
                <a:solidFill>
                  <a:srgbClr val="3E3A30"/>
                </a:solidFill>
                <a:latin typeface="Calibri" pitchFamily="34" charset="0"/>
                <a:ea typeface="Calibri" pitchFamily="34" charset="-122"/>
                <a:cs typeface="Calibri" pitchFamily="34" charset="-120"/>
              </a:rPr>
              <a:t>Outros 4 estão em elaboração e 7 em análise. A manifestação favorável da área de TI consta em 5 demandas (itens 01, 02, 03, 06 e 10).</a:t>
            </a:r>
            <a:endParaRPr lang="en-US" sz="1400" dirty="0"/>
          </a:p>
        </p:txBody>
      </p:sp>
      <p:sp>
        <p:nvSpPr>
          <p:cNvPr id="11" name="Shape 9"/>
          <p:cNvSpPr/>
          <p:nvPr/>
        </p:nvSpPr>
        <p:spPr>
          <a:xfrm>
            <a:off x="6255868" y="1783080"/>
            <a:ext cx="5250028" cy="2011680"/>
          </a:xfrm>
          <a:prstGeom prst="rect">
            <a:avLst/>
          </a:prstGeom>
          <a:solidFill>
            <a:srgbClr val="FFFFFF"/>
          </a:solidFill>
          <a:ln w="9525">
            <a:solidFill>
              <a:srgbClr val="E2DCCF"/>
            </a:solidFill>
            <a:prstDash val="solid"/>
          </a:ln>
          <a:effectLst>
            <a:outerShdw sx="100000" sy="100000" kx="0" ky="0" algn="bl" rotWithShape="0" blurRad="101600" dist="25400" dir="5400000">
              <a:srgbClr val="16284D">
                <a:alpha val="7000"/>
              </a:srgbClr>
            </a:outerShdw>
          </a:effectLst>
        </p:spPr>
      </p:sp>
      <p:sp>
        <p:nvSpPr>
          <p:cNvPr id="12" name="Shape 10"/>
          <p:cNvSpPr/>
          <p:nvPr/>
        </p:nvSpPr>
        <p:spPr>
          <a:xfrm>
            <a:off x="6255868" y="1783080"/>
            <a:ext cx="64008" cy="2011680"/>
          </a:xfrm>
          <a:prstGeom prst="rect">
            <a:avLst/>
          </a:prstGeom>
          <a:solidFill>
            <a:srgbClr val="C8962F"/>
          </a:solidFill>
          <a:ln w="12700">
            <a:solidFill>
              <a:srgbClr val="C8962F"/>
            </a:solidFill>
            <a:prstDash val="solid"/>
          </a:ln>
        </p:spPr>
      </p:sp>
      <p:sp>
        <p:nvSpPr>
          <p:cNvPr id="13" name="Text 11"/>
          <p:cNvSpPr txBox="1"/>
          <p:nvPr/>
        </p:nvSpPr>
        <p:spPr>
          <a:xfrm>
            <a:off x="6575908" y="1984248"/>
            <a:ext cx="2194560" cy="685800"/>
          </a:xfrm>
          <a:prstGeom prst="rect">
            <a:avLst/>
          </a:prstGeom>
          <a:noFill/>
          <a:ln/>
        </p:spPr>
        <p:txBody>
          <a:bodyPr wrap="square" lIns="0" tIns="0" rIns="0" bIns="0" rtlCol="0" anchor="ctr"/>
          <a:lstStyle/>
          <a:p>
            <a:pPr indent="0" marL="0">
              <a:buNone/>
            </a:pPr>
            <a:r>
              <a:rPr lang="en-US" sz="3600" b="1" dirty="0">
                <a:solidFill>
                  <a:srgbClr val="16284D"/>
                </a:solidFill>
                <a:latin typeface="Cambria" pitchFamily="34" charset="0"/>
                <a:ea typeface="Cambria" pitchFamily="34" charset="-122"/>
                <a:cs typeface="Cambria" pitchFamily="34" charset="-120"/>
              </a:rPr>
              <a:t>10 de 20</a:t>
            </a:r>
            <a:endParaRPr lang="en-US" sz="3600" dirty="0"/>
          </a:p>
        </p:txBody>
      </p:sp>
      <p:sp>
        <p:nvSpPr>
          <p:cNvPr id="14" name="Text 12"/>
          <p:cNvSpPr txBox="1"/>
          <p:nvPr/>
        </p:nvSpPr>
        <p:spPr>
          <a:xfrm>
            <a:off x="8770468" y="1984248"/>
            <a:ext cx="2506828" cy="685800"/>
          </a:xfrm>
          <a:prstGeom prst="rect">
            <a:avLst/>
          </a:prstGeom>
          <a:noFill/>
          <a:ln/>
        </p:spPr>
        <p:txBody>
          <a:bodyPr wrap="square" lIns="0" tIns="0" rIns="0" bIns="0" rtlCol="0" anchor="ctr"/>
          <a:lstStyle/>
          <a:p>
            <a:pPr indent="0" marL="0">
              <a:buNone/>
            </a:pPr>
            <a:r>
              <a:rPr lang="en-US" sz="1700" b="1" dirty="0">
                <a:solidFill>
                  <a:srgbClr val="1B2236"/>
                </a:solidFill>
                <a:latin typeface="Calibri" pitchFamily="34" charset="0"/>
                <a:ea typeface="Calibri" pitchFamily="34" charset="-122"/>
                <a:cs typeface="Calibri" pitchFamily="34" charset="-120"/>
              </a:rPr>
              <a:t>com ata de registro de preços indicada</a:t>
            </a:r>
            <a:endParaRPr lang="en-US" sz="1700" dirty="0"/>
          </a:p>
        </p:txBody>
      </p:sp>
      <p:sp>
        <p:nvSpPr>
          <p:cNvPr id="15" name="Text 13"/>
          <p:cNvSpPr txBox="1"/>
          <p:nvPr/>
        </p:nvSpPr>
        <p:spPr>
          <a:xfrm>
            <a:off x="6575908" y="2761488"/>
            <a:ext cx="4655668" cy="896112"/>
          </a:xfrm>
          <a:prstGeom prst="rect">
            <a:avLst/>
          </a:prstGeom>
          <a:noFill/>
          <a:ln/>
        </p:spPr>
        <p:txBody>
          <a:bodyPr wrap="square" lIns="0" tIns="0" rIns="0" bIns="0" rtlCol="0" anchor="t"/>
          <a:lstStyle/>
          <a:p>
            <a:pPr indent="0" marL="0">
              <a:buNone/>
            </a:pPr>
            <a:r>
              <a:rPr lang="en-US" sz="1400" dirty="0">
                <a:solidFill>
                  <a:srgbClr val="3E3A30"/>
                </a:solidFill>
                <a:latin typeface="Calibri" pitchFamily="34" charset="0"/>
                <a:ea typeface="Calibri" pitchFamily="34" charset="-122"/>
                <a:cs typeface="Calibri" pitchFamily="34" charset="-120"/>
              </a:rPr>
              <a:t>8 com status “SIM” e 2 com status “PARTICIPE”. O item 05 registra dispensa (art. 75 da Lei 14.133) e 8 demandas aguardam nova pesquisa de atas.</a:t>
            </a:r>
            <a:endParaRPr lang="en-US" sz="1400" dirty="0"/>
          </a:p>
        </p:txBody>
      </p:sp>
      <p:sp>
        <p:nvSpPr>
          <p:cNvPr id="16" name="Shape 14"/>
          <p:cNvSpPr/>
          <p:nvPr/>
        </p:nvSpPr>
        <p:spPr>
          <a:xfrm>
            <a:off x="685800" y="4069080"/>
            <a:ext cx="5250028" cy="2011680"/>
          </a:xfrm>
          <a:prstGeom prst="rect">
            <a:avLst/>
          </a:prstGeom>
          <a:solidFill>
            <a:srgbClr val="FFFFFF"/>
          </a:solidFill>
          <a:ln w="9525">
            <a:solidFill>
              <a:srgbClr val="E2DCCF"/>
            </a:solidFill>
            <a:prstDash val="solid"/>
          </a:ln>
          <a:effectLst>
            <a:outerShdw sx="100000" sy="100000" kx="0" ky="0" algn="bl" rotWithShape="0" blurRad="101600" dist="25400" dir="5400000">
              <a:srgbClr val="16284D">
                <a:alpha val="7000"/>
              </a:srgbClr>
            </a:outerShdw>
          </a:effectLst>
        </p:spPr>
      </p:sp>
      <p:sp>
        <p:nvSpPr>
          <p:cNvPr id="17" name="Shape 15"/>
          <p:cNvSpPr/>
          <p:nvPr/>
        </p:nvSpPr>
        <p:spPr>
          <a:xfrm>
            <a:off x="685800" y="4069080"/>
            <a:ext cx="64008" cy="2011680"/>
          </a:xfrm>
          <a:prstGeom prst="rect">
            <a:avLst/>
          </a:prstGeom>
          <a:solidFill>
            <a:srgbClr val="A8322A"/>
          </a:solidFill>
          <a:ln w="12700">
            <a:solidFill>
              <a:srgbClr val="A8322A"/>
            </a:solidFill>
            <a:prstDash val="solid"/>
          </a:ln>
        </p:spPr>
      </p:sp>
      <p:sp>
        <p:nvSpPr>
          <p:cNvPr id="18" name="Text 16"/>
          <p:cNvSpPr txBox="1"/>
          <p:nvPr/>
        </p:nvSpPr>
        <p:spPr>
          <a:xfrm>
            <a:off x="1005840" y="4270248"/>
            <a:ext cx="2194560" cy="685800"/>
          </a:xfrm>
          <a:prstGeom prst="rect">
            <a:avLst/>
          </a:prstGeom>
          <a:noFill/>
          <a:ln/>
        </p:spPr>
        <p:txBody>
          <a:bodyPr wrap="square" lIns="0" tIns="0" rIns="0" bIns="0" rtlCol="0" anchor="ctr"/>
          <a:lstStyle/>
          <a:p>
            <a:pPr indent="0" marL="0">
              <a:buNone/>
            </a:pPr>
            <a:r>
              <a:rPr lang="en-US" sz="3600" b="1" dirty="0">
                <a:solidFill>
                  <a:srgbClr val="A8322A"/>
                </a:solidFill>
                <a:latin typeface="Cambria" pitchFamily="34" charset="0"/>
                <a:ea typeface="Cambria" pitchFamily="34" charset="-122"/>
                <a:cs typeface="Cambria" pitchFamily="34" charset="-120"/>
              </a:rPr>
              <a:t>9 de 20</a:t>
            </a:r>
            <a:endParaRPr lang="en-US" sz="3600" dirty="0"/>
          </a:p>
        </p:txBody>
      </p:sp>
      <p:sp>
        <p:nvSpPr>
          <p:cNvPr id="19" name="Text 17"/>
          <p:cNvSpPr txBox="1"/>
          <p:nvPr/>
        </p:nvSpPr>
        <p:spPr>
          <a:xfrm>
            <a:off x="3200400" y="4270248"/>
            <a:ext cx="2506828" cy="685800"/>
          </a:xfrm>
          <a:prstGeom prst="rect">
            <a:avLst/>
          </a:prstGeom>
          <a:noFill/>
          <a:ln/>
        </p:spPr>
        <p:txBody>
          <a:bodyPr wrap="square" lIns="0" tIns="0" rIns="0" bIns="0" rtlCol="0" anchor="ctr"/>
          <a:lstStyle/>
          <a:p>
            <a:pPr indent="0" marL="0">
              <a:buNone/>
            </a:pPr>
            <a:r>
              <a:rPr lang="en-US" sz="1700" b="1" dirty="0">
                <a:solidFill>
                  <a:srgbClr val="1B2236"/>
                </a:solidFill>
                <a:latin typeface="Calibri" pitchFamily="34" charset="0"/>
                <a:ea typeface="Calibri" pitchFamily="34" charset="-122"/>
                <a:cs typeface="Calibri" pitchFamily="34" charset="-120"/>
              </a:rPr>
              <a:t>sem justificativa no drive</a:t>
            </a:r>
            <a:endParaRPr lang="en-US" sz="1700" dirty="0"/>
          </a:p>
        </p:txBody>
      </p:sp>
      <p:sp>
        <p:nvSpPr>
          <p:cNvPr id="20" name="Text 18"/>
          <p:cNvSpPr txBox="1"/>
          <p:nvPr/>
        </p:nvSpPr>
        <p:spPr>
          <a:xfrm>
            <a:off x="1005840" y="5047488"/>
            <a:ext cx="4655668" cy="896112"/>
          </a:xfrm>
          <a:prstGeom prst="rect">
            <a:avLst/>
          </a:prstGeom>
          <a:noFill/>
          <a:ln/>
        </p:spPr>
        <p:txBody>
          <a:bodyPr wrap="square" lIns="0" tIns="0" rIns="0" bIns="0" rtlCol="0" anchor="t"/>
          <a:lstStyle/>
          <a:p>
            <a:pPr indent="0" marL="0">
              <a:buNone/>
            </a:pPr>
            <a:r>
              <a:rPr lang="en-US" sz="1400" dirty="0">
                <a:solidFill>
                  <a:srgbClr val="3E3A30"/>
                </a:solidFill>
                <a:latin typeface="Calibri" pitchFamily="34" charset="0"/>
                <a:ea typeface="Calibri" pitchFamily="34" charset="-122"/>
                <a:cs typeface="Calibri" pitchFamily="34" charset="-120"/>
              </a:rPr>
              <a:t>Itens 11 a 19. Outras 2 demandas (itens 04 e 05) foram devolvidas à área técnica para análise do quantitativo e dos itens.</a:t>
            </a:r>
            <a:endParaRPr lang="en-US" sz="1400" dirty="0"/>
          </a:p>
        </p:txBody>
      </p:sp>
      <p:sp>
        <p:nvSpPr>
          <p:cNvPr id="21" name="Shape 19"/>
          <p:cNvSpPr/>
          <p:nvPr/>
        </p:nvSpPr>
        <p:spPr>
          <a:xfrm>
            <a:off x="6255868" y="4069080"/>
            <a:ext cx="5250028" cy="2011680"/>
          </a:xfrm>
          <a:prstGeom prst="rect">
            <a:avLst/>
          </a:prstGeom>
          <a:solidFill>
            <a:srgbClr val="FFFFFF"/>
          </a:solidFill>
          <a:ln w="9525">
            <a:solidFill>
              <a:srgbClr val="E2DCCF"/>
            </a:solidFill>
            <a:prstDash val="solid"/>
          </a:ln>
          <a:effectLst>
            <a:outerShdw sx="100000" sy="100000" kx="0" ky="0" algn="bl" rotWithShape="0" blurRad="101600" dist="25400" dir="5400000">
              <a:srgbClr val="16284D">
                <a:alpha val="7000"/>
              </a:srgbClr>
            </a:outerShdw>
          </a:effectLst>
        </p:spPr>
      </p:sp>
      <p:sp>
        <p:nvSpPr>
          <p:cNvPr id="22" name="Shape 20"/>
          <p:cNvSpPr/>
          <p:nvPr/>
        </p:nvSpPr>
        <p:spPr>
          <a:xfrm>
            <a:off x="6255868" y="4069080"/>
            <a:ext cx="64008" cy="2011680"/>
          </a:xfrm>
          <a:prstGeom prst="rect">
            <a:avLst/>
          </a:prstGeom>
          <a:solidFill>
            <a:srgbClr val="C8962F"/>
          </a:solidFill>
          <a:ln w="12700">
            <a:solidFill>
              <a:srgbClr val="C8962F"/>
            </a:solidFill>
            <a:prstDash val="solid"/>
          </a:ln>
        </p:spPr>
      </p:sp>
      <p:sp>
        <p:nvSpPr>
          <p:cNvPr id="23" name="Text 21"/>
          <p:cNvSpPr txBox="1"/>
          <p:nvPr/>
        </p:nvSpPr>
        <p:spPr>
          <a:xfrm>
            <a:off x="6575908" y="4270248"/>
            <a:ext cx="2194560" cy="685800"/>
          </a:xfrm>
          <a:prstGeom prst="rect">
            <a:avLst/>
          </a:prstGeom>
          <a:noFill/>
          <a:ln/>
        </p:spPr>
        <p:txBody>
          <a:bodyPr wrap="square" lIns="0" tIns="0" rIns="0" bIns="0" rtlCol="0" anchor="ctr"/>
          <a:lstStyle/>
          <a:p>
            <a:pPr indent="0" marL="0">
              <a:buNone/>
            </a:pPr>
            <a:r>
              <a:rPr lang="en-US" sz="3600" b="1" dirty="0">
                <a:solidFill>
                  <a:srgbClr val="16284D"/>
                </a:solidFill>
                <a:latin typeface="Cambria" pitchFamily="34" charset="0"/>
                <a:ea typeface="Cambria" pitchFamily="34" charset="-122"/>
                <a:cs typeface="Cambria" pitchFamily="34" charset="-120"/>
              </a:rPr>
              <a:t>3 de 20</a:t>
            </a:r>
            <a:endParaRPr lang="en-US" sz="3600" dirty="0"/>
          </a:p>
        </p:txBody>
      </p:sp>
      <p:sp>
        <p:nvSpPr>
          <p:cNvPr id="24" name="Text 22"/>
          <p:cNvSpPr txBox="1"/>
          <p:nvPr/>
        </p:nvSpPr>
        <p:spPr>
          <a:xfrm>
            <a:off x="8770468" y="4270248"/>
            <a:ext cx="2506828" cy="685800"/>
          </a:xfrm>
          <a:prstGeom prst="rect">
            <a:avLst/>
          </a:prstGeom>
          <a:noFill/>
          <a:ln/>
        </p:spPr>
        <p:txBody>
          <a:bodyPr wrap="square" lIns="0" tIns="0" rIns="0" bIns="0" rtlCol="0" anchor="ctr"/>
          <a:lstStyle/>
          <a:p>
            <a:pPr indent="0" marL="0">
              <a:buNone/>
            </a:pPr>
            <a:r>
              <a:rPr lang="en-US" sz="1700" b="1" dirty="0">
                <a:solidFill>
                  <a:srgbClr val="1B2236"/>
                </a:solidFill>
                <a:latin typeface="Calibri" pitchFamily="34" charset="0"/>
                <a:ea typeface="Calibri" pitchFamily="34" charset="-122"/>
                <a:cs typeface="Calibri" pitchFamily="34" charset="-120"/>
              </a:rPr>
              <a:t>com valor estimado</a:t>
            </a:r>
            <a:endParaRPr lang="en-US" sz="1700" dirty="0"/>
          </a:p>
        </p:txBody>
      </p:sp>
      <p:sp>
        <p:nvSpPr>
          <p:cNvPr id="25" name="Text 23"/>
          <p:cNvSpPr txBox="1"/>
          <p:nvPr/>
        </p:nvSpPr>
        <p:spPr>
          <a:xfrm>
            <a:off x="6575908" y="5047488"/>
            <a:ext cx="4655668" cy="896112"/>
          </a:xfrm>
          <a:prstGeom prst="rect">
            <a:avLst/>
          </a:prstGeom>
          <a:noFill/>
          <a:ln/>
        </p:spPr>
        <p:txBody>
          <a:bodyPr wrap="square" lIns="0" tIns="0" rIns="0" bIns="0" rtlCol="0" anchor="t"/>
          <a:lstStyle/>
          <a:p>
            <a:pPr indent="0" marL="0">
              <a:buNone/>
            </a:pPr>
            <a:r>
              <a:rPr lang="en-US" sz="1400" dirty="0">
                <a:solidFill>
                  <a:srgbClr val="3E3A30"/>
                </a:solidFill>
                <a:latin typeface="Calibri" pitchFamily="34" charset="0"/>
                <a:ea typeface="Calibri" pitchFamily="34" charset="-122"/>
                <a:cs typeface="Calibri" pitchFamily="34" charset="-120"/>
              </a:rPr>
              <a:t>Total de R$ 69,68 mi, dos quais 93% correspondem à aquisição de Chromebooks (item 01). As demais 17 demandas não possuem valor registrado.</a:t>
            </a:r>
            <a:endParaRPr lang="en-US" sz="1400" dirty="0"/>
          </a:p>
        </p:txBody>
      </p:sp>
      <p:sp>
        <p:nvSpPr>
          <p:cNvPr id="26" name="Shape 24"/>
          <p:cNvSpPr/>
          <p:nvPr/>
        </p:nvSpPr>
        <p:spPr>
          <a:xfrm>
            <a:off x="685800" y="6355080"/>
            <a:ext cx="10820095" cy="0"/>
          </a:xfrm>
          <a:prstGeom prst="line">
            <a:avLst/>
          </a:prstGeom>
          <a:noFill/>
          <a:ln w="6350">
            <a:solidFill>
              <a:srgbClr val="D9D2C3"/>
            </a:solidFill>
            <a:prstDash val="solid"/>
          </a:ln>
        </p:spPr>
      </p:sp>
      <p:sp>
        <p:nvSpPr>
          <p:cNvPr id="27" name="Text 25"/>
          <p:cNvSpPr txBox="1"/>
          <p:nvPr/>
        </p:nvSpPr>
        <p:spPr>
          <a:xfrm>
            <a:off x="685800" y="6419088"/>
            <a:ext cx="9601200" cy="256032"/>
          </a:xfrm>
          <a:prstGeom prst="rect">
            <a:avLst/>
          </a:prstGeom>
          <a:noFill/>
          <a:ln/>
        </p:spPr>
        <p:txBody>
          <a:bodyPr wrap="square" lIns="0" tIns="0" rIns="0" bIns="0" rtlCol="0" anchor="ctr"/>
          <a:lstStyle/>
          <a:p>
            <a:pPr indent="0" marL="0">
              <a:buNone/>
            </a:pPr>
            <a:r>
              <a:rPr lang="en-US" sz="1000" dirty="0">
                <a:solidFill>
                  <a:srgbClr val="6E6758"/>
                </a:solidFill>
                <a:latin typeface="Calibri" pitchFamily="34" charset="0"/>
                <a:ea typeface="Calibri" pitchFamily="34" charset="-122"/>
                <a:cs typeface="Calibri" pitchFamily="34" charset="-120"/>
              </a:rPr>
              <a:t>GT PROPAG · Compras Públicas · Fonte: Planilha de andamento do GT PROPAG · posição de 25/09/2026</a:t>
            </a:r>
            <a:endParaRPr lang="en-US" sz="1000" dirty="0"/>
          </a:p>
        </p:txBody>
      </p:sp>
      <p:sp>
        <p:nvSpPr>
          <p:cNvPr id="28" name="Text 26"/>
          <p:cNvSpPr txBox="1"/>
          <p:nvPr/>
        </p:nvSpPr>
        <p:spPr>
          <a:xfrm>
            <a:off x="10591495" y="6419088"/>
            <a:ext cx="914400" cy="256032"/>
          </a:xfrm>
          <a:prstGeom prst="rect">
            <a:avLst/>
          </a:prstGeom>
          <a:noFill/>
          <a:ln/>
        </p:spPr>
        <p:txBody>
          <a:bodyPr wrap="square" lIns="0" tIns="0" rIns="0" bIns="0" rtlCol="0" anchor="ctr"/>
          <a:lstStyle/>
          <a:p>
            <a:pPr algn="r" indent="0" marL="0">
              <a:buNone/>
            </a:pPr>
            <a:r>
              <a:rPr lang="en-US" sz="1050" b="1" dirty="0">
                <a:solidFill>
                  <a:srgbClr val="16284D"/>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8962F"/>
          </a:solidFill>
          <a:ln w="12700">
            <a:solidFill>
              <a:srgbClr val="C8962F"/>
            </a:solidFill>
            <a:prstDash val="solid"/>
          </a:ln>
        </p:spPr>
      </p:sp>
      <p:sp>
        <p:nvSpPr>
          <p:cNvPr id="3" name="Text 1"/>
          <p:cNvSpPr txBox="1"/>
          <p:nvPr/>
        </p:nvSpPr>
        <p:spPr>
          <a:xfrm>
            <a:off x="685800" y="457200"/>
            <a:ext cx="10820095" cy="274320"/>
          </a:xfrm>
          <a:prstGeom prst="rect">
            <a:avLst/>
          </a:prstGeom>
          <a:noFill/>
          <a:ln/>
        </p:spPr>
        <p:txBody>
          <a:bodyPr wrap="square" lIns="0" tIns="0" rIns="0" bIns="0" rtlCol="0" anchor="ctr"/>
          <a:lstStyle/>
          <a:p>
            <a:pPr indent="0" marL="0">
              <a:buNone/>
            </a:pPr>
            <a:r>
              <a:rPr lang="en-US" sz="1150" b="1" spc="300" kern="0" dirty="0">
                <a:solidFill>
                  <a:srgbClr val="8A5F0D"/>
                </a:solidFill>
                <a:latin typeface="Calibri" pitchFamily="34" charset="0"/>
                <a:ea typeface="Calibri" pitchFamily="34" charset="-122"/>
                <a:cs typeface="Calibri" pitchFamily="34" charset="-120"/>
              </a:rPr>
              <a:t>PANORAMA DA CARTEIRA</a:t>
            </a:r>
            <a:endParaRPr lang="en-US" sz="1150" dirty="0"/>
          </a:p>
        </p:txBody>
      </p:sp>
      <p:sp>
        <p:nvSpPr>
          <p:cNvPr id="4" name="Text 2"/>
          <p:cNvSpPr txBox="1"/>
          <p:nvPr/>
        </p:nvSpPr>
        <p:spPr>
          <a:xfrm>
            <a:off x="685800" y="749808"/>
            <a:ext cx="10820095" cy="658368"/>
          </a:xfrm>
          <a:prstGeom prst="rect">
            <a:avLst/>
          </a:prstGeom>
          <a:noFill/>
          <a:ln/>
        </p:spPr>
        <p:txBody>
          <a:bodyPr wrap="square" lIns="0" tIns="0" rIns="0" bIns="0" rtlCol="0" anchor="t"/>
          <a:lstStyle/>
          <a:p>
            <a:pPr indent="0" marL="0">
              <a:buNone/>
            </a:pPr>
            <a:r>
              <a:rPr lang="en-US" sz="3200" b="1" dirty="0">
                <a:solidFill>
                  <a:srgbClr val="16284D"/>
                </a:solidFill>
                <a:latin typeface="Cambria" pitchFamily="34" charset="0"/>
                <a:ea typeface="Cambria" pitchFamily="34" charset="-122"/>
                <a:cs typeface="Cambria" pitchFamily="34" charset="-120"/>
              </a:rPr>
              <a:t>Situação das 20 demandas por marco da fase preparatória</a:t>
            </a:r>
            <a:endParaRPr lang="en-US" sz="3200" dirty="0"/>
          </a:p>
        </p:txBody>
      </p:sp>
      <p:sp>
        <p:nvSpPr>
          <p:cNvPr id="5" name="Shape 3"/>
          <p:cNvSpPr/>
          <p:nvPr/>
        </p:nvSpPr>
        <p:spPr>
          <a:xfrm>
            <a:off x="685800" y="1481328"/>
            <a:ext cx="1005840" cy="0"/>
          </a:xfrm>
          <a:prstGeom prst="line">
            <a:avLst/>
          </a:prstGeom>
          <a:noFill/>
          <a:ln w="25400">
            <a:solidFill>
              <a:srgbClr val="C8962F"/>
            </a:solidFill>
            <a:prstDash val="solid"/>
          </a:ln>
        </p:spPr>
      </p:sp>
      <p:sp>
        <p:nvSpPr>
          <p:cNvPr id="6" name="Text 4"/>
          <p:cNvSpPr txBox="1"/>
          <p:nvPr/>
        </p:nvSpPr>
        <p:spPr>
          <a:xfrm>
            <a:off x="685800" y="1828800"/>
            <a:ext cx="2834640" cy="512064"/>
          </a:xfrm>
          <a:prstGeom prst="rect">
            <a:avLst/>
          </a:prstGeom>
          <a:noFill/>
          <a:ln/>
        </p:spPr>
        <p:txBody>
          <a:bodyPr wrap="square" lIns="0" tIns="0" rIns="0" bIns="0" rtlCol="0" anchor="ctr"/>
          <a:lstStyle/>
          <a:p>
            <a:pPr indent="0" marL="0">
              <a:buNone/>
            </a:pPr>
            <a:r>
              <a:rPr lang="en-US" sz="1400" b="1" dirty="0">
                <a:solidFill>
                  <a:srgbClr val="1B2236"/>
                </a:solidFill>
                <a:latin typeface="Calibri" pitchFamily="34" charset="0"/>
                <a:ea typeface="Calibri" pitchFamily="34" charset="-122"/>
                <a:cs typeface="Calibri" pitchFamily="34" charset="-120"/>
              </a:rPr>
              <a:t>DOD</a:t>
            </a:r>
            <a:endParaRPr lang="en-US" sz="1400" dirty="0"/>
          </a:p>
        </p:txBody>
      </p:sp>
      <p:sp>
        <p:nvSpPr>
          <p:cNvPr id="7" name="Shape 5"/>
          <p:cNvSpPr/>
          <p:nvPr/>
        </p:nvSpPr>
        <p:spPr>
          <a:xfrm>
            <a:off x="3657600" y="1828800"/>
            <a:ext cx="3504301" cy="512064"/>
          </a:xfrm>
          <a:prstGeom prst="rect">
            <a:avLst/>
          </a:prstGeom>
          <a:solidFill>
            <a:srgbClr val="16284D"/>
          </a:solidFill>
          <a:ln w="12700">
            <a:solidFill>
              <a:srgbClr val="16284D"/>
            </a:solidFill>
            <a:prstDash val="solid"/>
          </a:ln>
        </p:spPr>
      </p:sp>
      <p:sp>
        <p:nvSpPr>
          <p:cNvPr id="8" name="Text 6"/>
          <p:cNvSpPr txBox="1"/>
          <p:nvPr/>
        </p:nvSpPr>
        <p:spPr>
          <a:xfrm>
            <a:off x="3657600" y="1828800"/>
            <a:ext cx="3504301"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Elaborado · 9</a:t>
            </a:r>
            <a:endParaRPr lang="en-US" sz="1200" dirty="0"/>
          </a:p>
        </p:txBody>
      </p:sp>
      <p:sp>
        <p:nvSpPr>
          <p:cNvPr id="9" name="Shape 7"/>
          <p:cNvSpPr/>
          <p:nvPr/>
        </p:nvSpPr>
        <p:spPr>
          <a:xfrm>
            <a:off x="7189333" y="1828800"/>
            <a:ext cx="1542227" cy="512064"/>
          </a:xfrm>
          <a:prstGeom prst="rect">
            <a:avLst/>
          </a:prstGeom>
          <a:solidFill>
            <a:srgbClr val="C8962F"/>
          </a:solidFill>
          <a:ln w="12700">
            <a:solidFill>
              <a:srgbClr val="C8962F"/>
            </a:solidFill>
            <a:prstDash val="solid"/>
          </a:ln>
        </p:spPr>
      </p:sp>
      <p:sp>
        <p:nvSpPr>
          <p:cNvPr id="10" name="Text 8"/>
          <p:cNvSpPr txBox="1"/>
          <p:nvPr/>
        </p:nvSpPr>
        <p:spPr>
          <a:xfrm>
            <a:off x="7189333" y="1828800"/>
            <a:ext cx="1542227" cy="512064"/>
          </a:xfrm>
          <a:prstGeom prst="rect">
            <a:avLst/>
          </a:prstGeom>
          <a:noFill/>
          <a:ln/>
        </p:spPr>
        <p:txBody>
          <a:bodyPr wrap="square" lIns="0" tIns="0" rIns="0" bIns="0" rtlCol="0" anchor="ctr"/>
          <a:lstStyle/>
          <a:p>
            <a:pPr algn="ctr" indent="0" marL="0">
              <a:buNone/>
            </a:pPr>
            <a:r>
              <a:rPr lang="en-US" sz="1200" b="1" dirty="0">
                <a:solidFill>
                  <a:srgbClr val="16284D"/>
                </a:solidFill>
                <a:latin typeface="Calibri" pitchFamily="34" charset="0"/>
                <a:ea typeface="Calibri" pitchFamily="34" charset="-122"/>
                <a:cs typeface="Calibri" pitchFamily="34" charset="-120"/>
              </a:rPr>
              <a:t>Em elaboração · 4</a:t>
            </a:r>
            <a:endParaRPr lang="en-US" sz="1200" dirty="0"/>
          </a:p>
        </p:txBody>
      </p:sp>
      <p:sp>
        <p:nvSpPr>
          <p:cNvPr id="11" name="Shape 9"/>
          <p:cNvSpPr/>
          <p:nvPr/>
        </p:nvSpPr>
        <p:spPr>
          <a:xfrm>
            <a:off x="8758992" y="1828800"/>
            <a:ext cx="2719471" cy="512064"/>
          </a:xfrm>
          <a:prstGeom prst="rect">
            <a:avLst/>
          </a:prstGeom>
          <a:solidFill>
            <a:srgbClr val="F6EACD"/>
          </a:solidFill>
          <a:ln w="12700">
            <a:solidFill>
              <a:srgbClr val="F6EACD"/>
            </a:solidFill>
            <a:prstDash val="solid"/>
          </a:ln>
        </p:spPr>
      </p:sp>
      <p:sp>
        <p:nvSpPr>
          <p:cNvPr id="12" name="Text 10"/>
          <p:cNvSpPr txBox="1"/>
          <p:nvPr/>
        </p:nvSpPr>
        <p:spPr>
          <a:xfrm>
            <a:off x="8758992" y="1828800"/>
            <a:ext cx="2719471" cy="512064"/>
          </a:xfrm>
          <a:prstGeom prst="rect">
            <a:avLst/>
          </a:prstGeom>
          <a:noFill/>
          <a:ln/>
        </p:spPr>
        <p:txBody>
          <a:bodyPr wrap="square" lIns="0" tIns="0" rIns="0" bIns="0" rtlCol="0" anchor="ctr"/>
          <a:lstStyle/>
          <a:p>
            <a:pPr algn="ctr" indent="0" marL="0">
              <a:buNone/>
            </a:pPr>
            <a:r>
              <a:rPr lang="en-US" sz="1200" b="1" dirty="0">
                <a:solidFill>
                  <a:srgbClr val="8A5F0D"/>
                </a:solidFill>
                <a:latin typeface="Calibri" pitchFamily="34" charset="0"/>
                <a:ea typeface="Calibri" pitchFamily="34" charset="-122"/>
                <a:cs typeface="Calibri" pitchFamily="34" charset="-120"/>
              </a:rPr>
              <a:t>Em análise · 7</a:t>
            </a:r>
            <a:endParaRPr lang="en-US" sz="1200" dirty="0"/>
          </a:p>
        </p:txBody>
      </p:sp>
      <p:sp>
        <p:nvSpPr>
          <p:cNvPr id="13" name="Text 11"/>
          <p:cNvSpPr txBox="1"/>
          <p:nvPr/>
        </p:nvSpPr>
        <p:spPr>
          <a:xfrm>
            <a:off x="685800" y="2523744"/>
            <a:ext cx="2834640" cy="512064"/>
          </a:xfrm>
          <a:prstGeom prst="rect">
            <a:avLst/>
          </a:prstGeom>
          <a:noFill/>
          <a:ln/>
        </p:spPr>
        <p:txBody>
          <a:bodyPr wrap="square" lIns="0" tIns="0" rIns="0" bIns="0" rtlCol="0" anchor="ctr"/>
          <a:lstStyle/>
          <a:p>
            <a:pPr indent="0" marL="0">
              <a:buNone/>
            </a:pPr>
            <a:r>
              <a:rPr lang="en-US" sz="1400" b="1" dirty="0">
                <a:solidFill>
                  <a:srgbClr val="1B2236"/>
                </a:solidFill>
                <a:latin typeface="Calibri" pitchFamily="34" charset="0"/>
                <a:ea typeface="Calibri" pitchFamily="34" charset="-122"/>
                <a:cs typeface="Calibri" pitchFamily="34" charset="-120"/>
              </a:rPr>
              <a:t>Ata de registro de preços</a:t>
            </a:r>
            <a:endParaRPr lang="en-US" sz="1400" dirty="0"/>
          </a:p>
        </p:txBody>
      </p:sp>
      <p:sp>
        <p:nvSpPr>
          <p:cNvPr id="14" name="Shape 12"/>
          <p:cNvSpPr/>
          <p:nvPr/>
        </p:nvSpPr>
        <p:spPr>
          <a:xfrm>
            <a:off x="3657600" y="2523744"/>
            <a:ext cx="3111886" cy="512064"/>
          </a:xfrm>
          <a:prstGeom prst="rect">
            <a:avLst/>
          </a:prstGeom>
          <a:solidFill>
            <a:srgbClr val="16284D"/>
          </a:solidFill>
          <a:ln w="12700">
            <a:solidFill>
              <a:srgbClr val="16284D"/>
            </a:solidFill>
            <a:prstDash val="solid"/>
          </a:ln>
        </p:spPr>
      </p:sp>
      <p:sp>
        <p:nvSpPr>
          <p:cNvPr id="15" name="Text 13"/>
          <p:cNvSpPr txBox="1"/>
          <p:nvPr/>
        </p:nvSpPr>
        <p:spPr>
          <a:xfrm>
            <a:off x="3657600" y="2523744"/>
            <a:ext cx="3111886"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SIM · 8</a:t>
            </a:r>
            <a:endParaRPr lang="en-US" sz="1200" dirty="0"/>
          </a:p>
        </p:txBody>
      </p:sp>
      <p:sp>
        <p:nvSpPr>
          <p:cNvPr id="16" name="Shape 14"/>
          <p:cNvSpPr/>
          <p:nvPr/>
        </p:nvSpPr>
        <p:spPr>
          <a:xfrm>
            <a:off x="6796918" y="2523744"/>
            <a:ext cx="757398" cy="512064"/>
          </a:xfrm>
          <a:prstGeom prst="rect">
            <a:avLst/>
          </a:prstGeom>
          <a:solidFill>
            <a:srgbClr val="3A5184"/>
          </a:solidFill>
          <a:ln w="12700">
            <a:solidFill>
              <a:srgbClr val="3A5184"/>
            </a:solidFill>
            <a:prstDash val="solid"/>
          </a:ln>
        </p:spPr>
      </p:sp>
      <p:sp>
        <p:nvSpPr>
          <p:cNvPr id="17" name="Text 15"/>
          <p:cNvSpPr txBox="1"/>
          <p:nvPr/>
        </p:nvSpPr>
        <p:spPr>
          <a:xfrm>
            <a:off x="6796918" y="2523744"/>
            <a:ext cx="757398"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Shape 16"/>
          <p:cNvSpPr/>
          <p:nvPr/>
        </p:nvSpPr>
        <p:spPr>
          <a:xfrm>
            <a:off x="7581748" y="2523744"/>
            <a:ext cx="1149812" cy="512064"/>
          </a:xfrm>
          <a:prstGeom prst="rect">
            <a:avLst/>
          </a:prstGeom>
          <a:solidFill>
            <a:srgbClr val="F8E1DD"/>
          </a:solidFill>
          <a:ln w="12700">
            <a:solidFill>
              <a:srgbClr val="F8E1DD"/>
            </a:solidFill>
            <a:prstDash val="solid"/>
          </a:ln>
        </p:spPr>
      </p:sp>
      <p:sp>
        <p:nvSpPr>
          <p:cNvPr id="19" name="Text 17"/>
          <p:cNvSpPr txBox="1"/>
          <p:nvPr/>
        </p:nvSpPr>
        <p:spPr>
          <a:xfrm>
            <a:off x="7581748" y="2523744"/>
            <a:ext cx="1149812" cy="512064"/>
          </a:xfrm>
          <a:prstGeom prst="rect">
            <a:avLst/>
          </a:prstGeom>
          <a:noFill/>
          <a:ln/>
        </p:spPr>
        <p:txBody>
          <a:bodyPr wrap="square" lIns="0" tIns="0" rIns="0" bIns="0" rtlCol="0" anchor="ctr"/>
          <a:lstStyle/>
          <a:p>
            <a:pPr algn="ctr" indent="0" marL="0">
              <a:buNone/>
            </a:pPr>
            <a:r>
              <a:rPr lang="en-US" sz="1200" b="1" dirty="0">
                <a:solidFill>
                  <a:srgbClr val="A8322A"/>
                </a:solidFill>
                <a:latin typeface="Calibri" pitchFamily="34" charset="0"/>
                <a:ea typeface="Calibri" pitchFamily="34" charset="-122"/>
                <a:cs typeface="Calibri" pitchFamily="34" charset="-120"/>
              </a:rPr>
              <a:t>NÃO · 3</a:t>
            </a:r>
            <a:endParaRPr lang="en-US" sz="1200" dirty="0"/>
          </a:p>
        </p:txBody>
      </p:sp>
      <p:sp>
        <p:nvSpPr>
          <p:cNvPr id="20" name="Shape 18"/>
          <p:cNvSpPr/>
          <p:nvPr/>
        </p:nvSpPr>
        <p:spPr>
          <a:xfrm>
            <a:off x="8758992" y="2523744"/>
            <a:ext cx="2719471" cy="512064"/>
          </a:xfrm>
          <a:prstGeom prst="rect">
            <a:avLst/>
          </a:prstGeom>
          <a:solidFill>
            <a:srgbClr val="E7E2D7"/>
          </a:solidFill>
          <a:ln w="12700">
            <a:solidFill>
              <a:srgbClr val="E7E2D7"/>
            </a:solidFill>
            <a:prstDash val="solid"/>
          </a:ln>
        </p:spPr>
      </p:sp>
      <p:sp>
        <p:nvSpPr>
          <p:cNvPr id="21" name="Text 19"/>
          <p:cNvSpPr txBox="1"/>
          <p:nvPr/>
        </p:nvSpPr>
        <p:spPr>
          <a:xfrm>
            <a:off x="8758992" y="2523744"/>
            <a:ext cx="2719471" cy="512064"/>
          </a:xfrm>
          <a:prstGeom prst="rect">
            <a:avLst/>
          </a:prstGeom>
          <a:noFill/>
          <a:ln/>
        </p:spPr>
        <p:txBody>
          <a:bodyPr wrap="square" lIns="0" tIns="0" rIns="0" bIns="0" rtlCol="0" anchor="ctr"/>
          <a:lstStyle/>
          <a:p>
            <a:pPr algn="ctr" indent="0" marL="0">
              <a:buNone/>
            </a:pPr>
            <a:r>
              <a:rPr lang="en-US" sz="1200" b="1" dirty="0">
                <a:solidFill>
                  <a:srgbClr val="5F5A4E"/>
                </a:solidFill>
                <a:latin typeface="Calibri" pitchFamily="34" charset="0"/>
                <a:ea typeface="Calibri" pitchFamily="34" charset="-122"/>
                <a:cs typeface="Calibri" pitchFamily="34" charset="-120"/>
              </a:rPr>
              <a:t>Não preenchido · 7</a:t>
            </a:r>
            <a:endParaRPr lang="en-US" sz="1200" dirty="0"/>
          </a:p>
        </p:txBody>
      </p:sp>
      <p:sp>
        <p:nvSpPr>
          <p:cNvPr id="22" name="Text 20"/>
          <p:cNvSpPr txBox="1"/>
          <p:nvPr/>
        </p:nvSpPr>
        <p:spPr>
          <a:xfrm>
            <a:off x="685800" y="3218688"/>
            <a:ext cx="2834640" cy="512064"/>
          </a:xfrm>
          <a:prstGeom prst="rect">
            <a:avLst/>
          </a:prstGeom>
          <a:noFill/>
          <a:ln/>
        </p:spPr>
        <p:txBody>
          <a:bodyPr wrap="square" lIns="0" tIns="0" rIns="0" bIns="0" rtlCol="0" anchor="ctr"/>
          <a:lstStyle/>
          <a:p>
            <a:pPr indent="0" marL="0">
              <a:buNone/>
            </a:pPr>
            <a:r>
              <a:rPr lang="en-US" sz="1400" b="1" dirty="0">
                <a:solidFill>
                  <a:srgbClr val="1B2236"/>
                </a:solidFill>
                <a:latin typeface="Calibri" pitchFamily="34" charset="0"/>
                <a:ea typeface="Calibri" pitchFamily="34" charset="-122"/>
                <a:cs typeface="Calibri" pitchFamily="34" charset="-120"/>
              </a:rPr>
              <a:t>Manifestação do TI</a:t>
            </a:r>
            <a:endParaRPr lang="en-US" sz="1400" dirty="0"/>
          </a:p>
        </p:txBody>
      </p:sp>
      <p:sp>
        <p:nvSpPr>
          <p:cNvPr id="23" name="Shape 21"/>
          <p:cNvSpPr/>
          <p:nvPr/>
        </p:nvSpPr>
        <p:spPr>
          <a:xfrm>
            <a:off x="3657600" y="3218688"/>
            <a:ext cx="1934642" cy="512064"/>
          </a:xfrm>
          <a:prstGeom prst="rect">
            <a:avLst/>
          </a:prstGeom>
          <a:solidFill>
            <a:srgbClr val="16284D"/>
          </a:solidFill>
          <a:ln w="12700">
            <a:solidFill>
              <a:srgbClr val="16284D"/>
            </a:solidFill>
            <a:prstDash val="solid"/>
          </a:ln>
        </p:spPr>
      </p:sp>
      <p:sp>
        <p:nvSpPr>
          <p:cNvPr id="24" name="Text 22"/>
          <p:cNvSpPr txBox="1"/>
          <p:nvPr/>
        </p:nvSpPr>
        <p:spPr>
          <a:xfrm>
            <a:off x="3657600" y="3218688"/>
            <a:ext cx="1934642"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SIM · 5</a:t>
            </a:r>
            <a:endParaRPr lang="en-US" sz="1200" dirty="0"/>
          </a:p>
        </p:txBody>
      </p:sp>
      <p:sp>
        <p:nvSpPr>
          <p:cNvPr id="25" name="Shape 23"/>
          <p:cNvSpPr/>
          <p:nvPr/>
        </p:nvSpPr>
        <p:spPr>
          <a:xfrm>
            <a:off x="5619674" y="3218688"/>
            <a:ext cx="5858789" cy="512064"/>
          </a:xfrm>
          <a:prstGeom prst="rect">
            <a:avLst/>
          </a:prstGeom>
          <a:solidFill>
            <a:srgbClr val="F8E1DD"/>
          </a:solidFill>
          <a:ln w="12700">
            <a:solidFill>
              <a:srgbClr val="F8E1DD"/>
            </a:solidFill>
            <a:prstDash val="solid"/>
          </a:ln>
        </p:spPr>
      </p:sp>
      <p:sp>
        <p:nvSpPr>
          <p:cNvPr id="26" name="Text 24"/>
          <p:cNvSpPr txBox="1"/>
          <p:nvPr/>
        </p:nvSpPr>
        <p:spPr>
          <a:xfrm>
            <a:off x="5619674" y="3218688"/>
            <a:ext cx="5858789" cy="512064"/>
          </a:xfrm>
          <a:prstGeom prst="rect">
            <a:avLst/>
          </a:prstGeom>
          <a:noFill/>
          <a:ln/>
        </p:spPr>
        <p:txBody>
          <a:bodyPr wrap="square" lIns="0" tIns="0" rIns="0" bIns="0" rtlCol="0" anchor="ctr"/>
          <a:lstStyle/>
          <a:p>
            <a:pPr algn="ctr" indent="0" marL="0">
              <a:buNone/>
            </a:pPr>
            <a:r>
              <a:rPr lang="en-US" sz="1200" b="1" dirty="0">
                <a:solidFill>
                  <a:srgbClr val="A8322A"/>
                </a:solidFill>
                <a:latin typeface="Calibri" pitchFamily="34" charset="0"/>
                <a:ea typeface="Calibri" pitchFamily="34" charset="-122"/>
                <a:cs typeface="Calibri" pitchFamily="34" charset="-120"/>
              </a:rPr>
              <a:t>NÃO · 15</a:t>
            </a:r>
            <a:endParaRPr lang="en-US" sz="1200" dirty="0"/>
          </a:p>
        </p:txBody>
      </p:sp>
      <p:sp>
        <p:nvSpPr>
          <p:cNvPr id="27" name="Text 25"/>
          <p:cNvSpPr txBox="1"/>
          <p:nvPr/>
        </p:nvSpPr>
        <p:spPr>
          <a:xfrm>
            <a:off x="685800" y="3913632"/>
            <a:ext cx="2834640" cy="512064"/>
          </a:xfrm>
          <a:prstGeom prst="rect">
            <a:avLst/>
          </a:prstGeom>
          <a:noFill/>
          <a:ln/>
        </p:spPr>
        <p:txBody>
          <a:bodyPr wrap="square" lIns="0" tIns="0" rIns="0" bIns="0" rtlCol="0" anchor="ctr"/>
          <a:lstStyle/>
          <a:p>
            <a:pPr indent="0" marL="0">
              <a:buNone/>
            </a:pPr>
            <a:r>
              <a:rPr lang="en-US" sz="1400" b="1" dirty="0">
                <a:solidFill>
                  <a:srgbClr val="1B2236"/>
                </a:solidFill>
                <a:latin typeface="Calibri" pitchFamily="34" charset="0"/>
                <a:ea typeface="Calibri" pitchFamily="34" charset="-122"/>
                <a:cs typeface="Calibri" pitchFamily="34" charset="-120"/>
              </a:rPr>
              <a:t>Documentos da fase preparatória</a:t>
            </a:r>
            <a:endParaRPr lang="en-US" sz="1400" dirty="0"/>
          </a:p>
        </p:txBody>
      </p:sp>
      <p:sp>
        <p:nvSpPr>
          <p:cNvPr id="28" name="Shape 26"/>
          <p:cNvSpPr/>
          <p:nvPr/>
        </p:nvSpPr>
        <p:spPr>
          <a:xfrm>
            <a:off x="3657600" y="3913632"/>
            <a:ext cx="3111886" cy="512064"/>
          </a:xfrm>
          <a:prstGeom prst="rect">
            <a:avLst/>
          </a:prstGeom>
          <a:solidFill>
            <a:srgbClr val="16284D"/>
          </a:solidFill>
          <a:ln w="12700">
            <a:solidFill>
              <a:srgbClr val="16284D"/>
            </a:solidFill>
            <a:prstDash val="solid"/>
          </a:ln>
        </p:spPr>
      </p:sp>
      <p:sp>
        <p:nvSpPr>
          <p:cNvPr id="29" name="Text 27"/>
          <p:cNvSpPr txBox="1"/>
          <p:nvPr/>
        </p:nvSpPr>
        <p:spPr>
          <a:xfrm>
            <a:off x="3657600" y="3913632"/>
            <a:ext cx="3111886"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 registro · 8</a:t>
            </a:r>
            <a:endParaRPr lang="en-US" sz="1200" dirty="0"/>
          </a:p>
        </p:txBody>
      </p:sp>
      <p:sp>
        <p:nvSpPr>
          <p:cNvPr id="30" name="Shape 28"/>
          <p:cNvSpPr/>
          <p:nvPr/>
        </p:nvSpPr>
        <p:spPr>
          <a:xfrm>
            <a:off x="6796918" y="3913632"/>
            <a:ext cx="4681545" cy="512064"/>
          </a:xfrm>
          <a:prstGeom prst="rect">
            <a:avLst/>
          </a:prstGeom>
          <a:solidFill>
            <a:srgbClr val="E7E2D7"/>
          </a:solidFill>
          <a:ln w="12700">
            <a:solidFill>
              <a:srgbClr val="E7E2D7"/>
            </a:solidFill>
            <a:prstDash val="solid"/>
          </a:ln>
        </p:spPr>
      </p:sp>
      <p:sp>
        <p:nvSpPr>
          <p:cNvPr id="31" name="Text 29"/>
          <p:cNvSpPr txBox="1"/>
          <p:nvPr/>
        </p:nvSpPr>
        <p:spPr>
          <a:xfrm>
            <a:off x="6796918" y="3913632"/>
            <a:ext cx="4681545" cy="512064"/>
          </a:xfrm>
          <a:prstGeom prst="rect">
            <a:avLst/>
          </a:prstGeom>
          <a:noFill/>
          <a:ln/>
        </p:spPr>
        <p:txBody>
          <a:bodyPr wrap="square" lIns="0" tIns="0" rIns="0" bIns="0" rtlCol="0" anchor="ctr"/>
          <a:lstStyle/>
          <a:p>
            <a:pPr algn="ctr" indent="0" marL="0">
              <a:buNone/>
            </a:pPr>
            <a:r>
              <a:rPr lang="en-US" sz="1200" b="1" dirty="0">
                <a:solidFill>
                  <a:srgbClr val="5F5A4E"/>
                </a:solidFill>
                <a:latin typeface="Calibri" pitchFamily="34" charset="0"/>
                <a:ea typeface="Calibri" pitchFamily="34" charset="-122"/>
                <a:cs typeface="Calibri" pitchFamily="34" charset="-120"/>
              </a:rPr>
              <a:t>Sem registro · 12</a:t>
            </a:r>
            <a:endParaRPr lang="en-US" sz="1200" dirty="0"/>
          </a:p>
        </p:txBody>
      </p:sp>
      <p:sp>
        <p:nvSpPr>
          <p:cNvPr id="32" name="Text 30"/>
          <p:cNvSpPr txBox="1"/>
          <p:nvPr/>
        </p:nvSpPr>
        <p:spPr>
          <a:xfrm>
            <a:off x="685800" y="4608576"/>
            <a:ext cx="2834640" cy="512064"/>
          </a:xfrm>
          <a:prstGeom prst="rect">
            <a:avLst/>
          </a:prstGeom>
          <a:noFill/>
          <a:ln/>
        </p:spPr>
        <p:txBody>
          <a:bodyPr wrap="square" lIns="0" tIns="0" rIns="0" bIns="0" rtlCol="0" anchor="ctr"/>
          <a:lstStyle/>
          <a:p>
            <a:pPr indent="0" marL="0">
              <a:buNone/>
            </a:pPr>
            <a:r>
              <a:rPr lang="en-US" sz="1400" b="1" dirty="0">
                <a:solidFill>
                  <a:srgbClr val="1B2236"/>
                </a:solidFill>
                <a:latin typeface="Calibri" pitchFamily="34" charset="0"/>
                <a:ea typeface="Calibri" pitchFamily="34" charset="-122"/>
                <a:cs typeface="Calibri" pitchFamily="34" charset="-120"/>
              </a:rPr>
              <a:t>Processo SEI novo</a:t>
            </a:r>
            <a:endParaRPr lang="en-US" sz="1400" dirty="0"/>
          </a:p>
        </p:txBody>
      </p:sp>
      <p:sp>
        <p:nvSpPr>
          <p:cNvPr id="33" name="Shape 31"/>
          <p:cNvSpPr/>
          <p:nvPr/>
        </p:nvSpPr>
        <p:spPr>
          <a:xfrm>
            <a:off x="3657600" y="4608576"/>
            <a:ext cx="6643619" cy="512064"/>
          </a:xfrm>
          <a:prstGeom prst="rect">
            <a:avLst/>
          </a:prstGeom>
          <a:solidFill>
            <a:srgbClr val="16284D"/>
          </a:solidFill>
          <a:ln w="12700">
            <a:solidFill>
              <a:srgbClr val="16284D"/>
            </a:solidFill>
            <a:prstDash val="solid"/>
          </a:ln>
        </p:spPr>
      </p:sp>
      <p:sp>
        <p:nvSpPr>
          <p:cNvPr id="34" name="Text 32"/>
          <p:cNvSpPr txBox="1"/>
          <p:nvPr/>
        </p:nvSpPr>
        <p:spPr>
          <a:xfrm>
            <a:off x="3657600" y="4608576"/>
            <a:ext cx="6643619"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Informado · 17</a:t>
            </a:r>
            <a:endParaRPr lang="en-US" sz="1200" dirty="0"/>
          </a:p>
        </p:txBody>
      </p:sp>
      <p:sp>
        <p:nvSpPr>
          <p:cNvPr id="35" name="Shape 33"/>
          <p:cNvSpPr/>
          <p:nvPr/>
        </p:nvSpPr>
        <p:spPr>
          <a:xfrm>
            <a:off x="10328651" y="4608576"/>
            <a:ext cx="1149812" cy="512064"/>
          </a:xfrm>
          <a:prstGeom prst="rect">
            <a:avLst/>
          </a:prstGeom>
          <a:solidFill>
            <a:srgbClr val="F8E1DD"/>
          </a:solidFill>
          <a:ln w="12700">
            <a:solidFill>
              <a:srgbClr val="F8E1DD"/>
            </a:solidFill>
            <a:prstDash val="solid"/>
          </a:ln>
        </p:spPr>
      </p:sp>
      <p:sp>
        <p:nvSpPr>
          <p:cNvPr id="36" name="Text 34"/>
          <p:cNvSpPr txBox="1"/>
          <p:nvPr/>
        </p:nvSpPr>
        <p:spPr>
          <a:xfrm>
            <a:off x="10328651" y="4608576"/>
            <a:ext cx="1149812" cy="512064"/>
          </a:xfrm>
          <a:prstGeom prst="rect">
            <a:avLst/>
          </a:prstGeom>
          <a:noFill/>
          <a:ln/>
        </p:spPr>
        <p:txBody>
          <a:bodyPr wrap="square" lIns="0" tIns="0" rIns="0" bIns="0" rtlCol="0" anchor="ctr"/>
          <a:lstStyle/>
          <a:p>
            <a:pPr algn="ctr" indent="0" marL="0">
              <a:buNone/>
            </a:pPr>
            <a:r>
              <a:rPr lang="en-US" sz="1200" b="1" dirty="0">
                <a:solidFill>
                  <a:srgbClr val="A8322A"/>
                </a:solidFill>
                <a:latin typeface="Calibri" pitchFamily="34" charset="0"/>
                <a:ea typeface="Calibri" pitchFamily="34" charset="-122"/>
                <a:cs typeface="Calibri" pitchFamily="34" charset="-120"/>
              </a:rPr>
              <a:t>Não informado · 3</a:t>
            </a:r>
            <a:endParaRPr lang="en-US" sz="1200" dirty="0"/>
          </a:p>
        </p:txBody>
      </p:sp>
      <p:sp>
        <p:nvSpPr>
          <p:cNvPr id="37" name="Text 35"/>
          <p:cNvSpPr txBox="1"/>
          <p:nvPr/>
        </p:nvSpPr>
        <p:spPr>
          <a:xfrm>
            <a:off x="685800" y="5303520"/>
            <a:ext cx="2834640" cy="512064"/>
          </a:xfrm>
          <a:prstGeom prst="rect">
            <a:avLst/>
          </a:prstGeom>
          <a:noFill/>
          <a:ln/>
        </p:spPr>
        <p:txBody>
          <a:bodyPr wrap="square" lIns="0" tIns="0" rIns="0" bIns="0" rtlCol="0" anchor="ctr"/>
          <a:lstStyle/>
          <a:p>
            <a:pPr indent="0" marL="0">
              <a:buNone/>
            </a:pPr>
            <a:r>
              <a:rPr lang="en-US" sz="1400" b="1" dirty="0">
                <a:solidFill>
                  <a:srgbClr val="1B2236"/>
                </a:solidFill>
                <a:latin typeface="Calibri" pitchFamily="34" charset="0"/>
                <a:ea typeface="Calibri" pitchFamily="34" charset="-122"/>
                <a:cs typeface="Calibri" pitchFamily="34" charset="-120"/>
              </a:rPr>
              <a:t>Valor estimado</a:t>
            </a:r>
            <a:endParaRPr lang="en-US" sz="1400" dirty="0"/>
          </a:p>
        </p:txBody>
      </p:sp>
      <p:sp>
        <p:nvSpPr>
          <p:cNvPr id="38" name="Shape 36"/>
          <p:cNvSpPr/>
          <p:nvPr/>
        </p:nvSpPr>
        <p:spPr>
          <a:xfrm>
            <a:off x="3657600" y="5303520"/>
            <a:ext cx="1149812" cy="512064"/>
          </a:xfrm>
          <a:prstGeom prst="rect">
            <a:avLst/>
          </a:prstGeom>
          <a:solidFill>
            <a:srgbClr val="16284D"/>
          </a:solidFill>
          <a:ln w="12700">
            <a:solidFill>
              <a:srgbClr val="16284D"/>
            </a:solidFill>
            <a:prstDash val="solid"/>
          </a:ln>
        </p:spPr>
      </p:sp>
      <p:sp>
        <p:nvSpPr>
          <p:cNvPr id="39" name="Text 37"/>
          <p:cNvSpPr txBox="1"/>
          <p:nvPr/>
        </p:nvSpPr>
        <p:spPr>
          <a:xfrm>
            <a:off x="3657600" y="5303520"/>
            <a:ext cx="1149812"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Informado · 3</a:t>
            </a:r>
            <a:endParaRPr lang="en-US" sz="1200" dirty="0"/>
          </a:p>
        </p:txBody>
      </p:sp>
      <p:sp>
        <p:nvSpPr>
          <p:cNvPr id="40" name="Shape 38"/>
          <p:cNvSpPr/>
          <p:nvPr/>
        </p:nvSpPr>
        <p:spPr>
          <a:xfrm>
            <a:off x="4834844" y="5303520"/>
            <a:ext cx="6643619" cy="512064"/>
          </a:xfrm>
          <a:prstGeom prst="rect">
            <a:avLst/>
          </a:prstGeom>
          <a:solidFill>
            <a:srgbClr val="E7E2D7"/>
          </a:solidFill>
          <a:ln w="12700">
            <a:solidFill>
              <a:srgbClr val="E7E2D7"/>
            </a:solidFill>
            <a:prstDash val="solid"/>
          </a:ln>
        </p:spPr>
      </p:sp>
      <p:sp>
        <p:nvSpPr>
          <p:cNvPr id="41" name="Text 39"/>
          <p:cNvSpPr txBox="1"/>
          <p:nvPr/>
        </p:nvSpPr>
        <p:spPr>
          <a:xfrm>
            <a:off x="4834844" y="5303520"/>
            <a:ext cx="6643619" cy="512064"/>
          </a:xfrm>
          <a:prstGeom prst="rect">
            <a:avLst/>
          </a:prstGeom>
          <a:noFill/>
          <a:ln/>
        </p:spPr>
        <p:txBody>
          <a:bodyPr wrap="square" lIns="0" tIns="0" rIns="0" bIns="0" rtlCol="0" anchor="ctr"/>
          <a:lstStyle/>
          <a:p>
            <a:pPr algn="ctr" indent="0" marL="0">
              <a:buNone/>
            </a:pPr>
            <a:r>
              <a:rPr lang="en-US" sz="1200" b="1" dirty="0">
                <a:solidFill>
                  <a:srgbClr val="5F5A4E"/>
                </a:solidFill>
                <a:latin typeface="Calibri" pitchFamily="34" charset="0"/>
                <a:ea typeface="Calibri" pitchFamily="34" charset="-122"/>
                <a:cs typeface="Calibri" pitchFamily="34" charset="-120"/>
              </a:rPr>
              <a:t>Não informado · 17</a:t>
            </a:r>
            <a:endParaRPr lang="en-US" sz="1200" dirty="0"/>
          </a:p>
        </p:txBody>
      </p:sp>
      <p:sp>
        <p:nvSpPr>
          <p:cNvPr id="42" name="Text 40"/>
          <p:cNvSpPr txBox="1"/>
          <p:nvPr/>
        </p:nvSpPr>
        <p:spPr>
          <a:xfrm>
            <a:off x="685800" y="5989320"/>
            <a:ext cx="10820095" cy="274320"/>
          </a:xfrm>
          <a:prstGeom prst="rect">
            <a:avLst/>
          </a:prstGeom>
          <a:noFill/>
          <a:ln/>
        </p:spPr>
        <p:txBody>
          <a:bodyPr wrap="square" lIns="0" tIns="0" rIns="0" bIns="0" rtlCol="0" anchor="ctr"/>
          <a:lstStyle/>
          <a:p>
            <a:pPr indent="0" marL="0">
              <a:buNone/>
            </a:pPr>
            <a:r>
              <a:rPr lang="en-US" sz="1100" dirty="0">
                <a:solidFill>
                  <a:srgbClr val="5F5A4E"/>
                </a:solidFill>
                <a:latin typeface="Calibri" pitchFamily="34" charset="0"/>
                <a:ea typeface="Calibri" pitchFamily="34" charset="-122"/>
                <a:cs typeface="Calibri" pitchFamily="34" charset="-120"/>
              </a:rPr>
              <a:t>Legenda da linha “Ata”: PARTICIPE = FAETEC participante do registro de preços. Segmentos estreitos: “Ata · NÃO” (3) e “PARTICIPE” (2).</a:t>
            </a:r>
            <a:endParaRPr lang="en-US" sz="1100" dirty="0"/>
          </a:p>
        </p:txBody>
      </p:sp>
      <p:sp>
        <p:nvSpPr>
          <p:cNvPr id="43" name="Shape 41"/>
          <p:cNvSpPr/>
          <p:nvPr/>
        </p:nvSpPr>
        <p:spPr>
          <a:xfrm>
            <a:off x="685800" y="6355080"/>
            <a:ext cx="10820095" cy="0"/>
          </a:xfrm>
          <a:prstGeom prst="line">
            <a:avLst/>
          </a:prstGeom>
          <a:noFill/>
          <a:ln w="6350">
            <a:solidFill>
              <a:srgbClr val="D9D2C3"/>
            </a:solidFill>
            <a:prstDash val="solid"/>
          </a:ln>
        </p:spPr>
      </p:sp>
      <p:sp>
        <p:nvSpPr>
          <p:cNvPr id="44" name="Text 42"/>
          <p:cNvSpPr txBox="1"/>
          <p:nvPr/>
        </p:nvSpPr>
        <p:spPr>
          <a:xfrm>
            <a:off x="685800" y="6419088"/>
            <a:ext cx="9601200" cy="256032"/>
          </a:xfrm>
          <a:prstGeom prst="rect">
            <a:avLst/>
          </a:prstGeom>
          <a:noFill/>
          <a:ln/>
        </p:spPr>
        <p:txBody>
          <a:bodyPr wrap="square" lIns="0" tIns="0" rIns="0" bIns="0" rtlCol="0" anchor="ctr"/>
          <a:lstStyle/>
          <a:p>
            <a:pPr indent="0" marL="0">
              <a:buNone/>
            </a:pPr>
            <a:r>
              <a:rPr lang="en-US" sz="1000" dirty="0">
                <a:solidFill>
                  <a:srgbClr val="6E6758"/>
                </a:solidFill>
                <a:latin typeface="Calibri" pitchFamily="34" charset="0"/>
                <a:ea typeface="Calibri" pitchFamily="34" charset="-122"/>
                <a:cs typeface="Calibri" pitchFamily="34" charset="-120"/>
              </a:rPr>
              <a:t>GT PROPAG · Compras Públicas · Fonte: Planilha de andamento do GT PROPAG · posição de 25/09/2026</a:t>
            </a:r>
            <a:endParaRPr lang="en-US" sz="1000" dirty="0"/>
          </a:p>
        </p:txBody>
      </p:sp>
      <p:sp>
        <p:nvSpPr>
          <p:cNvPr id="45" name="Text 43"/>
          <p:cNvSpPr txBox="1"/>
          <p:nvPr/>
        </p:nvSpPr>
        <p:spPr>
          <a:xfrm>
            <a:off x="10591495" y="6419088"/>
            <a:ext cx="914400" cy="256032"/>
          </a:xfrm>
          <a:prstGeom prst="rect">
            <a:avLst/>
          </a:prstGeom>
          <a:noFill/>
          <a:ln/>
        </p:spPr>
        <p:txBody>
          <a:bodyPr wrap="square" lIns="0" tIns="0" rIns="0" bIns="0" rtlCol="0" anchor="ctr"/>
          <a:lstStyle/>
          <a:p>
            <a:pPr algn="r" indent="0" marL="0">
              <a:buNone/>
            </a:pPr>
            <a:r>
              <a:rPr lang="en-US" sz="1050" b="1" dirty="0">
                <a:solidFill>
                  <a:srgbClr val="16284D"/>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8962F"/>
          </a:solidFill>
          <a:ln w="12700">
            <a:solidFill>
              <a:srgbClr val="C8962F"/>
            </a:solidFill>
            <a:prstDash val="solid"/>
          </a:ln>
        </p:spPr>
      </p:sp>
      <p:sp>
        <p:nvSpPr>
          <p:cNvPr id="3" name="Text 1"/>
          <p:cNvSpPr txBox="1"/>
          <p:nvPr/>
        </p:nvSpPr>
        <p:spPr>
          <a:xfrm>
            <a:off x="685800" y="457200"/>
            <a:ext cx="10820095" cy="274320"/>
          </a:xfrm>
          <a:prstGeom prst="rect">
            <a:avLst/>
          </a:prstGeom>
          <a:noFill/>
          <a:ln/>
        </p:spPr>
        <p:txBody>
          <a:bodyPr wrap="square" lIns="0" tIns="0" rIns="0" bIns="0" rtlCol="0" anchor="ctr"/>
          <a:lstStyle/>
          <a:p>
            <a:pPr indent="0" marL="0">
              <a:buNone/>
            </a:pPr>
            <a:r>
              <a:rPr lang="en-US" sz="1150" b="1" spc="300" kern="0" dirty="0">
                <a:solidFill>
                  <a:srgbClr val="8A5F0D"/>
                </a:solidFill>
                <a:latin typeface="Calibri" pitchFamily="34" charset="0"/>
                <a:ea typeface="Calibri" pitchFamily="34" charset="-122"/>
                <a:cs typeface="Calibri" pitchFamily="34" charset="-120"/>
              </a:rPr>
              <a:t>QUADRO DE SITUAÇÃO</a:t>
            </a:r>
            <a:endParaRPr lang="en-US" sz="1150" dirty="0"/>
          </a:p>
        </p:txBody>
      </p:sp>
      <p:sp>
        <p:nvSpPr>
          <p:cNvPr id="4" name="Text 2"/>
          <p:cNvSpPr txBox="1"/>
          <p:nvPr/>
        </p:nvSpPr>
        <p:spPr>
          <a:xfrm>
            <a:off x="685800" y="749808"/>
            <a:ext cx="10820095" cy="658368"/>
          </a:xfrm>
          <a:prstGeom prst="rect">
            <a:avLst/>
          </a:prstGeom>
          <a:noFill/>
          <a:ln/>
        </p:spPr>
        <p:txBody>
          <a:bodyPr wrap="square" lIns="0" tIns="0" rIns="0" bIns="0" rtlCol="0" anchor="t"/>
          <a:lstStyle/>
          <a:p>
            <a:pPr indent="0" marL="0">
              <a:buNone/>
            </a:pPr>
            <a:r>
              <a:rPr lang="en-US" sz="3200" b="1" dirty="0">
                <a:solidFill>
                  <a:srgbClr val="16284D"/>
                </a:solidFill>
                <a:latin typeface="Cambria" pitchFamily="34" charset="0"/>
                <a:ea typeface="Cambria" pitchFamily="34" charset="-122"/>
                <a:cs typeface="Cambria" pitchFamily="34" charset="-120"/>
              </a:rPr>
              <a:t>Demandas 01 a 10</a:t>
            </a:r>
            <a:endParaRPr lang="en-US" sz="3200" dirty="0"/>
          </a:p>
        </p:txBody>
      </p:sp>
      <p:sp>
        <p:nvSpPr>
          <p:cNvPr id="5" name="Shape 3"/>
          <p:cNvSpPr/>
          <p:nvPr/>
        </p:nvSpPr>
        <p:spPr>
          <a:xfrm>
            <a:off x="685800" y="1481328"/>
            <a:ext cx="1005840" cy="0"/>
          </a:xfrm>
          <a:prstGeom prst="line">
            <a:avLst/>
          </a:prstGeom>
          <a:noFill/>
          <a:ln w="25400">
            <a:solidFill>
              <a:srgbClr val="C8962F"/>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20095" cy="914400"/>
        </p:xfrm>
        <a:graphic>
          <a:graphicData uri="http://schemas.openxmlformats.org/drawingml/2006/table">
            <a:tbl>
              <a:tblPr/>
              <a:tblGrid>
                <a:gridCol w="457200"/>
                <a:gridCol w="2697480"/>
                <a:gridCol w="2103120"/>
                <a:gridCol w="1188720"/>
                <a:gridCol w="2697480"/>
                <a:gridCol w="594360"/>
                <a:gridCol w="990295"/>
              </a:tblGrid>
              <a:tr h="393192">
                <a:tc>
                  <a:txBody>
                    <a:bodyPr/>
                    <a:lstStyle/>
                    <a:p>
                      <a:pPr algn="ctr" indent="0" marL="0">
                        <a:buNone/>
                      </a:pPr>
                      <a:r>
                        <a:rPr lang="en-US" sz="1100" b="1" dirty="0">
                          <a:solidFill>
                            <a:srgbClr val="FBFAF6"/>
                          </a:solidFill>
                          <a:latin typeface="Calibri" pitchFamily="34" charset="0"/>
                          <a:ea typeface="Calibri" pitchFamily="34" charset="-122"/>
                          <a:cs typeface="Calibri" pitchFamily="34" charset="-120"/>
                        </a:rPr>
                        <a:t>Nº</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l" indent="0" marL="0">
                        <a:buNone/>
                      </a:pPr>
                      <a:r>
                        <a:rPr lang="en-US" sz="1100" b="1" dirty="0">
                          <a:solidFill>
                            <a:srgbClr val="FBFAF6"/>
                          </a:solidFill>
                          <a:latin typeface="Calibri" pitchFamily="34" charset="0"/>
                          <a:ea typeface="Calibri" pitchFamily="34" charset="-122"/>
                          <a:cs typeface="Calibri" pitchFamily="34" charset="-120"/>
                        </a:rPr>
                        <a:t>Objeto</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l" indent="0" marL="0">
                        <a:buNone/>
                      </a:pPr>
                      <a:r>
                        <a:rPr lang="en-US" sz="1100" b="1" dirty="0">
                          <a:solidFill>
                            <a:srgbClr val="FBFAF6"/>
                          </a:solidFill>
                          <a:latin typeface="Calibri" pitchFamily="34" charset="0"/>
                          <a:ea typeface="Calibri" pitchFamily="34" charset="-122"/>
                          <a:cs typeface="Calibri" pitchFamily="34" charset="-120"/>
                        </a:rPr>
                        <a:t>Processo SEI</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ctr" indent="0" marL="0">
                        <a:buNone/>
                      </a:pPr>
                      <a:r>
                        <a:rPr lang="en-US" sz="1100" b="1" dirty="0">
                          <a:solidFill>
                            <a:srgbClr val="FBFAF6"/>
                          </a:solidFill>
                          <a:latin typeface="Calibri" pitchFamily="34" charset="0"/>
                          <a:ea typeface="Calibri" pitchFamily="34" charset="-122"/>
                          <a:cs typeface="Calibri" pitchFamily="34" charset="-120"/>
                        </a:rPr>
                        <a:t>DOD</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l" indent="0" marL="0">
                        <a:buNone/>
                      </a:pPr>
                      <a:r>
                        <a:rPr lang="en-US" sz="1100" b="1" dirty="0">
                          <a:solidFill>
                            <a:srgbClr val="FBFAF6"/>
                          </a:solidFill>
                          <a:latin typeface="Calibri" pitchFamily="34" charset="0"/>
                          <a:ea typeface="Calibri" pitchFamily="34" charset="-122"/>
                          <a:cs typeface="Calibri" pitchFamily="34" charset="-120"/>
                        </a:rPr>
                        <a:t>Ata de registro de preços</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ctr" indent="0" marL="0">
                        <a:buNone/>
                      </a:pPr>
                      <a:r>
                        <a:rPr lang="en-US" sz="1100" b="1" dirty="0">
                          <a:solidFill>
                            <a:srgbClr val="FBFAF6"/>
                          </a:solidFill>
                          <a:latin typeface="Calibri" pitchFamily="34" charset="0"/>
                          <a:ea typeface="Calibri" pitchFamily="34" charset="-122"/>
                          <a:cs typeface="Calibri" pitchFamily="34" charset="-120"/>
                        </a:rPr>
                        <a:t>TI</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r" indent="0" marL="0">
                        <a:buNone/>
                      </a:pPr>
                      <a:r>
                        <a:rPr lang="en-US" sz="1100" b="1" dirty="0">
                          <a:solidFill>
                            <a:srgbClr val="FBFAF6"/>
                          </a:solidFill>
                          <a:latin typeface="Calibri" pitchFamily="34" charset="0"/>
                          <a:ea typeface="Calibri" pitchFamily="34" charset="-122"/>
                          <a:cs typeface="Calibri" pitchFamily="34" charset="-120"/>
                        </a:rPr>
                        <a:t>Valor</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01</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Chromebooks</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236"/>
                          </a:solidFill>
                          <a:latin typeface="Calibri" pitchFamily="34" charset="0"/>
                          <a:ea typeface="Calibri" pitchFamily="34" charset="-122"/>
                          <a:cs typeface="Calibri" pitchFamily="34" charset="-120"/>
                        </a:rPr>
                        <a:t>SEI-260005/008719/2026</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F6B4F"/>
                          </a:solidFill>
                          <a:latin typeface="Calibri" pitchFamily="34" charset="0"/>
                          <a:ea typeface="Calibri" pitchFamily="34" charset="-122"/>
                          <a:cs typeface="Calibri" pitchFamily="34" charset="-120"/>
                        </a:rPr>
                        <a:t>Elaborado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l" indent="0" marL="0">
                        <a:buNone/>
                      </a:pPr>
                      <a:r>
                        <a:rPr lang="en-US" sz="1150" dirty="0">
                          <a:solidFill>
                            <a:srgbClr val="8A8474"/>
                          </a:solidFill>
                          <a:latin typeface="Calibri" pitchFamily="34" charset="0"/>
                          <a:ea typeface="Calibri" pitchFamily="34" charset="-122"/>
                          <a:cs typeface="Calibri" pitchFamily="34" charset="-120"/>
                        </a:rPr>
                        <a:t>Não preenchido</a:t>
                      </a:r>
                      <a:pPr algn="l" indent="0" marL="0">
                        <a:buNone/>
                      </a:pPr>
                      <a:r>
                        <a:rPr lang="en-US" sz="1000" dirty="0">
                          <a:solidFill>
                            <a:srgbClr val="5F5A4E"/>
                          </a:solidFill>
                          <a:latin typeface="Calibri" pitchFamily="34" charset="0"/>
                          <a:ea typeface="Calibri" pitchFamily="34" charset="-122"/>
                          <a:cs typeface="Calibri" pitchFamily="34" charset="-120"/>
                        </a:rPr>
                        <a:t>  obs.: ARP 032/2026 SEAD/MA</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F6B4F"/>
                          </a:solidFill>
                          <a:latin typeface="Calibri" pitchFamily="34" charset="0"/>
                          <a:ea typeface="Calibri" pitchFamily="34" charset="-122"/>
                          <a:cs typeface="Calibri" pitchFamily="34" charset="-120"/>
                        </a:rPr>
                        <a:t>SIM</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r" indent="0" marL="0">
                        <a:buNone/>
                      </a:pPr>
                      <a:r>
                        <a:rPr lang="en-US" sz="1150" b="1" dirty="0">
                          <a:solidFill>
                            <a:srgbClr val="16284D"/>
                          </a:solidFill>
                          <a:latin typeface="Calibri" pitchFamily="34" charset="0"/>
                          <a:ea typeface="Calibri" pitchFamily="34" charset="-122"/>
                          <a:cs typeface="Calibri" pitchFamily="34" charset="-120"/>
                        </a:rPr>
                        <a:t>R$ 64,82 mi</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02</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Softwares de edição e arquitetura</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050" dirty="0">
                          <a:solidFill>
                            <a:srgbClr val="1B2236"/>
                          </a:solidFill>
                          <a:latin typeface="Calibri" pitchFamily="34" charset="0"/>
                          <a:ea typeface="Calibri" pitchFamily="34" charset="-122"/>
                          <a:cs typeface="Calibri" pitchFamily="34" charset="-120"/>
                        </a:rPr>
                        <a:t>SEI-260005/008711/2026</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2F6B4F"/>
                          </a:solidFill>
                          <a:latin typeface="Calibri" pitchFamily="34" charset="0"/>
                          <a:ea typeface="Calibri" pitchFamily="34" charset="-122"/>
                          <a:cs typeface="Calibri" pitchFamily="34" charset="-120"/>
                        </a:rPr>
                        <a:t>Elaborado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l" indent="0" marL="0">
                        <a:buNone/>
                      </a:pPr>
                      <a:r>
                        <a:rPr lang="en-US" sz="1150" b="1" dirty="0">
                          <a:solidFill>
                            <a:srgbClr val="2F6B4F"/>
                          </a:solidFill>
                          <a:latin typeface="Calibri" pitchFamily="34" charset="0"/>
                          <a:ea typeface="Calibri" pitchFamily="34" charset="-122"/>
                          <a:cs typeface="Calibri" pitchFamily="34" charset="-120"/>
                        </a:rPr>
                        <a:t>SIM</a:t>
                      </a:r>
                      <a:pPr algn="l" indent="0" marL="0">
                        <a:buNone/>
                      </a:pPr>
                      <a:r>
                        <a:rPr lang="en-US" sz="1000" dirty="0">
                          <a:solidFill>
                            <a:srgbClr val="5F5A4E"/>
                          </a:solidFill>
                          <a:latin typeface="Calibri" pitchFamily="34" charset="0"/>
                          <a:ea typeface="Calibri" pitchFamily="34" charset="-122"/>
                          <a:cs typeface="Calibri" pitchFamily="34" charset="-120"/>
                        </a:rPr>
                        <a:t>  ARP 1477/2024 CELIC/RS</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2F6B4F"/>
                          </a:solidFill>
                          <a:latin typeface="Calibri" pitchFamily="34" charset="0"/>
                          <a:ea typeface="Calibri" pitchFamily="34" charset="-122"/>
                          <a:cs typeface="Calibri" pitchFamily="34" charset="-120"/>
                        </a:rPr>
                        <a:t>SIM</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r" indent="0" marL="0">
                        <a:buNone/>
                      </a:pPr>
                      <a:r>
                        <a:rPr lang="en-US" sz="1150" b="1" dirty="0">
                          <a:solidFill>
                            <a:srgbClr val="16284D"/>
                          </a:solidFill>
                          <a:latin typeface="Calibri" pitchFamily="34" charset="0"/>
                          <a:ea typeface="Calibri" pitchFamily="34" charset="-122"/>
                          <a:cs typeface="Calibri" pitchFamily="34" charset="-120"/>
                        </a:rPr>
                        <a:t>R$ 1,30 mi</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03</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Telefonia VoIP</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236"/>
                          </a:solidFill>
                          <a:latin typeface="Calibri" pitchFamily="34" charset="0"/>
                          <a:ea typeface="Calibri" pitchFamily="34" charset="-122"/>
                          <a:cs typeface="Calibri" pitchFamily="34" charset="-120"/>
                        </a:rPr>
                        <a:t>SEI-260005/009055/2026</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F6B4F"/>
                          </a:solidFill>
                          <a:latin typeface="Calibri" pitchFamily="34" charset="0"/>
                          <a:ea typeface="Calibri" pitchFamily="34" charset="-122"/>
                          <a:cs typeface="Calibri" pitchFamily="34" charset="-120"/>
                        </a:rPr>
                        <a:t>Elaborado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l" indent="0" marL="0">
                        <a:buNone/>
                      </a:pPr>
                      <a:r>
                        <a:rPr lang="en-US" sz="1150" b="1" dirty="0">
                          <a:solidFill>
                            <a:srgbClr val="16284D"/>
                          </a:solidFill>
                          <a:latin typeface="Calibri" pitchFamily="34" charset="0"/>
                          <a:ea typeface="Calibri" pitchFamily="34" charset="-122"/>
                          <a:cs typeface="Calibri" pitchFamily="34" charset="-120"/>
                        </a:rPr>
                        <a:t>PARTICIPE</a:t>
                      </a:r>
                      <a:pPr algn="l" indent="0" marL="0">
                        <a:buNone/>
                      </a:pPr>
                      <a:r>
                        <a:rPr lang="en-US" sz="1000" dirty="0">
                          <a:solidFill>
                            <a:srgbClr val="5F5A4E"/>
                          </a:solidFill>
                          <a:latin typeface="Calibri" pitchFamily="34" charset="0"/>
                          <a:ea typeface="Calibri" pitchFamily="34" charset="-122"/>
                          <a:cs typeface="Calibri" pitchFamily="34" charset="-120"/>
                        </a:rPr>
                        <a:t>  PE-RP 012/2024</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F6B4F"/>
                          </a:solidFill>
                          <a:latin typeface="Calibri" pitchFamily="34" charset="0"/>
                          <a:ea typeface="Calibri" pitchFamily="34" charset="-122"/>
                          <a:cs typeface="Calibri" pitchFamily="34" charset="-120"/>
                        </a:rPr>
                        <a:t>SIM</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04</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Câmeras de segurança (instalação e fornecimento)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050" dirty="0">
                          <a:solidFill>
                            <a:srgbClr val="1B2236"/>
                          </a:solidFill>
                          <a:latin typeface="Calibri" pitchFamily="34" charset="0"/>
                          <a:ea typeface="Calibri" pitchFamily="34" charset="-122"/>
                          <a:cs typeface="Calibri" pitchFamily="34" charset="-120"/>
                        </a:rPr>
                        <a:t>SEI-260005/008655/2026</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Em elaboração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6EACD"/>
                    </a:solidFill>
                  </a:tcPr>
                </a:tc>
                <a:tc>
                  <a:txBody>
                    <a:bodyPr/>
                    <a:lstStyle/>
                    <a:p>
                      <a:pPr algn="l" indent="0" marL="0">
                        <a:buNone/>
                      </a:pPr>
                      <a:r>
                        <a:rPr lang="en-US" sz="1150" b="1" dirty="0">
                          <a:solidFill>
                            <a:srgbClr val="A8322A"/>
                          </a:solidFill>
                          <a:latin typeface="Calibri" pitchFamily="34" charset="0"/>
                          <a:ea typeface="Calibri" pitchFamily="34" charset="-122"/>
                          <a:cs typeface="Calibri" pitchFamily="34" charset="-120"/>
                        </a:rPr>
                        <a:t>NÃO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A8322A"/>
                          </a:solidFill>
                          <a:latin typeface="Calibri" pitchFamily="34" charset="0"/>
                          <a:ea typeface="Calibri" pitchFamily="34" charset="-122"/>
                          <a:cs typeface="Calibri" pitchFamily="34" charset="-120"/>
                        </a:rPr>
                        <a:t>NÃO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8E1DD"/>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05</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Link de internet (Links SDWAN)</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236"/>
                          </a:solidFill>
                          <a:latin typeface="Calibri" pitchFamily="34" charset="0"/>
                          <a:ea typeface="Calibri" pitchFamily="34" charset="-122"/>
                          <a:cs typeface="Calibri" pitchFamily="34" charset="-120"/>
                        </a:rPr>
                        <a:t>SEI-260005/008620/2026</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F6B4F"/>
                          </a:solidFill>
                          <a:latin typeface="Calibri" pitchFamily="34" charset="0"/>
                          <a:ea typeface="Calibri" pitchFamily="34" charset="-122"/>
                          <a:cs typeface="Calibri" pitchFamily="34" charset="-120"/>
                        </a:rPr>
                        <a:t>Elaborado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l" indent="0" marL="0">
                        <a:buNone/>
                      </a:pPr>
                      <a:r>
                        <a:rPr lang="en-US" sz="1150" b="1" dirty="0">
                          <a:solidFill>
                            <a:srgbClr val="A8322A"/>
                          </a:solidFill>
                          <a:latin typeface="Calibri" pitchFamily="34" charset="0"/>
                          <a:ea typeface="Calibri" pitchFamily="34" charset="-122"/>
                          <a:cs typeface="Calibri" pitchFamily="34" charset="-120"/>
                        </a:rPr>
                        <a:t>NÃO</a:t>
                      </a:r>
                      <a:pPr algn="l" indent="0" marL="0">
                        <a:buNone/>
                      </a:pPr>
                      <a:r>
                        <a:rPr lang="en-US" sz="1000" dirty="0">
                          <a:solidFill>
                            <a:srgbClr val="5F5A4E"/>
                          </a:solidFill>
                          <a:latin typeface="Calibri" pitchFamily="34" charset="0"/>
                          <a:ea typeface="Calibri" pitchFamily="34" charset="-122"/>
                          <a:cs typeface="Calibri" pitchFamily="34" charset="-120"/>
                        </a:rPr>
                        <a:t>  Dispensa art. 75</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A8322A"/>
                          </a:solidFill>
                          <a:latin typeface="Calibri" pitchFamily="34" charset="0"/>
                          <a:ea typeface="Calibri" pitchFamily="34" charset="-122"/>
                          <a:cs typeface="Calibri" pitchFamily="34" charset="-120"/>
                        </a:rPr>
                        <a:t>NÃO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8E1DD"/>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06</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Licenciamento de softwares Microsoft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050" dirty="0">
                          <a:solidFill>
                            <a:srgbClr val="1B2236"/>
                          </a:solidFill>
                          <a:latin typeface="Calibri" pitchFamily="34" charset="0"/>
                          <a:ea typeface="Calibri" pitchFamily="34" charset="-122"/>
                          <a:cs typeface="Calibri" pitchFamily="34" charset="-120"/>
                        </a:rPr>
                        <a:t>SEI-260005/008723/2026</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2F6B4F"/>
                          </a:solidFill>
                          <a:latin typeface="Calibri" pitchFamily="34" charset="0"/>
                          <a:ea typeface="Calibri" pitchFamily="34" charset="-122"/>
                          <a:cs typeface="Calibri" pitchFamily="34" charset="-120"/>
                        </a:rPr>
                        <a:t>Elaborado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l" indent="0" marL="0">
                        <a:buNone/>
                      </a:pPr>
                      <a:r>
                        <a:rPr lang="en-US" sz="1150" b="1" dirty="0">
                          <a:solidFill>
                            <a:srgbClr val="16284D"/>
                          </a:solidFill>
                          <a:latin typeface="Calibri" pitchFamily="34" charset="0"/>
                          <a:ea typeface="Calibri" pitchFamily="34" charset="-122"/>
                          <a:cs typeface="Calibri" pitchFamily="34" charset="-120"/>
                        </a:rPr>
                        <a:t>PARTICIPE</a:t>
                      </a:r>
                      <a:pPr algn="l" indent="0" marL="0">
                        <a:buNone/>
                      </a:pPr>
                      <a:r>
                        <a:rPr lang="en-US" sz="1000" dirty="0">
                          <a:solidFill>
                            <a:srgbClr val="5F5A4E"/>
                          </a:solidFill>
                          <a:latin typeface="Calibri" pitchFamily="34" charset="0"/>
                          <a:ea typeface="Calibri" pitchFamily="34" charset="-122"/>
                          <a:cs typeface="Calibri" pitchFamily="34" charset="-120"/>
                        </a:rPr>
                        <a:t>  PERP 12/25 Microsoft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2F6B4F"/>
                          </a:solidFill>
                          <a:latin typeface="Calibri" pitchFamily="34" charset="0"/>
                          <a:ea typeface="Calibri" pitchFamily="34" charset="-122"/>
                          <a:cs typeface="Calibri" pitchFamily="34" charset="-120"/>
                        </a:rPr>
                        <a:t>SIM</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07</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Antivírus com tecnologia EDR</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236"/>
                          </a:solidFill>
                          <a:latin typeface="Calibri" pitchFamily="34" charset="0"/>
                          <a:ea typeface="Calibri" pitchFamily="34" charset="-122"/>
                          <a:cs typeface="Calibri" pitchFamily="34" charset="-120"/>
                        </a:rPr>
                        <a:t>SEI-260005/009050/2026</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F6B4F"/>
                          </a:solidFill>
                          <a:latin typeface="Calibri" pitchFamily="34" charset="0"/>
                          <a:ea typeface="Calibri" pitchFamily="34" charset="-122"/>
                          <a:cs typeface="Calibri" pitchFamily="34" charset="-120"/>
                        </a:rPr>
                        <a:t>Elaborado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l" indent="0" marL="0">
                        <a:buNone/>
                      </a:pPr>
                      <a:r>
                        <a:rPr lang="en-US" sz="1150" b="1" dirty="0">
                          <a:solidFill>
                            <a:srgbClr val="2F6B4F"/>
                          </a:solidFill>
                          <a:latin typeface="Calibri" pitchFamily="34" charset="0"/>
                          <a:ea typeface="Calibri" pitchFamily="34" charset="-122"/>
                          <a:cs typeface="Calibri" pitchFamily="34" charset="-120"/>
                        </a:rPr>
                        <a:t>SIM</a:t>
                      </a:r>
                      <a:pPr algn="l" indent="0" marL="0">
                        <a:buNone/>
                      </a:pPr>
                      <a:r>
                        <a:rPr lang="en-US" sz="1000" dirty="0">
                          <a:solidFill>
                            <a:srgbClr val="5F5A4E"/>
                          </a:solidFill>
                          <a:latin typeface="Calibri" pitchFamily="34" charset="0"/>
                          <a:ea typeface="Calibri" pitchFamily="34" charset="-122"/>
                          <a:cs typeface="Calibri" pitchFamily="34" charset="-120"/>
                        </a:rPr>
                        <a:t>  ARP 02/2026 TJMA</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A8322A"/>
                          </a:solidFill>
                          <a:latin typeface="Calibri" pitchFamily="34" charset="0"/>
                          <a:ea typeface="Calibri" pitchFamily="34" charset="-122"/>
                          <a:cs typeface="Calibri" pitchFamily="34" charset="-120"/>
                        </a:rPr>
                        <a:t>NÃO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8E1DD"/>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08</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Computadores básicos, notebooks e monitores</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050" dirty="0">
                          <a:solidFill>
                            <a:srgbClr val="1B2236"/>
                          </a:solidFill>
                          <a:latin typeface="Calibri" pitchFamily="34" charset="0"/>
                          <a:ea typeface="Calibri" pitchFamily="34" charset="-122"/>
                          <a:cs typeface="Calibri" pitchFamily="34" charset="-120"/>
                        </a:rPr>
                        <a:t>SEI-260005/008722/2026</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Em análise</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6EACD"/>
                    </a:solidFill>
                  </a:tcPr>
                </a:tc>
                <a:tc>
                  <a:txBody>
                    <a:bodyPr/>
                    <a:lstStyle/>
                    <a:p>
                      <a:pPr algn="l" indent="0" marL="0">
                        <a:buNone/>
                      </a:pPr>
                      <a:r>
                        <a:rPr lang="en-US" sz="1150" b="1" dirty="0">
                          <a:solidFill>
                            <a:srgbClr val="A8322A"/>
                          </a:solidFill>
                          <a:latin typeface="Calibri" pitchFamily="34" charset="0"/>
                          <a:ea typeface="Calibri" pitchFamily="34" charset="-122"/>
                          <a:cs typeface="Calibri" pitchFamily="34" charset="-120"/>
                        </a:rPr>
                        <a:t>NÃO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A8322A"/>
                          </a:solidFill>
                          <a:latin typeface="Calibri" pitchFamily="34" charset="0"/>
                          <a:ea typeface="Calibri" pitchFamily="34" charset="-122"/>
                          <a:cs typeface="Calibri" pitchFamily="34" charset="-120"/>
                        </a:rPr>
                        <a:t>NÃO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8E1DD"/>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09</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Computadores avançados</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236"/>
                          </a:solidFill>
                          <a:latin typeface="Calibri" pitchFamily="34" charset="0"/>
                          <a:ea typeface="Calibri" pitchFamily="34" charset="-122"/>
                          <a:cs typeface="Calibri" pitchFamily="34" charset="-120"/>
                        </a:rPr>
                        <a:t>SEI-260005/008721/2026</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Em análise</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6EACD"/>
                    </a:solidFill>
                  </a:tcPr>
                </a:tc>
                <a:tc>
                  <a:txBody>
                    <a:bodyPr/>
                    <a:lstStyle/>
                    <a:p>
                      <a:pPr algn="l" indent="0" marL="0">
                        <a:buNone/>
                      </a:pPr>
                      <a:r>
                        <a:rPr lang="en-US" sz="1150" dirty="0">
                          <a:solidFill>
                            <a:srgbClr val="8A8474"/>
                          </a:solidFill>
                          <a:latin typeface="Calibri" pitchFamily="34" charset="0"/>
                          <a:ea typeface="Calibri" pitchFamily="34" charset="-122"/>
                          <a:cs typeface="Calibri" pitchFamily="34" charset="-120"/>
                        </a:rPr>
                        <a:t>Não preenchido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A8322A"/>
                          </a:solidFill>
                          <a:latin typeface="Calibri" pitchFamily="34" charset="0"/>
                          <a:ea typeface="Calibri" pitchFamily="34" charset="-122"/>
                          <a:cs typeface="Calibri" pitchFamily="34" charset="-120"/>
                        </a:rPr>
                        <a:t>NÃO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8E1DD"/>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Appliances para backup</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050" dirty="0">
                          <a:solidFill>
                            <a:srgbClr val="1B2236"/>
                          </a:solidFill>
                          <a:latin typeface="Calibri" pitchFamily="34" charset="0"/>
                          <a:ea typeface="Calibri" pitchFamily="34" charset="-122"/>
                          <a:cs typeface="Calibri" pitchFamily="34" charset="-120"/>
                        </a:rPr>
                        <a:t>SEI-260005/008712/2026</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2F6B4F"/>
                          </a:solidFill>
                          <a:latin typeface="Calibri" pitchFamily="34" charset="0"/>
                          <a:ea typeface="Calibri" pitchFamily="34" charset="-122"/>
                          <a:cs typeface="Calibri" pitchFamily="34" charset="-120"/>
                        </a:rPr>
                        <a:t>Elaborado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l" indent="0" marL="0">
                        <a:buNone/>
                      </a:pPr>
                      <a:r>
                        <a:rPr lang="en-US" sz="1150" b="1" dirty="0">
                          <a:solidFill>
                            <a:srgbClr val="2F6B4F"/>
                          </a:solidFill>
                          <a:latin typeface="Calibri" pitchFamily="34" charset="0"/>
                          <a:ea typeface="Calibri" pitchFamily="34" charset="-122"/>
                          <a:cs typeface="Calibri" pitchFamily="34" charset="-120"/>
                        </a:rPr>
                        <a:t>SIM</a:t>
                      </a:r>
                      <a:pPr algn="l" indent="0" marL="0">
                        <a:buNone/>
                      </a:pPr>
                      <a:r>
                        <a:rPr lang="en-US" sz="1000" dirty="0">
                          <a:solidFill>
                            <a:srgbClr val="5F5A4E"/>
                          </a:solidFill>
                          <a:latin typeface="Calibri" pitchFamily="34" charset="0"/>
                          <a:ea typeface="Calibri" pitchFamily="34" charset="-122"/>
                          <a:cs typeface="Calibri" pitchFamily="34" charset="-120"/>
                        </a:rPr>
                        <a:t>  PE-RP 016/2024 PRODERJ</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2F6B4F"/>
                          </a:solidFill>
                          <a:latin typeface="Calibri" pitchFamily="34" charset="0"/>
                          <a:ea typeface="Calibri" pitchFamily="34" charset="-122"/>
                          <a:cs typeface="Calibri" pitchFamily="34" charset="-120"/>
                        </a:rPr>
                        <a:t>SIM</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r" indent="0" marL="0">
                        <a:buNone/>
                      </a:pPr>
                      <a:r>
                        <a:rPr lang="en-US" sz="1150" b="1" dirty="0">
                          <a:solidFill>
                            <a:srgbClr val="16284D"/>
                          </a:solidFill>
                          <a:latin typeface="Calibri" pitchFamily="34" charset="0"/>
                          <a:ea typeface="Calibri" pitchFamily="34" charset="-122"/>
                          <a:cs typeface="Calibri" pitchFamily="34" charset="-120"/>
                        </a:rPr>
                        <a:t>R$ 3,56 mi</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bl>
          </a:graphicData>
        </a:graphic>
      </p:graphicFrame>
      <p:sp>
        <p:nvSpPr>
          <p:cNvPr id="7" name="Shape 4"/>
          <p:cNvSpPr/>
          <p:nvPr/>
        </p:nvSpPr>
        <p:spPr>
          <a:xfrm>
            <a:off x="685800" y="6355080"/>
            <a:ext cx="10820095" cy="0"/>
          </a:xfrm>
          <a:prstGeom prst="line">
            <a:avLst/>
          </a:prstGeom>
          <a:noFill/>
          <a:ln w="6350">
            <a:solidFill>
              <a:srgbClr val="D9D2C3"/>
            </a:solidFill>
            <a:prstDash val="solid"/>
          </a:ln>
        </p:spPr>
      </p:sp>
      <p:sp>
        <p:nvSpPr>
          <p:cNvPr id="8" name="Text 5"/>
          <p:cNvSpPr txBox="1"/>
          <p:nvPr/>
        </p:nvSpPr>
        <p:spPr>
          <a:xfrm>
            <a:off x="685800" y="6419088"/>
            <a:ext cx="9601200" cy="256032"/>
          </a:xfrm>
          <a:prstGeom prst="rect">
            <a:avLst/>
          </a:prstGeom>
          <a:noFill/>
          <a:ln/>
        </p:spPr>
        <p:txBody>
          <a:bodyPr wrap="square" lIns="0" tIns="0" rIns="0" bIns="0" rtlCol="0" anchor="ctr"/>
          <a:lstStyle/>
          <a:p>
            <a:pPr indent="0" marL="0">
              <a:buNone/>
            </a:pPr>
            <a:r>
              <a:rPr lang="en-US" sz="1000" dirty="0">
                <a:solidFill>
                  <a:srgbClr val="6E6758"/>
                </a:solidFill>
                <a:latin typeface="Calibri" pitchFamily="34" charset="0"/>
                <a:ea typeface="Calibri" pitchFamily="34" charset="-122"/>
                <a:cs typeface="Calibri" pitchFamily="34" charset="-120"/>
              </a:rPr>
              <a:t>GT PROPAG · Compras Públicas · Fonte: Planilha de andamento do GT PROPAG · posição de 25/09/2026</a:t>
            </a:r>
            <a:endParaRPr lang="en-US" sz="1000" dirty="0"/>
          </a:p>
        </p:txBody>
      </p:sp>
      <p:sp>
        <p:nvSpPr>
          <p:cNvPr id="9" name="Text 6"/>
          <p:cNvSpPr txBox="1"/>
          <p:nvPr/>
        </p:nvSpPr>
        <p:spPr>
          <a:xfrm>
            <a:off x="10591495" y="6419088"/>
            <a:ext cx="914400" cy="256032"/>
          </a:xfrm>
          <a:prstGeom prst="rect">
            <a:avLst/>
          </a:prstGeom>
          <a:noFill/>
          <a:ln/>
        </p:spPr>
        <p:txBody>
          <a:bodyPr wrap="square" lIns="0" tIns="0" rIns="0" bIns="0" rtlCol="0" anchor="ctr"/>
          <a:lstStyle/>
          <a:p>
            <a:pPr algn="r" indent="0" marL="0">
              <a:buNone/>
            </a:pPr>
            <a:r>
              <a:rPr lang="en-US" sz="1050" b="1" dirty="0">
                <a:solidFill>
                  <a:srgbClr val="16284D"/>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8962F"/>
          </a:solidFill>
          <a:ln w="12700">
            <a:solidFill>
              <a:srgbClr val="C8962F"/>
            </a:solidFill>
            <a:prstDash val="solid"/>
          </a:ln>
        </p:spPr>
      </p:sp>
      <p:sp>
        <p:nvSpPr>
          <p:cNvPr id="3" name="Text 1"/>
          <p:cNvSpPr txBox="1"/>
          <p:nvPr/>
        </p:nvSpPr>
        <p:spPr>
          <a:xfrm>
            <a:off x="685800" y="457200"/>
            <a:ext cx="10820095" cy="274320"/>
          </a:xfrm>
          <a:prstGeom prst="rect">
            <a:avLst/>
          </a:prstGeom>
          <a:noFill/>
          <a:ln/>
        </p:spPr>
        <p:txBody>
          <a:bodyPr wrap="square" lIns="0" tIns="0" rIns="0" bIns="0" rtlCol="0" anchor="ctr"/>
          <a:lstStyle/>
          <a:p>
            <a:pPr indent="0" marL="0">
              <a:buNone/>
            </a:pPr>
            <a:r>
              <a:rPr lang="en-US" sz="1150" b="1" spc="300" kern="0" dirty="0">
                <a:solidFill>
                  <a:srgbClr val="8A5F0D"/>
                </a:solidFill>
                <a:latin typeface="Calibri" pitchFamily="34" charset="0"/>
                <a:ea typeface="Calibri" pitchFamily="34" charset="-122"/>
                <a:cs typeface="Calibri" pitchFamily="34" charset="-120"/>
              </a:rPr>
              <a:t>QUADRO DE SITUAÇÃO</a:t>
            </a:r>
            <a:endParaRPr lang="en-US" sz="1150" dirty="0"/>
          </a:p>
        </p:txBody>
      </p:sp>
      <p:sp>
        <p:nvSpPr>
          <p:cNvPr id="4" name="Text 2"/>
          <p:cNvSpPr txBox="1"/>
          <p:nvPr/>
        </p:nvSpPr>
        <p:spPr>
          <a:xfrm>
            <a:off x="685800" y="749808"/>
            <a:ext cx="10820095" cy="658368"/>
          </a:xfrm>
          <a:prstGeom prst="rect">
            <a:avLst/>
          </a:prstGeom>
          <a:noFill/>
          <a:ln/>
        </p:spPr>
        <p:txBody>
          <a:bodyPr wrap="square" lIns="0" tIns="0" rIns="0" bIns="0" rtlCol="0" anchor="t"/>
          <a:lstStyle/>
          <a:p>
            <a:pPr indent="0" marL="0">
              <a:buNone/>
            </a:pPr>
            <a:r>
              <a:rPr lang="en-US" sz="3200" b="1" dirty="0">
                <a:solidFill>
                  <a:srgbClr val="16284D"/>
                </a:solidFill>
                <a:latin typeface="Cambria" pitchFamily="34" charset="0"/>
                <a:ea typeface="Cambria" pitchFamily="34" charset="-122"/>
                <a:cs typeface="Cambria" pitchFamily="34" charset="-120"/>
              </a:rPr>
              <a:t>Demandas 11 a 20</a:t>
            </a:r>
            <a:endParaRPr lang="en-US" sz="3200" dirty="0"/>
          </a:p>
        </p:txBody>
      </p:sp>
      <p:sp>
        <p:nvSpPr>
          <p:cNvPr id="5" name="Shape 3"/>
          <p:cNvSpPr/>
          <p:nvPr/>
        </p:nvSpPr>
        <p:spPr>
          <a:xfrm>
            <a:off x="685800" y="1481328"/>
            <a:ext cx="1005840" cy="0"/>
          </a:xfrm>
          <a:prstGeom prst="line">
            <a:avLst/>
          </a:prstGeom>
          <a:noFill/>
          <a:ln w="25400">
            <a:solidFill>
              <a:srgbClr val="C8962F"/>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20095" cy="914400"/>
        </p:xfrm>
        <a:graphic>
          <a:graphicData uri="http://schemas.openxmlformats.org/drawingml/2006/table">
            <a:tbl>
              <a:tblPr/>
              <a:tblGrid>
                <a:gridCol w="457200"/>
                <a:gridCol w="2697480"/>
                <a:gridCol w="2103120"/>
                <a:gridCol w="1188720"/>
                <a:gridCol w="2697480"/>
                <a:gridCol w="594360"/>
                <a:gridCol w="990295"/>
              </a:tblGrid>
              <a:tr h="393192">
                <a:tc>
                  <a:txBody>
                    <a:bodyPr/>
                    <a:lstStyle/>
                    <a:p>
                      <a:pPr algn="ctr" indent="0" marL="0">
                        <a:buNone/>
                      </a:pPr>
                      <a:r>
                        <a:rPr lang="en-US" sz="1100" b="1" dirty="0">
                          <a:solidFill>
                            <a:srgbClr val="FBFAF6"/>
                          </a:solidFill>
                          <a:latin typeface="Calibri" pitchFamily="34" charset="0"/>
                          <a:ea typeface="Calibri" pitchFamily="34" charset="-122"/>
                          <a:cs typeface="Calibri" pitchFamily="34" charset="-120"/>
                        </a:rPr>
                        <a:t>Nº</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l" indent="0" marL="0">
                        <a:buNone/>
                      </a:pPr>
                      <a:r>
                        <a:rPr lang="en-US" sz="1100" b="1" dirty="0">
                          <a:solidFill>
                            <a:srgbClr val="FBFAF6"/>
                          </a:solidFill>
                          <a:latin typeface="Calibri" pitchFamily="34" charset="0"/>
                          <a:ea typeface="Calibri" pitchFamily="34" charset="-122"/>
                          <a:cs typeface="Calibri" pitchFamily="34" charset="-120"/>
                        </a:rPr>
                        <a:t>Objeto</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l" indent="0" marL="0">
                        <a:buNone/>
                      </a:pPr>
                      <a:r>
                        <a:rPr lang="en-US" sz="1100" b="1" dirty="0">
                          <a:solidFill>
                            <a:srgbClr val="FBFAF6"/>
                          </a:solidFill>
                          <a:latin typeface="Calibri" pitchFamily="34" charset="0"/>
                          <a:ea typeface="Calibri" pitchFamily="34" charset="-122"/>
                          <a:cs typeface="Calibri" pitchFamily="34" charset="-120"/>
                        </a:rPr>
                        <a:t>Processo SEI</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ctr" indent="0" marL="0">
                        <a:buNone/>
                      </a:pPr>
                      <a:r>
                        <a:rPr lang="en-US" sz="1100" b="1" dirty="0">
                          <a:solidFill>
                            <a:srgbClr val="FBFAF6"/>
                          </a:solidFill>
                          <a:latin typeface="Calibri" pitchFamily="34" charset="0"/>
                          <a:ea typeface="Calibri" pitchFamily="34" charset="-122"/>
                          <a:cs typeface="Calibri" pitchFamily="34" charset="-120"/>
                        </a:rPr>
                        <a:t>DOD</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l" indent="0" marL="0">
                        <a:buNone/>
                      </a:pPr>
                      <a:r>
                        <a:rPr lang="en-US" sz="1100" b="1" dirty="0">
                          <a:solidFill>
                            <a:srgbClr val="FBFAF6"/>
                          </a:solidFill>
                          <a:latin typeface="Calibri" pitchFamily="34" charset="0"/>
                          <a:ea typeface="Calibri" pitchFamily="34" charset="-122"/>
                          <a:cs typeface="Calibri" pitchFamily="34" charset="-120"/>
                        </a:rPr>
                        <a:t>Ata de registro de preços</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ctr" indent="0" marL="0">
                        <a:buNone/>
                      </a:pPr>
                      <a:r>
                        <a:rPr lang="en-US" sz="1100" b="1" dirty="0">
                          <a:solidFill>
                            <a:srgbClr val="FBFAF6"/>
                          </a:solidFill>
                          <a:latin typeface="Calibri" pitchFamily="34" charset="0"/>
                          <a:ea typeface="Calibri" pitchFamily="34" charset="-122"/>
                          <a:cs typeface="Calibri" pitchFamily="34" charset="-120"/>
                        </a:rPr>
                        <a:t>TI</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r" indent="0" marL="0">
                        <a:buNone/>
                      </a:pPr>
                      <a:r>
                        <a:rPr lang="en-US" sz="1100" b="1" dirty="0">
                          <a:solidFill>
                            <a:srgbClr val="FBFAF6"/>
                          </a:solidFill>
                          <a:latin typeface="Calibri" pitchFamily="34" charset="0"/>
                          <a:ea typeface="Calibri" pitchFamily="34" charset="-122"/>
                          <a:cs typeface="Calibri" pitchFamily="34" charset="-120"/>
                        </a:rPr>
                        <a:t>Valor</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Switch top of rack</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236"/>
                          </a:solidFill>
                          <a:latin typeface="Calibri" pitchFamily="34" charset="0"/>
                          <a:ea typeface="Calibri" pitchFamily="34" charset="-122"/>
                          <a:cs typeface="Calibri" pitchFamily="34" charset="-120"/>
                        </a:rPr>
                        <a:t>SEI-260005/008710/2026</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Em análise</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6EACD"/>
                    </a:solidFill>
                  </a:tcPr>
                </a:tc>
                <a:tc>
                  <a:txBody>
                    <a:bodyPr/>
                    <a:lstStyle/>
                    <a:p>
                      <a:pPr algn="l" indent="0" marL="0">
                        <a:buNone/>
                      </a:pPr>
                      <a:r>
                        <a:rPr lang="en-US" sz="1150" dirty="0">
                          <a:solidFill>
                            <a:srgbClr val="8A8474"/>
                          </a:solidFill>
                          <a:latin typeface="Calibri" pitchFamily="34" charset="0"/>
                          <a:ea typeface="Calibri" pitchFamily="34" charset="-122"/>
                          <a:cs typeface="Calibri" pitchFamily="34" charset="-120"/>
                        </a:rPr>
                        <a:t>Não preenchido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A8322A"/>
                          </a:solidFill>
                          <a:latin typeface="Calibri" pitchFamily="34" charset="0"/>
                          <a:ea typeface="Calibri" pitchFamily="34" charset="-122"/>
                          <a:cs typeface="Calibri" pitchFamily="34" charset="-120"/>
                        </a:rPr>
                        <a:t>NÃO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8E1DD"/>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Servidor hiperconvergente</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050" dirty="0">
                          <a:solidFill>
                            <a:srgbClr val="1B2236"/>
                          </a:solidFill>
                          <a:latin typeface="Calibri" pitchFamily="34" charset="0"/>
                          <a:ea typeface="Calibri" pitchFamily="34" charset="-122"/>
                          <a:cs typeface="Calibri" pitchFamily="34" charset="-120"/>
                        </a:rPr>
                        <a:t>SEI-260005/008677/2026</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2F6B4F"/>
                          </a:solidFill>
                          <a:latin typeface="Calibri" pitchFamily="34" charset="0"/>
                          <a:ea typeface="Calibri" pitchFamily="34" charset="-122"/>
                          <a:cs typeface="Calibri" pitchFamily="34" charset="-120"/>
                        </a:rPr>
                        <a:t>Elaborado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l" indent="0" marL="0">
                        <a:buNone/>
                      </a:pPr>
                      <a:r>
                        <a:rPr lang="en-US" sz="1150" b="1" dirty="0">
                          <a:solidFill>
                            <a:srgbClr val="2F6B4F"/>
                          </a:solidFill>
                          <a:latin typeface="Calibri" pitchFamily="34" charset="0"/>
                          <a:ea typeface="Calibri" pitchFamily="34" charset="-122"/>
                          <a:cs typeface="Calibri" pitchFamily="34" charset="-120"/>
                        </a:rPr>
                        <a:t>SIM</a:t>
                      </a:r>
                      <a:pPr algn="l" indent="0" marL="0">
                        <a:buNone/>
                      </a:pPr>
                      <a:r>
                        <a:rPr lang="en-US" sz="1000" dirty="0">
                          <a:solidFill>
                            <a:srgbClr val="5F5A4E"/>
                          </a:solidFill>
                          <a:latin typeface="Calibri" pitchFamily="34" charset="0"/>
                          <a:ea typeface="Calibri" pitchFamily="34" charset="-122"/>
                          <a:cs typeface="Calibri" pitchFamily="34" charset="-120"/>
                        </a:rPr>
                        <a:t>  ARP 103/2025 TR/RN</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A8322A"/>
                          </a:solidFill>
                          <a:latin typeface="Calibri" pitchFamily="34" charset="0"/>
                          <a:ea typeface="Calibri" pitchFamily="34" charset="-122"/>
                          <a:cs typeface="Calibri" pitchFamily="34" charset="-120"/>
                        </a:rPr>
                        <a:t>NÃO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8E1DD"/>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Rack 19U</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236"/>
                          </a:solidFill>
                          <a:latin typeface="Calibri" pitchFamily="34" charset="0"/>
                          <a:ea typeface="Calibri" pitchFamily="34" charset="-122"/>
                          <a:cs typeface="Calibri" pitchFamily="34" charset="-120"/>
                        </a:rPr>
                        <a:t>SEI-260005/009052/2026</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Em elaboração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6EACD"/>
                    </a:solidFill>
                  </a:tcPr>
                </a:tc>
                <a:tc>
                  <a:txBody>
                    <a:bodyPr/>
                    <a:lstStyle/>
                    <a:p>
                      <a:pPr algn="l" indent="0" marL="0">
                        <a:buNone/>
                      </a:pPr>
                      <a:r>
                        <a:rPr lang="en-US" sz="1150" b="1" dirty="0">
                          <a:solidFill>
                            <a:srgbClr val="2F6B4F"/>
                          </a:solidFill>
                          <a:latin typeface="Calibri" pitchFamily="34" charset="0"/>
                          <a:ea typeface="Calibri" pitchFamily="34" charset="-122"/>
                          <a:cs typeface="Calibri" pitchFamily="34" charset="-120"/>
                        </a:rPr>
                        <a:t>SIM</a:t>
                      </a:r>
                      <a:pPr algn="l" indent="0" marL="0">
                        <a:buNone/>
                      </a:pPr>
                      <a:r>
                        <a:rPr lang="en-US" sz="1000" dirty="0">
                          <a:solidFill>
                            <a:srgbClr val="5F5A4E"/>
                          </a:solidFill>
                          <a:latin typeface="Calibri" pitchFamily="34" charset="0"/>
                          <a:ea typeface="Calibri" pitchFamily="34" charset="-122"/>
                          <a:cs typeface="Calibri" pitchFamily="34" charset="-120"/>
                        </a:rPr>
                        <a:t>  ARP 167/2025 SEPLAG/MG</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A8322A"/>
                          </a:solidFill>
                          <a:latin typeface="Calibri" pitchFamily="34" charset="0"/>
                          <a:ea typeface="Calibri" pitchFamily="34" charset="-122"/>
                          <a:cs typeface="Calibri" pitchFamily="34" charset="-120"/>
                        </a:rPr>
                        <a:t>NÃO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8E1DD"/>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Access Point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050" dirty="0">
                          <a:solidFill>
                            <a:srgbClr val="A8322A"/>
                          </a:solidFill>
                          <a:latin typeface="Calibri" pitchFamily="34" charset="0"/>
                          <a:ea typeface="Calibri" pitchFamily="34" charset="-122"/>
                          <a:cs typeface="Calibri" pitchFamily="34" charset="-120"/>
                        </a:rPr>
                        <a:t>Não informado</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Em elaboração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6EACD"/>
                    </a:solidFill>
                  </a:tcPr>
                </a:tc>
                <a:tc>
                  <a:txBody>
                    <a:bodyPr/>
                    <a:lstStyle/>
                    <a:p>
                      <a:pPr algn="l" indent="0" marL="0">
                        <a:buNone/>
                      </a:pPr>
                      <a:r>
                        <a:rPr lang="en-US" sz="1150" b="1" dirty="0">
                          <a:solidFill>
                            <a:srgbClr val="2F6B4F"/>
                          </a:solidFill>
                          <a:latin typeface="Calibri" pitchFamily="34" charset="0"/>
                          <a:ea typeface="Calibri" pitchFamily="34" charset="-122"/>
                          <a:cs typeface="Calibri" pitchFamily="34" charset="-120"/>
                        </a:rPr>
                        <a:t>SIM</a:t>
                      </a:r>
                      <a:pPr algn="l" indent="0" marL="0">
                        <a:buNone/>
                      </a:pPr>
                      <a:r>
                        <a:rPr lang="en-US" sz="1000" dirty="0">
                          <a:solidFill>
                            <a:srgbClr val="5F5A4E"/>
                          </a:solidFill>
                          <a:latin typeface="Calibri" pitchFamily="34" charset="0"/>
                          <a:ea typeface="Calibri" pitchFamily="34" charset="-122"/>
                          <a:cs typeface="Calibri" pitchFamily="34" charset="-120"/>
                        </a:rPr>
                        <a:t>  ARP 167/2025 SEPLAG/MG</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A8322A"/>
                          </a:solidFill>
                          <a:latin typeface="Calibri" pitchFamily="34" charset="0"/>
                          <a:ea typeface="Calibri" pitchFamily="34" charset="-122"/>
                          <a:cs typeface="Calibri" pitchFamily="34" charset="-120"/>
                        </a:rPr>
                        <a:t>NÃO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8E1DD"/>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Pontos lógicos</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236"/>
                          </a:solidFill>
                          <a:latin typeface="Calibri" pitchFamily="34" charset="0"/>
                          <a:ea typeface="Calibri" pitchFamily="34" charset="-122"/>
                          <a:cs typeface="Calibri" pitchFamily="34" charset="-120"/>
                        </a:rPr>
                        <a:t>SEI-260005/009053/2028</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Em análise</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6EACD"/>
                    </a:solidFill>
                  </a:tcPr>
                </a:tc>
                <a:tc>
                  <a:txBody>
                    <a:bodyPr/>
                    <a:lstStyle/>
                    <a:p>
                      <a:pPr algn="l" indent="0" marL="0">
                        <a:buNone/>
                      </a:pPr>
                      <a:r>
                        <a:rPr lang="en-US" sz="1150" dirty="0">
                          <a:solidFill>
                            <a:srgbClr val="8A8474"/>
                          </a:solidFill>
                          <a:latin typeface="Calibri" pitchFamily="34" charset="0"/>
                          <a:ea typeface="Calibri" pitchFamily="34" charset="-122"/>
                          <a:cs typeface="Calibri" pitchFamily="34" charset="-120"/>
                        </a:rPr>
                        <a:t>Não preenchido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A8322A"/>
                          </a:solidFill>
                          <a:latin typeface="Calibri" pitchFamily="34" charset="0"/>
                          <a:ea typeface="Calibri" pitchFamily="34" charset="-122"/>
                          <a:cs typeface="Calibri" pitchFamily="34" charset="-120"/>
                        </a:rPr>
                        <a:t>NÃO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8E1DD"/>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Telefonia móvel (celular)</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050" dirty="0">
                          <a:solidFill>
                            <a:srgbClr val="1B2236"/>
                          </a:solidFill>
                          <a:latin typeface="Calibri" pitchFamily="34" charset="0"/>
                          <a:ea typeface="Calibri" pitchFamily="34" charset="-122"/>
                          <a:cs typeface="Calibri" pitchFamily="34" charset="-120"/>
                        </a:rPr>
                        <a:t>SEI-260005/009054/2029</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Em análise</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6EACD"/>
                    </a:solidFill>
                  </a:tcPr>
                </a:tc>
                <a:tc>
                  <a:txBody>
                    <a:bodyPr/>
                    <a:lstStyle/>
                    <a:p>
                      <a:pPr algn="l" indent="0" marL="0">
                        <a:buNone/>
                      </a:pPr>
                      <a:r>
                        <a:rPr lang="en-US" sz="1150" dirty="0">
                          <a:solidFill>
                            <a:srgbClr val="8A8474"/>
                          </a:solidFill>
                          <a:latin typeface="Calibri" pitchFamily="34" charset="0"/>
                          <a:ea typeface="Calibri" pitchFamily="34" charset="-122"/>
                          <a:cs typeface="Calibri" pitchFamily="34" charset="-120"/>
                        </a:rPr>
                        <a:t>Não preenchido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A8322A"/>
                          </a:solidFill>
                          <a:latin typeface="Calibri" pitchFamily="34" charset="0"/>
                          <a:ea typeface="Calibri" pitchFamily="34" charset="-122"/>
                          <a:cs typeface="Calibri" pitchFamily="34" charset="-120"/>
                        </a:rPr>
                        <a:t>NÃO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8E1DD"/>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17</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Switch core</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236"/>
                          </a:solidFill>
                          <a:latin typeface="Calibri" pitchFamily="34" charset="0"/>
                          <a:ea typeface="Calibri" pitchFamily="34" charset="-122"/>
                          <a:cs typeface="Calibri" pitchFamily="34" charset="-120"/>
                        </a:rPr>
                        <a:t>SEI-260005/008717/2025</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Em análise</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6EACD"/>
                    </a:solidFill>
                  </a:tcPr>
                </a:tc>
                <a:tc>
                  <a:txBody>
                    <a:bodyPr/>
                    <a:lstStyle/>
                    <a:p>
                      <a:pPr algn="l" indent="0" marL="0">
                        <a:buNone/>
                      </a:pPr>
                      <a:r>
                        <a:rPr lang="en-US" sz="1150" dirty="0">
                          <a:solidFill>
                            <a:srgbClr val="8A8474"/>
                          </a:solidFill>
                          <a:latin typeface="Calibri" pitchFamily="34" charset="0"/>
                          <a:ea typeface="Calibri" pitchFamily="34" charset="-122"/>
                          <a:cs typeface="Calibri" pitchFamily="34" charset="-120"/>
                        </a:rPr>
                        <a:t>Não preenchido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A8322A"/>
                          </a:solidFill>
                          <a:latin typeface="Calibri" pitchFamily="34" charset="0"/>
                          <a:ea typeface="Calibri" pitchFamily="34" charset="-122"/>
                          <a:cs typeface="Calibri" pitchFamily="34" charset="-120"/>
                        </a:rPr>
                        <a:t>NÃO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8E1DD"/>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Switch de acesso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050" dirty="0">
                          <a:solidFill>
                            <a:srgbClr val="A8322A"/>
                          </a:solidFill>
                          <a:latin typeface="Calibri" pitchFamily="34" charset="0"/>
                          <a:ea typeface="Calibri" pitchFamily="34" charset="-122"/>
                          <a:cs typeface="Calibri" pitchFamily="34" charset="-120"/>
                        </a:rPr>
                        <a:t>Não informado</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2F6B4F"/>
                          </a:solidFill>
                          <a:latin typeface="Calibri" pitchFamily="34" charset="0"/>
                          <a:ea typeface="Calibri" pitchFamily="34" charset="-122"/>
                          <a:cs typeface="Calibri" pitchFamily="34" charset="-120"/>
                        </a:rPr>
                        <a:t>Elaborado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l" indent="0" marL="0">
                        <a:buNone/>
                      </a:pPr>
                      <a:r>
                        <a:rPr lang="en-US" sz="1150" b="1" dirty="0">
                          <a:solidFill>
                            <a:srgbClr val="2F6B4F"/>
                          </a:solidFill>
                          <a:latin typeface="Calibri" pitchFamily="34" charset="0"/>
                          <a:ea typeface="Calibri" pitchFamily="34" charset="-122"/>
                          <a:cs typeface="Calibri" pitchFamily="34" charset="-120"/>
                        </a:rPr>
                        <a:t>SIM</a:t>
                      </a:r>
                      <a:pPr algn="l" indent="0" marL="0">
                        <a:buNone/>
                      </a:pPr>
                      <a:r>
                        <a:rPr lang="en-US" sz="1000" dirty="0">
                          <a:solidFill>
                            <a:srgbClr val="5F5A4E"/>
                          </a:solidFill>
                          <a:latin typeface="Calibri" pitchFamily="34" charset="0"/>
                          <a:ea typeface="Calibri" pitchFamily="34" charset="-122"/>
                          <a:cs typeface="Calibri" pitchFamily="34" charset="-120"/>
                        </a:rPr>
                        <a:t>  ARP 40/2026 SPLAG/MG</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A8322A"/>
                          </a:solidFill>
                          <a:latin typeface="Calibri" pitchFamily="34" charset="0"/>
                          <a:ea typeface="Calibri" pitchFamily="34" charset="-122"/>
                          <a:cs typeface="Calibri" pitchFamily="34" charset="-120"/>
                        </a:rPr>
                        <a:t>NÃO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8E1DD"/>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Firewall Fortinet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236"/>
                          </a:solidFill>
                          <a:latin typeface="Calibri" pitchFamily="34" charset="0"/>
                          <a:ea typeface="Calibri" pitchFamily="34" charset="-122"/>
                          <a:cs typeface="Calibri" pitchFamily="34" charset="-120"/>
                        </a:rPr>
                        <a:t>SEI-260005/008714/2026</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Em elaboração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6EACD"/>
                    </a:solidFill>
                  </a:tcPr>
                </a:tc>
                <a:tc>
                  <a:txBody>
                    <a:bodyPr/>
                    <a:lstStyle/>
                    <a:p>
                      <a:pPr algn="l" indent="0" marL="0">
                        <a:buNone/>
                      </a:pPr>
                      <a:r>
                        <a:rPr lang="en-US" sz="1150" b="1" dirty="0">
                          <a:solidFill>
                            <a:srgbClr val="2F6B4F"/>
                          </a:solidFill>
                          <a:latin typeface="Calibri" pitchFamily="34" charset="0"/>
                          <a:ea typeface="Calibri" pitchFamily="34" charset="-122"/>
                          <a:cs typeface="Calibri" pitchFamily="34" charset="-120"/>
                        </a:rPr>
                        <a:t>SIM</a:t>
                      </a:r>
                      <a:pPr algn="l" indent="0" marL="0">
                        <a:buNone/>
                      </a:pPr>
                      <a:r>
                        <a:rPr lang="en-US" sz="1000" dirty="0">
                          <a:solidFill>
                            <a:srgbClr val="5F5A4E"/>
                          </a:solidFill>
                          <a:latin typeface="Calibri" pitchFamily="34" charset="0"/>
                          <a:ea typeface="Calibri" pitchFamily="34" charset="-122"/>
                          <a:cs typeface="Calibri" pitchFamily="34" charset="-120"/>
                        </a:rPr>
                        <a:t>  ARP 008/2024 PRODERJ</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A8322A"/>
                          </a:solidFill>
                          <a:latin typeface="Calibri" pitchFamily="34" charset="0"/>
                          <a:ea typeface="Calibri" pitchFamily="34" charset="-122"/>
                          <a:cs typeface="Calibri" pitchFamily="34" charset="-120"/>
                        </a:rPr>
                        <a:t>NÃO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8E1DD"/>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393192">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Computador quântico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050" dirty="0">
                          <a:solidFill>
                            <a:srgbClr val="A8322A"/>
                          </a:solidFill>
                          <a:latin typeface="Calibri" pitchFamily="34" charset="0"/>
                          <a:ea typeface="Calibri" pitchFamily="34" charset="-122"/>
                          <a:cs typeface="Calibri" pitchFamily="34" charset="-120"/>
                        </a:rPr>
                        <a:t>Não informado</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8A5F0D"/>
                          </a:solidFill>
                          <a:latin typeface="Calibri" pitchFamily="34" charset="0"/>
                          <a:ea typeface="Calibri" pitchFamily="34" charset="-122"/>
                          <a:cs typeface="Calibri" pitchFamily="34" charset="-120"/>
                        </a:rPr>
                        <a:t>Em análise</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6EACD"/>
                    </a:solidFill>
                  </a:tcPr>
                </a:tc>
                <a:tc>
                  <a:txBody>
                    <a:bodyPr/>
                    <a:lstStyle/>
                    <a:p>
                      <a:pPr algn="l" indent="0" marL="0">
                        <a:buNone/>
                      </a:pPr>
                      <a:r>
                        <a:rPr lang="en-US" sz="1150" dirty="0">
                          <a:solidFill>
                            <a:srgbClr val="8A8474"/>
                          </a:solidFill>
                          <a:latin typeface="Calibri" pitchFamily="34" charset="0"/>
                          <a:ea typeface="Calibri" pitchFamily="34" charset="-122"/>
                          <a:cs typeface="Calibri" pitchFamily="34" charset="-120"/>
                        </a:rPr>
                        <a:t>Não preenchido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50" b="1" dirty="0">
                          <a:solidFill>
                            <a:srgbClr val="A8322A"/>
                          </a:solidFill>
                          <a:latin typeface="Calibri" pitchFamily="34" charset="0"/>
                          <a:ea typeface="Calibri" pitchFamily="34" charset="-122"/>
                          <a:cs typeface="Calibri" pitchFamily="34" charset="-120"/>
                        </a:rPr>
                        <a:t>NÃO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8E1DD"/>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bl>
          </a:graphicData>
        </a:graphic>
      </p:graphicFrame>
      <p:sp>
        <p:nvSpPr>
          <p:cNvPr id="7" name="Shape 4"/>
          <p:cNvSpPr/>
          <p:nvPr/>
        </p:nvSpPr>
        <p:spPr>
          <a:xfrm>
            <a:off x="685800" y="6355080"/>
            <a:ext cx="10820095" cy="0"/>
          </a:xfrm>
          <a:prstGeom prst="line">
            <a:avLst/>
          </a:prstGeom>
          <a:noFill/>
          <a:ln w="6350">
            <a:solidFill>
              <a:srgbClr val="D9D2C3"/>
            </a:solidFill>
            <a:prstDash val="solid"/>
          </a:ln>
        </p:spPr>
      </p:sp>
      <p:sp>
        <p:nvSpPr>
          <p:cNvPr id="8" name="Text 5"/>
          <p:cNvSpPr txBox="1"/>
          <p:nvPr/>
        </p:nvSpPr>
        <p:spPr>
          <a:xfrm>
            <a:off x="685800" y="6419088"/>
            <a:ext cx="9601200" cy="256032"/>
          </a:xfrm>
          <a:prstGeom prst="rect">
            <a:avLst/>
          </a:prstGeom>
          <a:noFill/>
          <a:ln/>
        </p:spPr>
        <p:txBody>
          <a:bodyPr wrap="square" lIns="0" tIns="0" rIns="0" bIns="0" rtlCol="0" anchor="ctr"/>
          <a:lstStyle/>
          <a:p>
            <a:pPr indent="0" marL="0">
              <a:buNone/>
            </a:pPr>
            <a:r>
              <a:rPr lang="en-US" sz="1000" dirty="0">
                <a:solidFill>
                  <a:srgbClr val="6E6758"/>
                </a:solidFill>
                <a:latin typeface="Calibri" pitchFamily="34" charset="0"/>
                <a:ea typeface="Calibri" pitchFamily="34" charset="-122"/>
                <a:cs typeface="Calibri" pitchFamily="34" charset="-120"/>
              </a:rPr>
              <a:t>GT PROPAG · Compras Públicas · Fonte: Planilha de andamento do GT PROPAG · posição de 25/09/2026</a:t>
            </a:r>
            <a:endParaRPr lang="en-US" sz="1000" dirty="0"/>
          </a:p>
        </p:txBody>
      </p:sp>
      <p:sp>
        <p:nvSpPr>
          <p:cNvPr id="9" name="Text 6"/>
          <p:cNvSpPr txBox="1"/>
          <p:nvPr/>
        </p:nvSpPr>
        <p:spPr>
          <a:xfrm>
            <a:off x="10591495" y="6419088"/>
            <a:ext cx="914400" cy="256032"/>
          </a:xfrm>
          <a:prstGeom prst="rect">
            <a:avLst/>
          </a:prstGeom>
          <a:noFill/>
          <a:ln/>
        </p:spPr>
        <p:txBody>
          <a:bodyPr wrap="square" lIns="0" tIns="0" rIns="0" bIns="0" rtlCol="0" anchor="ctr"/>
          <a:lstStyle/>
          <a:p>
            <a:pPr algn="r" indent="0" marL="0">
              <a:buNone/>
            </a:pPr>
            <a:r>
              <a:rPr lang="en-US" sz="1050" b="1" dirty="0">
                <a:solidFill>
                  <a:srgbClr val="16284D"/>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8962F"/>
          </a:solidFill>
          <a:ln w="12700">
            <a:solidFill>
              <a:srgbClr val="C8962F"/>
            </a:solidFill>
            <a:prstDash val="solid"/>
          </a:ln>
        </p:spPr>
      </p:sp>
      <p:sp>
        <p:nvSpPr>
          <p:cNvPr id="3" name="Text 1"/>
          <p:cNvSpPr txBox="1"/>
          <p:nvPr/>
        </p:nvSpPr>
        <p:spPr>
          <a:xfrm>
            <a:off x="685800" y="457200"/>
            <a:ext cx="10820095" cy="274320"/>
          </a:xfrm>
          <a:prstGeom prst="rect">
            <a:avLst/>
          </a:prstGeom>
          <a:noFill/>
          <a:ln/>
        </p:spPr>
        <p:txBody>
          <a:bodyPr wrap="square" lIns="0" tIns="0" rIns="0" bIns="0" rtlCol="0" anchor="ctr"/>
          <a:lstStyle/>
          <a:p>
            <a:pPr indent="0" marL="0">
              <a:buNone/>
            </a:pPr>
            <a:r>
              <a:rPr lang="en-US" sz="1150" b="1" spc="300" kern="0" dirty="0">
                <a:solidFill>
                  <a:srgbClr val="8A5F0D"/>
                </a:solidFill>
                <a:latin typeface="Calibri" pitchFamily="34" charset="0"/>
                <a:ea typeface="Calibri" pitchFamily="34" charset="-122"/>
                <a:cs typeface="Calibri" pitchFamily="34" charset="-120"/>
              </a:rPr>
              <a:t>ATAS DE REGISTRO DE PREÇOS</a:t>
            </a:r>
            <a:endParaRPr lang="en-US" sz="1150" dirty="0"/>
          </a:p>
        </p:txBody>
      </p:sp>
      <p:sp>
        <p:nvSpPr>
          <p:cNvPr id="4" name="Text 2"/>
          <p:cNvSpPr txBox="1"/>
          <p:nvPr/>
        </p:nvSpPr>
        <p:spPr>
          <a:xfrm>
            <a:off x="685800" y="749808"/>
            <a:ext cx="10820095" cy="658368"/>
          </a:xfrm>
          <a:prstGeom prst="rect">
            <a:avLst/>
          </a:prstGeom>
          <a:noFill/>
          <a:ln/>
        </p:spPr>
        <p:txBody>
          <a:bodyPr wrap="square" lIns="0" tIns="0" rIns="0" bIns="0" rtlCol="0" anchor="t"/>
          <a:lstStyle/>
          <a:p>
            <a:pPr indent="0" marL="0">
              <a:buNone/>
            </a:pPr>
            <a:r>
              <a:rPr lang="en-US" sz="3200" b="1" dirty="0">
                <a:solidFill>
                  <a:srgbClr val="16284D"/>
                </a:solidFill>
                <a:latin typeface="Cambria" pitchFamily="34" charset="0"/>
                <a:ea typeface="Cambria" pitchFamily="34" charset="-122"/>
                <a:cs typeface="Cambria" pitchFamily="34" charset="-120"/>
              </a:rPr>
              <a:t>10 demandas com ata indicada; 8 aguardam nova pesquisa</a:t>
            </a:r>
            <a:endParaRPr lang="en-US" sz="3200" dirty="0"/>
          </a:p>
        </p:txBody>
      </p:sp>
      <p:sp>
        <p:nvSpPr>
          <p:cNvPr id="5" name="Shape 3"/>
          <p:cNvSpPr/>
          <p:nvPr/>
        </p:nvSpPr>
        <p:spPr>
          <a:xfrm>
            <a:off x="685800" y="1481328"/>
            <a:ext cx="1005840" cy="0"/>
          </a:xfrm>
          <a:prstGeom prst="line">
            <a:avLst/>
          </a:prstGeom>
          <a:noFill/>
          <a:ln w="25400">
            <a:solidFill>
              <a:srgbClr val="C8962F"/>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 y="1691640"/>
          <a:ext cx="10820095" cy="914400"/>
        </p:xfrm>
        <a:graphic>
          <a:graphicData uri="http://schemas.openxmlformats.org/drawingml/2006/table">
            <a:tbl>
              <a:tblPr/>
              <a:tblGrid>
                <a:gridCol w="457200"/>
                <a:gridCol w="2743200"/>
                <a:gridCol w="1097280"/>
                <a:gridCol w="3429000"/>
                <a:gridCol w="3001975"/>
              </a:tblGrid>
              <a:tr h="329184">
                <a:tc>
                  <a:txBody>
                    <a:bodyPr/>
                    <a:lstStyle/>
                    <a:p>
                      <a:pPr algn="ctr" indent="0" marL="0">
                        <a:buNone/>
                      </a:pPr>
                      <a:r>
                        <a:rPr lang="en-US" sz="1050" b="1" dirty="0">
                          <a:solidFill>
                            <a:srgbClr val="FBFAF6"/>
                          </a:solidFill>
                          <a:latin typeface="Calibri" pitchFamily="34" charset="0"/>
                          <a:ea typeface="Calibri" pitchFamily="34" charset="-122"/>
                          <a:cs typeface="Calibri" pitchFamily="34" charset="-120"/>
                        </a:rPr>
                        <a:t>Nº</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l" indent="0" marL="0">
                        <a:buNone/>
                      </a:pPr>
                      <a:r>
                        <a:rPr lang="en-US" sz="1050" b="1" dirty="0">
                          <a:solidFill>
                            <a:srgbClr val="FBFAF6"/>
                          </a:solidFill>
                          <a:latin typeface="Calibri" pitchFamily="34" charset="0"/>
                          <a:ea typeface="Calibri" pitchFamily="34" charset="-122"/>
                          <a:cs typeface="Calibri" pitchFamily="34" charset="-120"/>
                        </a:rPr>
                        <a:t>Objeto</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ctr" indent="0" marL="0">
                        <a:buNone/>
                      </a:pPr>
                      <a:r>
                        <a:rPr lang="en-US" sz="1050" b="1" dirty="0">
                          <a:solidFill>
                            <a:srgbClr val="FBFAF6"/>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l" indent="0" marL="0">
                        <a:buNone/>
                      </a:pPr>
                      <a:r>
                        <a:rPr lang="en-US" sz="1050" b="1" dirty="0">
                          <a:solidFill>
                            <a:srgbClr val="FBFAF6"/>
                          </a:solidFill>
                          <a:latin typeface="Calibri" pitchFamily="34" charset="0"/>
                          <a:ea typeface="Calibri" pitchFamily="34" charset="-122"/>
                          <a:cs typeface="Calibri" pitchFamily="34" charset="-120"/>
                        </a:rPr>
                        <a:t>Ata indicada (campo “observação” da ata)</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l" indent="0" marL="0">
                        <a:buNone/>
                      </a:pPr>
                      <a:r>
                        <a:rPr lang="en-US" sz="1050" b="1" dirty="0">
                          <a:solidFill>
                            <a:srgbClr val="FBFAF6"/>
                          </a:solidFill>
                          <a:latin typeface="Calibri" pitchFamily="34" charset="0"/>
                          <a:ea typeface="Calibri" pitchFamily="34" charset="-122"/>
                          <a:cs typeface="Calibri" pitchFamily="34" charset="-120"/>
                        </a:rPr>
                        <a:t>Registro no DOD</a:t>
                      </a:r>
                      <a:endParaRPr lang="en-US" sz="10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r>
              <a:tr h="329184">
                <a:tc>
                  <a:txBody>
                    <a:bodyPr/>
                    <a:lstStyle/>
                    <a:p>
                      <a:pPr algn="ctr" indent="0" marL="0">
                        <a:buNone/>
                      </a:pPr>
                      <a:r>
                        <a:rPr lang="en-US" sz="1100" b="1" dirty="0">
                          <a:solidFill>
                            <a:srgbClr val="8A5F0D"/>
                          </a:solidFill>
                          <a:latin typeface="Calibri" pitchFamily="34" charset="0"/>
                          <a:ea typeface="Calibri" pitchFamily="34" charset="-122"/>
                          <a:cs typeface="Calibri" pitchFamily="34" charset="-120"/>
                        </a:rPr>
                        <a:t>02</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B2236"/>
                          </a:solidFill>
                          <a:latin typeface="Calibri" pitchFamily="34" charset="0"/>
                          <a:ea typeface="Calibri" pitchFamily="34" charset="-122"/>
                          <a:cs typeface="Calibri" pitchFamily="34" charset="-120"/>
                        </a:rPr>
                        <a:t>Softwares de edição e arquitetura</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F6B4F"/>
                          </a:solidFill>
                          <a:latin typeface="Calibri" pitchFamily="34" charset="0"/>
                          <a:ea typeface="Calibri" pitchFamily="34" charset="-122"/>
                          <a:cs typeface="Calibri" pitchFamily="34" charset="-120"/>
                        </a:rPr>
                        <a:t>SIM</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Ata de Registro de Preços – CELIC/RS – ARP 1477/2024</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ARP nº 147/2024 – CELIC/RS</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329184">
                <a:tc>
                  <a:txBody>
                    <a:bodyPr/>
                    <a:lstStyle/>
                    <a:p>
                      <a:pPr algn="ctr" indent="0" marL="0">
                        <a:buNone/>
                      </a:pPr>
                      <a:r>
                        <a:rPr lang="en-US" sz="1100" b="1" dirty="0">
                          <a:solidFill>
                            <a:srgbClr val="8A5F0D"/>
                          </a:solidFill>
                          <a:latin typeface="Calibri" pitchFamily="34" charset="0"/>
                          <a:ea typeface="Calibri" pitchFamily="34" charset="-122"/>
                          <a:cs typeface="Calibri" pitchFamily="34" charset="-120"/>
                        </a:rPr>
                        <a:t>07</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00" b="1" dirty="0">
                          <a:solidFill>
                            <a:srgbClr val="1B2236"/>
                          </a:solidFill>
                          <a:latin typeface="Calibri" pitchFamily="34" charset="0"/>
                          <a:ea typeface="Calibri" pitchFamily="34" charset="-122"/>
                          <a:cs typeface="Calibri" pitchFamily="34" charset="-120"/>
                        </a:rPr>
                        <a:t>Antivírus com tecnologia EDR</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00" b="1" dirty="0">
                          <a:solidFill>
                            <a:srgbClr val="2F6B4F"/>
                          </a:solidFill>
                          <a:latin typeface="Calibri" pitchFamily="34" charset="0"/>
                          <a:ea typeface="Calibri" pitchFamily="34" charset="-122"/>
                          <a:cs typeface="Calibri" pitchFamily="34" charset="-120"/>
                        </a:rPr>
                        <a:t>SIM</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Adesão – ARP 02/2026 TJMA</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Adesão – ARP 02/2026 TJMA</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r h="329184">
                <a:tc>
                  <a:txBody>
                    <a:bodyPr/>
                    <a:lstStyle/>
                    <a:p>
                      <a:pPr algn="ctr" indent="0" marL="0">
                        <a:buNone/>
                      </a:pPr>
                      <a:r>
                        <a:rPr lang="en-US" sz="1100" b="1" dirty="0">
                          <a:solidFill>
                            <a:srgbClr val="8A5F0D"/>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B2236"/>
                          </a:solidFill>
                          <a:latin typeface="Calibri" pitchFamily="34" charset="0"/>
                          <a:ea typeface="Calibri" pitchFamily="34" charset="-122"/>
                          <a:cs typeface="Calibri" pitchFamily="34" charset="-120"/>
                        </a:rPr>
                        <a:t>Appliances para backup</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F6B4F"/>
                          </a:solidFill>
                          <a:latin typeface="Calibri" pitchFamily="34" charset="0"/>
                          <a:ea typeface="Calibri" pitchFamily="34" charset="-122"/>
                          <a:cs typeface="Calibri" pitchFamily="34" charset="-120"/>
                        </a:rPr>
                        <a:t>SIM</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Adesão – PE-RP nº 016/2024 PRODERJ</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Adesão – PE-RP nº 016/2024 PRODERJ</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329184">
                <a:tc>
                  <a:txBody>
                    <a:bodyPr/>
                    <a:lstStyle/>
                    <a:p>
                      <a:pPr algn="ctr" indent="0" marL="0">
                        <a:buNone/>
                      </a:pPr>
                      <a:r>
                        <a:rPr lang="en-US" sz="1100" b="1" dirty="0">
                          <a:solidFill>
                            <a:srgbClr val="8A5F0D"/>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00" b="1" dirty="0">
                          <a:solidFill>
                            <a:srgbClr val="1B2236"/>
                          </a:solidFill>
                          <a:latin typeface="Calibri" pitchFamily="34" charset="0"/>
                          <a:ea typeface="Calibri" pitchFamily="34" charset="-122"/>
                          <a:cs typeface="Calibri" pitchFamily="34" charset="-120"/>
                        </a:rPr>
                        <a:t>Servidor hiperconvergente</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00" b="1" dirty="0">
                          <a:solidFill>
                            <a:srgbClr val="2F6B4F"/>
                          </a:solidFill>
                          <a:latin typeface="Calibri" pitchFamily="34" charset="0"/>
                          <a:ea typeface="Calibri" pitchFamily="34" charset="-122"/>
                          <a:cs typeface="Calibri" pitchFamily="34" charset="-120"/>
                        </a:rPr>
                        <a:t>SIM</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Adesão – ARP nº 103/2025 – TR/RN</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Adesão – ARP 103/2025 TR-RN</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r h="329184">
                <a:tc>
                  <a:txBody>
                    <a:bodyPr/>
                    <a:lstStyle/>
                    <a:p>
                      <a:pPr algn="ctr" indent="0" marL="0">
                        <a:buNone/>
                      </a:pPr>
                      <a:r>
                        <a:rPr lang="en-US" sz="1100" b="1" dirty="0">
                          <a:solidFill>
                            <a:srgbClr val="8A5F0D"/>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B2236"/>
                          </a:solidFill>
                          <a:latin typeface="Calibri" pitchFamily="34" charset="0"/>
                          <a:ea typeface="Calibri" pitchFamily="34" charset="-122"/>
                          <a:cs typeface="Calibri" pitchFamily="34" charset="-120"/>
                        </a:rPr>
                        <a:t>Rack 19U</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F6B4F"/>
                          </a:solidFill>
                          <a:latin typeface="Calibri" pitchFamily="34" charset="0"/>
                          <a:ea typeface="Calibri" pitchFamily="34" charset="-122"/>
                          <a:cs typeface="Calibri" pitchFamily="34" charset="-120"/>
                        </a:rPr>
                        <a:t>SIM</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ARP nº 167/2025 – SEPLAG/MG</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Adesão – ARP 167/2025 SEPLAG-MG</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329184">
                <a:tc>
                  <a:txBody>
                    <a:bodyPr/>
                    <a:lstStyle/>
                    <a:p>
                      <a:pPr algn="ctr" indent="0" marL="0">
                        <a:buNone/>
                      </a:pPr>
                      <a:r>
                        <a:rPr lang="en-US" sz="1100" b="1" dirty="0">
                          <a:solidFill>
                            <a:srgbClr val="8A5F0D"/>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00" b="1" dirty="0">
                          <a:solidFill>
                            <a:srgbClr val="1B2236"/>
                          </a:solidFill>
                          <a:latin typeface="Calibri" pitchFamily="34" charset="0"/>
                          <a:ea typeface="Calibri" pitchFamily="34" charset="-122"/>
                          <a:cs typeface="Calibri" pitchFamily="34" charset="-120"/>
                        </a:rPr>
                        <a:t>Access Point</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00" b="1" dirty="0">
                          <a:solidFill>
                            <a:srgbClr val="2F6B4F"/>
                          </a:solidFill>
                          <a:latin typeface="Calibri" pitchFamily="34" charset="0"/>
                          <a:ea typeface="Calibri" pitchFamily="34" charset="-122"/>
                          <a:cs typeface="Calibri" pitchFamily="34" charset="-120"/>
                        </a:rPr>
                        <a:t>SIM</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ARP nº 167/2025 – SEPLAG/MG</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Adesão – ARP 167/2025 SEPLAG-MG</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r h="329184">
                <a:tc>
                  <a:txBody>
                    <a:bodyPr/>
                    <a:lstStyle/>
                    <a:p>
                      <a:pPr algn="ctr" indent="0" marL="0">
                        <a:buNone/>
                      </a:pPr>
                      <a:r>
                        <a:rPr lang="en-US" sz="1100" b="1" dirty="0">
                          <a:solidFill>
                            <a:srgbClr val="8A5F0D"/>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B2236"/>
                          </a:solidFill>
                          <a:latin typeface="Calibri" pitchFamily="34" charset="0"/>
                          <a:ea typeface="Calibri" pitchFamily="34" charset="-122"/>
                          <a:cs typeface="Calibri" pitchFamily="34" charset="-120"/>
                        </a:rPr>
                        <a:t>Switch de acesso</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F6B4F"/>
                          </a:solidFill>
                          <a:latin typeface="Calibri" pitchFamily="34" charset="0"/>
                          <a:ea typeface="Calibri" pitchFamily="34" charset="-122"/>
                          <a:cs typeface="Calibri" pitchFamily="34" charset="-120"/>
                        </a:rPr>
                        <a:t>SIM</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ARP nº 40/2026 – I – SPLAG/MG</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ARP nº 40/2026 – SEPLAG/RS</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329184">
                <a:tc>
                  <a:txBody>
                    <a:bodyPr/>
                    <a:lstStyle/>
                    <a:p>
                      <a:pPr algn="ctr" indent="0" marL="0">
                        <a:buNone/>
                      </a:pPr>
                      <a:r>
                        <a:rPr lang="en-US" sz="1100" b="1" dirty="0">
                          <a:solidFill>
                            <a:srgbClr val="8A5F0D"/>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00" b="1" dirty="0">
                          <a:solidFill>
                            <a:srgbClr val="1B2236"/>
                          </a:solidFill>
                          <a:latin typeface="Calibri" pitchFamily="34" charset="0"/>
                          <a:ea typeface="Calibri" pitchFamily="34" charset="-122"/>
                          <a:cs typeface="Calibri" pitchFamily="34" charset="-120"/>
                        </a:rPr>
                        <a:t>Firewall Fortinet</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00" b="1" dirty="0">
                          <a:solidFill>
                            <a:srgbClr val="2F6B4F"/>
                          </a:solidFill>
                          <a:latin typeface="Calibri" pitchFamily="34" charset="0"/>
                          <a:ea typeface="Calibri" pitchFamily="34" charset="-122"/>
                          <a:cs typeface="Calibri" pitchFamily="34" charset="-120"/>
                        </a:rPr>
                        <a:t>SIM</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1EEE5"/>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Adesão – ARP nº 008/2024 PRODERJ</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Adesão – ARP nº 008/2024 PRODERJ</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r h="329184">
                <a:tc>
                  <a:txBody>
                    <a:bodyPr/>
                    <a:lstStyle/>
                    <a:p>
                      <a:pPr algn="ctr" indent="0" marL="0">
                        <a:buNone/>
                      </a:pPr>
                      <a:r>
                        <a:rPr lang="en-US" sz="1100" b="1" dirty="0">
                          <a:solidFill>
                            <a:srgbClr val="8A5F0D"/>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B2236"/>
                          </a:solidFill>
                          <a:latin typeface="Calibri" pitchFamily="34" charset="0"/>
                          <a:ea typeface="Calibri" pitchFamily="34" charset="-122"/>
                          <a:cs typeface="Calibri" pitchFamily="34" charset="-120"/>
                        </a:rPr>
                        <a:t>Telefonia VoIP</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6284D"/>
                          </a:solidFill>
                          <a:latin typeface="Calibri" pitchFamily="34" charset="0"/>
                          <a:ea typeface="Calibri" pitchFamily="34" charset="-122"/>
                          <a:cs typeface="Calibri" pitchFamily="34" charset="-120"/>
                        </a:rPr>
                        <a:t>PARTICIPE</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3E9F4"/>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Registro de Preços – PE-RP nº 012/2024</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Participação – PE-RP nº 012/2024</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329184">
                <a:tc>
                  <a:txBody>
                    <a:bodyPr/>
                    <a:lstStyle/>
                    <a:p>
                      <a:pPr algn="ctr" indent="0" marL="0">
                        <a:buNone/>
                      </a:pPr>
                      <a:r>
                        <a:rPr lang="en-US" sz="1100" b="1" dirty="0">
                          <a:solidFill>
                            <a:srgbClr val="8A5F0D"/>
                          </a:solidFill>
                          <a:latin typeface="Calibri" pitchFamily="34" charset="0"/>
                          <a:ea typeface="Calibri" pitchFamily="34" charset="-122"/>
                          <a:cs typeface="Calibri" pitchFamily="34" charset="-120"/>
                        </a:rPr>
                        <a:t>06</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00" b="1" dirty="0">
                          <a:solidFill>
                            <a:srgbClr val="1B2236"/>
                          </a:solidFill>
                          <a:latin typeface="Calibri" pitchFamily="34" charset="0"/>
                          <a:ea typeface="Calibri" pitchFamily="34" charset="-122"/>
                          <a:cs typeface="Calibri" pitchFamily="34" charset="-120"/>
                        </a:rPr>
                        <a:t>Licenciamento de softwares Microsoft</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ctr" indent="0" marL="0">
                        <a:buNone/>
                      </a:pPr>
                      <a:r>
                        <a:rPr lang="en-US" sz="1100" b="1" dirty="0">
                          <a:solidFill>
                            <a:srgbClr val="16284D"/>
                          </a:solidFill>
                          <a:latin typeface="Calibri" pitchFamily="34" charset="0"/>
                          <a:ea typeface="Calibri" pitchFamily="34" charset="-122"/>
                          <a:cs typeface="Calibri" pitchFamily="34" charset="-120"/>
                        </a:rPr>
                        <a:t>PARTICIPE</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E3E9F4"/>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PERP 12/25 – Microsoft</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00" dirty="0">
                          <a:solidFill>
                            <a:srgbClr val="1B2236"/>
                          </a:solidFill>
                          <a:latin typeface="Calibri" pitchFamily="34" charset="0"/>
                          <a:ea typeface="Calibri" pitchFamily="34" charset="-122"/>
                          <a:cs typeface="Calibri" pitchFamily="34" charset="-120"/>
                        </a:rPr>
                        <a:t>Participação no PERP 12/25 – Microsoft</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bl>
          </a:graphicData>
        </a:graphic>
      </p:graphicFrame>
      <p:sp>
        <p:nvSpPr>
          <p:cNvPr id="7" name="Text 4"/>
          <p:cNvSpPr txBox="1"/>
          <p:nvPr/>
        </p:nvSpPr>
        <p:spPr>
          <a:xfrm>
            <a:off x="685800" y="5577840"/>
            <a:ext cx="10820095" cy="594360"/>
          </a:xfrm>
          <a:prstGeom prst="rect">
            <a:avLst/>
          </a:prstGeom>
          <a:noFill/>
          <a:ln/>
        </p:spPr>
        <p:txBody>
          <a:bodyPr wrap="square" lIns="0" tIns="0" rIns="0" bIns="0" rtlCol="0" anchor="t"/>
          <a:lstStyle/>
          <a:p>
            <a:pPr indent="0" marL="0">
              <a:buNone/>
            </a:pPr>
            <a:r>
              <a:rPr lang="en-US" sz="1250" b="1" dirty="0">
                <a:solidFill>
                  <a:srgbClr val="16284D"/>
                </a:solidFill>
                <a:latin typeface="Calibri" pitchFamily="34" charset="0"/>
                <a:ea typeface="Calibri" pitchFamily="34" charset="-122"/>
                <a:cs typeface="Calibri" pitchFamily="34" charset="-120"/>
              </a:rPr>
              <a:t>Demais registros: </a:t>
            </a:r>
            <a:pPr indent="0" marL="0">
              <a:buNone/>
            </a:pPr>
            <a:r>
              <a:rPr lang="en-US" sz="1250" dirty="0">
                <a:solidFill>
                  <a:srgbClr val="3E3A30"/>
                </a:solidFill>
                <a:latin typeface="Calibri" pitchFamily="34" charset="0"/>
                <a:ea typeface="Calibri" pitchFamily="34" charset="-122"/>
                <a:cs typeface="Calibri" pitchFamily="34" charset="-120"/>
              </a:rPr>
              <a:t>item 01 com status em branco e observação que cita a ARP 032/2026 SEAD/MA; item 05 com dispensa (art. 75 da Lei 14.133); itens 04, 08, 09, 11, 15, 16, 17 e 20 com a anotação “Será realizada nova pesquisa de Atas”.</a:t>
            </a:r>
            <a:endParaRPr lang="en-US" sz="1250" dirty="0"/>
          </a:p>
        </p:txBody>
      </p:sp>
      <p:sp>
        <p:nvSpPr>
          <p:cNvPr id="8" name="Shape 5"/>
          <p:cNvSpPr/>
          <p:nvPr/>
        </p:nvSpPr>
        <p:spPr>
          <a:xfrm>
            <a:off x="685800" y="6355080"/>
            <a:ext cx="10820095" cy="0"/>
          </a:xfrm>
          <a:prstGeom prst="line">
            <a:avLst/>
          </a:prstGeom>
          <a:noFill/>
          <a:ln w="6350">
            <a:solidFill>
              <a:srgbClr val="D9D2C3"/>
            </a:solidFill>
            <a:prstDash val="solid"/>
          </a:ln>
        </p:spPr>
      </p:sp>
      <p:sp>
        <p:nvSpPr>
          <p:cNvPr id="9" name="Text 6"/>
          <p:cNvSpPr txBox="1"/>
          <p:nvPr/>
        </p:nvSpPr>
        <p:spPr>
          <a:xfrm>
            <a:off x="685800" y="6419088"/>
            <a:ext cx="9601200" cy="256032"/>
          </a:xfrm>
          <a:prstGeom prst="rect">
            <a:avLst/>
          </a:prstGeom>
          <a:noFill/>
          <a:ln/>
        </p:spPr>
        <p:txBody>
          <a:bodyPr wrap="square" lIns="0" tIns="0" rIns="0" bIns="0" rtlCol="0" anchor="ctr"/>
          <a:lstStyle/>
          <a:p>
            <a:pPr indent="0" marL="0">
              <a:buNone/>
            </a:pPr>
            <a:r>
              <a:rPr lang="en-US" sz="1000" dirty="0">
                <a:solidFill>
                  <a:srgbClr val="6E6758"/>
                </a:solidFill>
                <a:latin typeface="Calibri" pitchFamily="34" charset="0"/>
                <a:ea typeface="Calibri" pitchFamily="34" charset="-122"/>
                <a:cs typeface="Calibri" pitchFamily="34" charset="-120"/>
              </a:rPr>
              <a:t>GT PROPAG · Compras Públicas · Fonte: Planilha de andamento do GT PROPAG · posição de 25/09/2026</a:t>
            </a:r>
            <a:endParaRPr lang="en-US" sz="1000" dirty="0"/>
          </a:p>
        </p:txBody>
      </p:sp>
      <p:sp>
        <p:nvSpPr>
          <p:cNvPr id="10" name="Text 7"/>
          <p:cNvSpPr txBox="1"/>
          <p:nvPr/>
        </p:nvSpPr>
        <p:spPr>
          <a:xfrm>
            <a:off x="10591495" y="6419088"/>
            <a:ext cx="914400" cy="256032"/>
          </a:xfrm>
          <a:prstGeom prst="rect">
            <a:avLst/>
          </a:prstGeom>
          <a:noFill/>
          <a:ln/>
        </p:spPr>
        <p:txBody>
          <a:bodyPr wrap="square" lIns="0" tIns="0" rIns="0" bIns="0" rtlCol="0" anchor="ctr"/>
          <a:lstStyle/>
          <a:p>
            <a:pPr algn="r" indent="0" marL="0">
              <a:buNone/>
            </a:pPr>
            <a:r>
              <a:rPr lang="en-US" sz="1050" b="1" dirty="0">
                <a:solidFill>
                  <a:srgbClr val="16284D"/>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8962F"/>
          </a:solidFill>
          <a:ln w="12700">
            <a:solidFill>
              <a:srgbClr val="C8962F"/>
            </a:solidFill>
            <a:prstDash val="solid"/>
          </a:ln>
        </p:spPr>
      </p:sp>
      <p:sp>
        <p:nvSpPr>
          <p:cNvPr id="3" name="Text 1"/>
          <p:cNvSpPr txBox="1"/>
          <p:nvPr/>
        </p:nvSpPr>
        <p:spPr>
          <a:xfrm>
            <a:off x="685800" y="457200"/>
            <a:ext cx="10820095" cy="274320"/>
          </a:xfrm>
          <a:prstGeom prst="rect">
            <a:avLst/>
          </a:prstGeom>
          <a:noFill/>
          <a:ln/>
        </p:spPr>
        <p:txBody>
          <a:bodyPr wrap="square" lIns="0" tIns="0" rIns="0" bIns="0" rtlCol="0" anchor="ctr"/>
          <a:lstStyle/>
          <a:p>
            <a:pPr indent="0" marL="0">
              <a:buNone/>
            </a:pPr>
            <a:r>
              <a:rPr lang="en-US" sz="1150" b="1" spc="300" kern="0" dirty="0">
                <a:solidFill>
                  <a:srgbClr val="8A5F0D"/>
                </a:solidFill>
                <a:latin typeface="Calibri" pitchFamily="34" charset="0"/>
                <a:ea typeface="Calibri" pitchFamily="34" charset="-122"/>
                <a:cs typeface="Calibri" pitchFamily="34" charset="-120"/>
              </a:rPr>
              <a:t>VALOR ESTIMADO</a:t>
            </a:r>
            <a:endParaRPr lang="en-US" sz="1150" dirty="0"/>
          </a:p>
        </p:txBody>
      </p:sp>
      <p:sp>
        <p:nvSpPr>
          <p:cNvPr id="4" name="Text 2"/>
          <p:cNvSpPr txBox="1"/>
          <p:nvPr/>
        </p:nvSpPr>
        <p:spPr>
          <a:xfrm>
            <a:off x="685800" y="749808"/>
            <a:ext cx="10820095" cy="658368"/>
          </a:xfrm>
          <a:prstGeom prst="rect">
            <a:avLst/>
          </a:prstGeom>
          <a:noFill/>
          <a:ln/>
        </p:spPr>
        <p:txBody>
          <a:bodyPr wrap="square" lIns="0" tIns="0" rIns="0" bIns="0" rtlCol="0" anchor="t"/>
          <a:lstStyle/>
          <a:p>
            <a:pPr indent="0" marL="0">
              <a:buNone/>
            </a:pPr>
            <a:r>
              <a:rPr lang="en-US" sz="3200" b="1" dirty="0">
                <a:solidFill>
                  <a:srgbClr val="16284D"/>
                </a:solidFill>
                <a:latin typeface="Cambria" pitchFamily="34" charset="0"/>
                <a:ea typeface="Cambria" pitchFamily="34" charset="-122"/>
                <a:cs typeface="Cambria" pitchFamily="34" charset="-120"/>
              </a:rPr>
              <a:t>Valor registrado em 3 das 20 demandas</a:t>
            </a:r>
            <a:endParaRPr lang="en-US" sz="3200" dirty="0"/>
          </a:p>
        </p:txBody>
      </p:sp>
      <p:sp>
        <p:nvSpPr>
          <p:cNvPr id="5" name="Shape 3"/>
          <p:cNvSpPr/>
          <p:nvPr/>
        </p:nvSpPr>
        <p:spPr>
          <a:xfrm>
            <a:off x="685800" y="1481328"/>
            <a:ext cx="1005840" cy="0"/>
          </a:xfrm>
          <a:prstGeom prst="line">
            <a:avLst/>
          </a:prstGeom>
          <a:noFill/>
          <a:ln w="25400">
            <a:solidFill>
              <a:srgbClr val="C8962F"/>
            </a:solidFill>
            <a:prstDash val="solid"/>
          </a:ln>
        </p:spPr>
      </p:sp>
      <p:sp>
        <p:nvSpPr>
          <p:cNvPr id="6" name="Text 4"/>
          <p:cNvSpPr txBox="1"/>
          <p:nvPr/>
        </p:nvSpPr>
        <p:spPr>
          <a:xfrm>
            <a:off x="685800" y="2011680"/>
            <a:ext cx="3246120" cy="548640"/>
          </a:xfrm>
          <a:prstGeom prst="rect">
            <a:avLst/>
          </a:prstGeom>
          <a:noFill/>
          <a:ln/>
        </p:spPr>
        <p:txBody>
          <a:bodyPr wrap="square" lIns="0" tIns="0" rIns="0" bIns="0" rtlCol="0" anchor="ctr"/>
          <a:lstStyle/>
          <a:p>
            <a:pPr algn="r" indent="0" marL="0">
              <a:buNone/>
            </a:pPr>
            <a:r>
              <a:rPr lang="en-US" sz="1350" b="1" dirty="0">
                <a:solidFill>
                  <a:srgbClr val="1B2236"/>
                </a:solidFill>
                <a:latin typeface="Calibri" pitchFamily="34" charset="0"/>
                <a:ea typeface="Calibri" pitchFamily="34" charset="-122"/>
                <a:cs typeface="Calibri" pitchFamily="34" charset="-120"/>
              </a:rPr>
              <a:t>01 · Chromebooks</a:t>
            </a:r>
            <a:endParaRPr lang="en-US" sz="1350" dirty="0"/>
          </a:p>
        </p:txBody>
      </p:sp>
      <p:sp>
        <p:nvSpPr>
          <p:cNvPr id="7" name="Shape 5"/>
          <p:cNvSpPr/>
          <p:nvPr/>
        </p:nvSpPr>
        <p:spPr>
          <a:xfrm>
            <a:off x="4069080" y="2057400"/>
            <a:ext cx="2926080" cy="457200"/>
          </a:xfrm>
          <a:prstGeom prst="rect">
            <a:avLst/>
          </a:prstGeom>
          <a:solidFill>
            <a:srgbClr val="16284D"/>
          </a:solidFill>
          <a:ln w="12700">
            <a:solidFill>
              <a:srgbClr val="16284D"/>
            </a:solidFill>
            <a:prstDash val="solid"/>
          </a:ln>
        </p:spPr>
      </p:sp>
      <p:sp>
        <p:nvSpPr>
          <p:cNvPr id="8" name="Text 6"/>
          <p:cNvSpPr txBox="1"/>
          <p:nvPr/>
        </p:nvSpPr>
        <p:spPr>
          <a:xfrm>
            <a:off x="7104888" y="2011680"/>
            <a:ext cx="1463040" cy="548640"/>
          </a:xfrm>
          <a:prstGeom prst="rect">
            <a:avLst/>
          </a:prstGeom>
          <a:noFill/>
          <a:ln/>
        </p:spPr>
        <p:txBody>
          <a:bodyPr wrap="square" lIns="0" tIns="0" rIns="0" bIns="0" rtlCol="0" anchor="ctr"/>
          <a:lstStyle/>
          <a:p>
            <a:pPr indent="0" marL="0">
              <a:buNone/>
            </a:pPr>
            <a:r>
              <a:rPr lang="en-US" sz="1350" b="1" dirty="0">
                <a:solidFill>
                  <a:srgbClr val="16284D"/>
                </a:solidFill>
                <a:latin typeface="Calibri" pitchFamily="34" charset="0"/>
                <a:ea typeface="Calibri" pitchFamily="34" charset="-122"/>
                <a:cs typeface="Calibri" pitchFamily="34" charset="-120"/>
              </a:rPr>
              <a:t>R$ 64,82 mi</a:t>
            </a:r>
            <a:endParaRPr lang="en-US" sz="1350" dirty="0"/>
          </a:p>
        </p:txBody>
      </p:sp>
      <p:sp>
        <p:nvSpPr>
          <p:cNvPr id="9" name="Text 7"/>
          <p:cNvSpPr txBox="1"/>
          <p:nvPr/>
        </p:nvSpPr>
        <p:spPr>
          <a:xfrm>
            <a:off x="685800" y="3017520"/>
            <a:ext cx="3246120" cy="548640"/>
          </a:xfrm>
          <a:prstGeom prst="rect">
            <a:avLst/>
          </a:prstGeom>
          <a:noFill/>
          <a:ln/>
        </p:spPr>
        <p:txBody>
          <a:bodyPr wrap="square" lIns="0" tIns="0" rIns="0" bIns="0" rtlCol="0" anchor="ctr"/>
          <a:lstStyle/>
          <a:p>
            <a:pPr algn="r" indent="0" marL="0">
              <a:buNone/>
            </a:pPr>
            <a:r>
              <a:rPr lang="en-US" sz="1350" b="1" dirty="0">
                <a:solidFill>
                  <a:srgbClr val="1B2236"/>
                </a:solidFill>
                <a:latin typeface="Calibri" pitchFamily="34" charset="0"/>
                <a:ea typeface="Calibri" pitchFamily="34" charset="-122"/>
                <a:cs typeface="Calibri" pitchFamily="34" charset="-120"/>
              </a:rPr>
              <a:t>10 · Appliances para backup</a:t>
            </a:r>
            <a:endParaRPr lang="en-US" sz="1350" dirty="0"/>
          </a:p>
        </p:txBody>
      </p:sp>
      <p:sp>
        <p:nvSpPr>
          <p:cNvPr id="10" name="Shape 8"/>
          <p:cNvSpPr/>
          <p:nvPr/>
        </p:nvSpPr>
        <p:spPr>
          <a:xfrm>
            <a:off x="4069080" y="3063240"/>
            <a:ext cx="160666" cy="457200"/>
          </a:xfrm>
          <a:prstGeom prst="rect">
            <a:avLst/>
          </a:prstGeom>
          <a:solidFill>
            <a:srgbClr val="16284D"/>
          </a:solidFill>
          <a:ln w="12700">
            <a:solidFill>
              <a:srgbClr val="16284D"/>
            </a:solidFill>
            <a:prstDash val="solid"/>
          </a:ln>
        </p:spPr>
      </p:sp>
      <p:sp>
        <p:nvSpPr>
          <p:cNvPr id="11" name="Text 9"/>
          <p:cNvSpPr txBox="1"/>
          <p:nvPr/>
        </p:nvSpPr>
        <p:spPr>
          <a:xfrm>
            <a:off x="4339474" y="3017520"/>
            <a:ext cx="1463040" cy="548640"/>
          </a:xfrm>
          <a:prstGeom prst="rect">
            <a:avLst/>
          </a:prstGeom>
          <a:noFill/>
          <a:ln/>
        </p:spPr>
        <p:txBody>
          <a:bodyPr wrap="square" lIns="0" tIns="0" rIns="0" bIns="0" rtlCol="0" anchor="ctr"/>
          <a:lstStyle/>
          <a:p>
            <a:pPr indent="0" marL="0">
              <a:buNone/>
            </a:pPr>
            <a:r>
              <a:rPr lang="en-US" sz="1350" b="1" dirty="0">
                <a:solidFill>
                  <a:srgbClr val="16284D"/>
                </a:solidFill>
                <a:latin typeface="Calibri" pitchFamily="34" charset="0"/>
                <a:ea typeface="Calibri" pitchFamily="34" charset="-122"/>
                <a:cs typeface="Calibri" pitchFamily="34" charset="-120"/>
              </a:rPr>
              <a:t>R$ 3,56 mi</a:t>
            </a:r>
            <a:endParaRPr lang="en-US" sz="1350" dirty="0"/>
          </a:p>
        </p:txBody>
      </p:sp>
      <p:sp>
        <p:nvSpPr>
          <p:cNvPr id="12" name="Text 10"/>
          <p:cNvSpPr txBox="1"/>
          <p:nvPr/>
        </p:nvSpPr>
        <p:spPr>
          <a:xfrm>
            <a:off x="685800" y="4023360"/>
            <a:ext cx="3246120" cy="548640"/>
          </a:xfrm>
          <a:prstGeom prst="rect">
            <a:avLst/>
          </a:prstGeom>
          <a:noFill/>
          <a:ln/>
        </p:spPr>
        <p:txBody>
          <a:bodyPr wrap="square" lIns="0" tIns="0" rIns="0" bIns="0" rtlCol="0" anchor="ctr"/>
          <a:lstStyle/>
          <a:p>
            <a:pPr algn="r" indent="0" marL="0">
              <a:buNone/>
            </a:pPr>
            <a:r>
              <a:rPr lang="en-US" sz="1350" b="1" dirty="0">
                <a:solidFill>
                  <a:srgbClr val="1B2236"/>
                </a:solidFill>
                <a:latin typeface="Calibri" pitchFamily="34" charset="0"/>
                <a:ea typeface="Calibri" pitchFamily="34" charset="-122"/>
                <a:cs typeface="Calibri" pitchFamily="34" charset="-120"/>
              </a:rPr>
              <a:t>02 · Softwares de edição e arquitetura</a:t>
            </a:r>
            <a:endParaRPr lang="en-US" sz="1350" dirty="0"/>
          </a:p>
        </p:txBody>
      </p:sp>
      <p:sp>
        <p:nvSpPr>
          <p:cNvPr id="13" name="Shape 11"/>
          <p:cNvSpPr/>
          <p:nvPr/>
        </p:nvSpPr>
        <p:spPr>
          <a:xfrm>
            <a:off x="4069080" y="4069080"/>
            <a:ext cx="58871" cy="457200"/>
          </a:xfrm>
          <a:prstGeom prst="rect">
            <a:avLst/>
          </a:prstGeom>
          <a:solidFill>
            <a:srgbClr val="16284D"/>
          </a:solidFill>
          <a:ln w="12700">
            <a:solidFill>
              <a:srgbClr val="16284D"/>
            </a:solidFill>
            <a:prstDash val="solid"/>
          </a:ln>
        </p:spPr>
      </p:sp>
      <p:sp>
        <p:nvSpPr>
          <p:cNvPr id="14" name="Text 12"/>
          <p:cNvSpPr txBox="1"/>
          <p:nvPr/>
        </p:nvSpPr>
        <p:spPr>
          <a:xfrm>
            <a:off x="4237679" y="4023360"/>
            <a:ext cx="1463040" cy="548640"/>
          </a:xfrm>
          <a:prstGeom prst="rect">
            <a:avLst/>
          </a:prstGeom>
          <a:noFill/>
          <a:ln/>
        </p:spPr>
        <p:txBody>
          <a:bodyPr wrap="square" lIns="0" tIns="0" rIns="0" bIns="0" rtlCol="0" anchor="ctr"/>
          <a:lstStyle/>
          <a:p>
            <a:pPr indent="0" marL="0">
              <a:buNone/>
            </a:pPr>
            <a:r>
              <a:rPr lang="en-US" sz="1350" b="1" dirty="0">
                <a:solidFill>
                  <a:srgbClr val="16284D"/>
                </a:solidFill>
                <a:latin typeface="Calibri" pitchFamily="34" charset="0"/>
                <a:ea typeface="Calibri" pitchFamily="34" charset="-122"/>
                <a:cs typeface="Calibri" pitchFamily="34" charset="-120"/>
              </a:rPr>
              <a:t>R$ 1,30 mi</a:t>
            </a:r>
            <a:endParaRPr lang="en-US" sz="1350" dirty="0"/>
          </a:p>
        </p:txBody>
      </p:sp>
      <p:sp>
        <p:nvSpPr>
          <p:cNvPr id="15" name="Shape 13"/>
          <p:cNvSpPr/>
          <p:nvPr/>
        </p:nvSpPr>
        <p:spPr>
          <a:xfrm>
            <a:off x="4069080" y="1920240"/>
            <a:ext cx="0" cy="2926080"/>
          </a:xfrm>
          <a:prstGeom prst="line">
            <a:avLst/>
          </a:prstGeom>
          <a:noFill/>
          <a:ln w="9525">
            <a:solidFill>
              <a:srgbClr val="CFC7B6"/>
            </a:solidFill>
            <a:prstDash val="solid"/>
          </a:ln>
        </p:spPr>
      </p:sp>
      <p:sp>
        <p:nvSpPr>
          <p:cNvPr id="16" name="Shape 14"/>
          <p:cNvSpPr/>
          <p:nvPr/>
        </p:nvSpPr>
        <p:spPr>
          <a:xfrm>
            <a:off x="8229600" y="1783080"/>
            <a:ext cx="3276295" cy="3200400"/>
          </a:xfrm>
          <a:prstGeom prst="rect">
            <a:avLst/>
          </a:prstGeom>
          <a:solidFill>
            <a:srgbClr val="FFFFFF"/>
          </a:solidFill>
          <a:ln w="9525">
            <a:solidFill>
              <a:srgbClr val="E2DCCF"/>
            </a:solidFill>
            <a:prstDash val="solid"/>
          </a:ln>
          <a:effectLst>
            <a:outerShdw sx="100000" sy="100000" kx="0" ky="0" algn="bl" rotWithShape="0" blurRad="101600" dist="25400" dir="5400000">
              <a:srgbClr val="16284D">
                <a:alpha val="7000"/>
              </a:srgbClr>
            </a:outerShdw>
          </a:effectLst>
        </p:spPr>
      </p:sp>
      <p:sp>
        <p:nvSpPr>
          <p:cNvPr id="17" name="Text 15"/>
          <p:cNvSpPr txBox="1"/>
          <p:nvPr/>
        </p:nvSpPr>
        <p:spPr>
          <a:xfrm>
            <a:off x="8503920" y="1965960"/>
            <a:ext cx="2926080" cy="320040"/>
          </a:xfrm>
          <a:prstGeom prst="rect">
            <a:avLst/>
          </a:prstGeom>
          <a:noFill/>
          <a:ln/>
        </p:spPr>
        <p:txBody>
          <a:bodyPr wrap="square" lIns="0" tIns="0" rIns="0" bIns="0" rtlCol="0" anchor="ctr"/>
          <a:lstStyle/>
          <a:p>
            <a:pPr indent="0" marL="0">
              <a:buNone/>
            </a:pPr>
            <a:r>
              <a:rPr lang="en-US" sz="1300" b="1" dirty="0">
                <a:solidFill>
                  <a:srgbClr val="5F5A4E"/>
                </a:solidFill>
                <a:latin typeface="Calibri" pitchFamily="34" charset="0"/>
                <a:ea typeface="Calibri" pitchFamily="34" charset="-122"/>
                <a:cs typeface="Calibri" pitchFamily="34" charset="-120"/>
              </a:rPr>
              <a:t>Valor total registrado</a:t>
            </a:r>
            <a:endParaRPr lang="en-US" sz="1300" dirty="0"/>
          </a:p>
        </p:txBody>
      </p:sp>
      <p:sp>
        <p:nvSpPr>
          <p:cNvPr id="18" name="Text 16"/>
          <p:cNvSpPr txBox="1"/>
          <p:nvPr/>
        </p:nvSpPr>
        <p:spPr>
          <a:xfrm>
            <a:off x="8503920" y="2286000"/>
            <a:ext cx="3017520" cy="731520"/>
          </a:xfrm>
          <a:prstGeom prst="rect">
            <a:avLst/>
          </a:prstGeom>
          <a:noFill/>
          <a:ln/>
        </p:spPr>
        <p:txBody>
          <a:bodyPr wrap="square" lIns="0" tIns="0" rIns="0" bIns="0" rtlCol="0" anchor="ctr"/>
          <a:lstStyle/>
          <a:p>
            <a:pPr indent="0" marL="0">
              <a:buNone/>
            </a:pPr>
            <a:r>
              <a:rPr lang="en-US" sz="3400" b="1" dirty="0">
                <a:solidFill>
                  <a:srgbClr val="16284D"/>
                </a:solidFill>
                <a:latin typeface="Cambria" pitchFamily="34" charset="0"/>
                <a:ea typeface="Cambria" pitchFamily="34" charset="-122"/>
                <a:cs typeface="Cambria" pitchFamily="34" charset="-120"/>
              </a:rPr>
              <a:t>R$ 69,68 mi</a:t>
            </a:r>
            <a:endParaRPr lang="en-US" sz="3400" dirty="0"/>
          </a:p>
        </p:txBody>
      </p:sp>
      <p:sp>
        <p:nvSpPr>
          <p:cNvPr id="19" name="Text 17"/>
          <p:cNvSpPr txBox="1"/>
          <p:nvPr/>
        </p:nvSpPr>
        <p:spPr>
          <a:xfrm>
            <a:off x="8503920" y="3017520"/>
            <a:ext cx="3017520" cy="274320"/>
          </a:xfrm>
          <a:prstGeom prst="rect">
            <a:avLst/>
          </a:prstGeom>
          <a:noFill/>
          <a:ln/>
        </p:spPr>
        <p:txBody>
          <a:bodyPr wrap="square" lIns="0" tIns="0" rIns="0" bIns="0" rtlCol="0" anchor="ctr"/>
          <a:lstStyle/>
          <a:p>
            <a:pPr indent="0" marL="0">
              <a:buNone/>
            </a:pPr>
            <a:r>
              <a:rPr lang="en-US" sz="1200" dirty="0">
                <a:solidFill>
                  <a:srgbClr val="5F5A4E"/>
                </a:solidFill>
                <a:latin typeface="Calibri" pitchFamily="34" charset="0"/>
                <a:ea typeface="Calibri" pitchFamily="34" charset="-122"/>
                <a:cs typeface="Calibri" pitchFamily="34" charset="-120"/>
              </a:rPr>
              <a:t>R$ 69.681.145,11</a:t>
            </a:r>
            <a:endParaRPr lang="en-US" sz="1200" dirty="0"/>
          </a:p>
        </p:txBody>
      </p:sp>
      <p:sp>
        <p:nvSpPr>
          <p:cNvPr id="20" name="Shape 18"/>
          <p:cNvSpPr/>
          <p:nvPr/>
        </p:nvSpPr>
        <p:spPr>
          <a:xfrm>
            <a:off x="8503920" y="3474720"/>
            <a:ext cx="2743200" cy="0"/>
          </a:xfrm>
          <a:prstGeom prst="line">
            <a:avLst/>
          </a:prstGeom>
          <a:noFill/>
          <a:ln w="9525">
            <a:solidFill>
              <a:srgbClr val="E2DCCF"/>
            </a:solidFill>
            <a:prstDash val="solid"/>
          </a:ln>
        </p:spPr>
      </p:sp>
      <p:sp>
        <p:nvSpPr>
          <p:cNvPr id="21" name="Text 19"/>
          <p:cNvSpPr txBox="1"/>
          <p:nvPr/>
        </p:nvSpPr>
        <p:spPr>
          <a:xfrm>
            <a:off x="8503920" y="3611880"/>
            <a:ext cx="3017520" cy="548640"/>
          </a:xfrm>
          <a:prstGeom prst="rect">
            <a:avLst/>
          </a:prstGeom>
          <a:noFill/>
          <a:ln/>
        </p:spPr>
        <p:txBody>
          <a:bodyPr wrap="square" lIns="0" tIns="0" rIns="0" bIns="0" rtlCol="0" anchor="ctr"/>
          <a:lstStyle/>
          <a:p>
            <a:pPr indent="0" marL="0">
              <a:buNone/>
            </a:pPr>
            <a:r>
              <a:rPr lang="en-US" sz="3000" b="1" dirty="0">
                <a:solidFill>
                  <a:srgbClr val="A8322A"/>
                </a:solidFill>
                <a:latin typeface="Cambria" pitchFamily="34" charset="0"/>
                <a:ea typeface="Cambria" pitchFamily="34" charset="-122"/>
                <a:cs typeface="Cambria" pitchFamily="34" charset="-120"/>
              </a:rPr>
              <a:t>17</a:t>
            </a:r>
            <a:pPr indent="0" marL="0">
              <a:buNone/>
            </a:pPr>
            <a:r>
              <a:rPr lang="en-US" sz="1300" b="1" dirty="0">
                <a:solidFill>
                  <a:srgbClr val="1B2236"/>
                </a:solidFill>
                <a:latin typeface="Calibri" pitchFamily="34" charset="0"/>
                <a:ea typeface="Calibri" pitchFamily="34" charset="-122"/>
                <a:cs typeface="Calibri" pitchFamily="34" charset="-120"/>
              </a:rPr>
              <a:t>  demandas sem valor estimado</a:t>
            </a:r>
            <a:endParaRPr lang="en-US" sz="3000" dirty="0"/>
          </a:p>
        </p:txBody>
      </p:sp>
      <p:sp>
        <p:nvSpPr>
          <p:cNvPr id="22" name="Text 20"/>
          <p:cNvSpPr txBox="1"/>
          <p:nvPr/>
        </p:nvSpPr>
        <p:spPr>
          <a:xfrm>
            <a:off x="8503920" y="4206240"/>
            <a:ext cx="3017520" cy="365760"/>
          </a:xfrm>
          <a:prstGeom prst="rect">
            <a:avLst/>
          </a:prstGeom>
          <a:noFill/>
          <a:ln/>
        </p:spPr>
        <p:txBody>
          <a:bodyPr wrap="square" lIns="0" tIns="0" rIns="0" bIns="0" rtlCol="0" anchor="ctr"/>
          <a:lstStyle/>
          <a:p>
            <a:pPr indent="0" marL="0">
              <a:buNone/>
            </a:pPr>
            <a:r>
              <a:rPr lang="en-US" sz="1200" dirty="0">
                <a:solidFill>
                  <a:srgbClr val="5F5A4E"/>
                </a:solidFill>
                <a:latin typeface="Calibri" pitchFamily="34" charset="0"/>
                <a:ea typeface="Calibri" pitchFamily="34" charset="-122"/>
                <a:cs typeface="Calibri" pitchFamily="34" charset="-120"/>
              </a:rPr>
              <a:t>Itens 03 a 09 e 11 a 20.</a:t>
            </a:r>
            <a:endParaRPr lang="en-US" sz="1200" dirty="0"/>
          </a:p>
        </p:txBody>
      </p:sp>
      <p:sp>
        <p:nvSpPr>
          <p:cNvPr id="23" name="Text 21"/>
          <p:cNvSpPr txBox="1"/>
          <p:nvPr/>
        </p:nvSpPr>
        <p:spPr>
          <a:xfrm>
            <a:off x="685800" y="5257800"/>
            <a:ext cx="10820095" cy="777240"/>
          </a:xfrm>
          <a:prstGeom prst="rect">
            <a:avLst/>
          </a:prstGeom>
          <a:noFill/>
          <a:ln/>
        </p:spPr>
        <p:txBody>
          <a:bodyPr wrap="square" lIns="0" tIns="0" rIns="0" bIns="0" rtlCol="0" anchor="t"/>
          <a:lstStyle/>
          <a:p>
            <a:pPr indent="0" marL="0">
              <a:buNone/>
            </a:pPr>
            <a:r>
              <a:rPr lang="en-US" sz="1400" dirty="0">
                <a:solidFill>
                  <a:srgbClr val="3E3A30"/>
                </a:solidFill>
                <a:latin typeface="Calibri" pitchFamily="34" charset="0"/>
                <a:ea typeface="Calibri" pitchFamily="34" charset="-122"/>
                <a:cs typeface="Calibri" pitchFamily="34" charset="-120"/>
              </a:rPr>
              <a:t>Participação no valor registrado: Chromebooks 93% · Appliances para backup 5,1% · Softwares de edição e arquitetura 1,9%. Sem a estimativa das demais demandas, não é possível dimensionar o valor total da carteira.</a:t>
            </a:r>
            <a:endParaRPr lang="en-US" sz="1400" dirty="0"/>
          </a:p>
        </p:txBody>
      </p:sp>
      <p:sp>
        <p:nvSpPr>
          <p:cNvPr id="24" name="Shape 22"/>
          <p:cNvSpPr/>
          <p:nvPr/>
        </p:nvSpPr>
        <p:spPr>
          <a:xfrm>
            <a:off x="685800" y="6355080"/>
            <a:ext cx="10820095" cy="0"/>
          </a:xfrm>
          <a:prstGeom prst="line">
            <a:avLst/>
          </a:prstGeom>
          <a:noFill/>
          <a:ln w="6350">
            <a:solidFill>
              <a:srgbClr val="D9D2C3"/>
            </a:solidFill>
            <a:prstDash val="solid"/>
          </a:ln>
        </p:spPr>
      </p:sp>
      <p:sp>
        <p:nvSpPr>
          <p:cNvPr id="25" name="Text 23"/>
          <p:cNvSpPr txBox="1"/>
          <p:nvPr/>
        </p:nvSpPr>
        <p:spPr>
          <a:xfrm>
            <a:off x="685800" y="6419088"/>
            <a:ext cx="9601200" cy="256032"/>
          </a:xfrm>
          <a:prstGeom prst="rect">
            <a:avLst/>
          </a:prstGeom>
          <a:noFill/>
          <a:ln/>
        </p:spPr>
        <p:txBody>
          <a:bodyPr wrap="square" lIns="0" tIns="0" rIns="0" bIns="0" rtlCol="0" anchor="ctr"/>
          <a:lstStyle/>
          <a:p>
            <a:pPr indent="0" marL="0">
              <a:buNone/>
            </a:pPr>
            <a:r>
              <a:rPr lang="en-US" sz="1000" dirty="0">
                <a:solidFill>
                  <a:srgbClr val="6E6758"/>
                </a:solidFill>
                <a:latin typeface="Calibri" pitchFamily="34" charset="0"/>
                <a:ea typeface="Calibri" pitchFamily="34" charset="-122"/>
                <a:cs typeface="Calibri" pitchFamily="34" charset="-120"/>
              </a:rPr>
              <a:t>GT PROPAG · Compras Públicas · Fonte: Planilha de andamento do GT PROPAG · posição de 25/09/2026</a:t>
            </a:r>
            <a:endParaRPr lang="en-US" sz="1000" dirty="0"/>
          </a:p>
        </p:txBody>
      </p:sp>
      <p:sp>
        <p:nvSpPr>
          <p:cNvPr id="26" name="Text 24"/>
          <p:cNvSpPr txBox="1"/>
          <p:nvPr/>
        </p:nvSpPr>
        <p:spPr>
          <a:xfrm>
            <a:off x="10591495" y="6419088"/>
            <a:ext cx="914400" cy="256032"/>
          </a:xfrm>
          <a:prstGeom prst="rect">
            <a:avLst/>
          </a:prstGeom>
          <a:noFill/>
          <a:ln/>
        </p:spPr>
        <p:txBody>
          <a:bodyPr wrap="square" lIns="0" tIns="0" rIns="0" bIns="0" rtlCol="0" anchor="ctr"/>
          <a:lstStyle/>
          <a:p>
            <a:pPr algn="r" indent="0" marL="0">
              <a:buNone/>
            </a:pPr>
            <a:r>
              <a:rPr lang="en-US" sz="1050" b="1" dirty="0">
                <a:solidFill>
                  <a:srgbClr val="16284D"/>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8962F"/>
          </a:solidFill>
          <a:ln w="12700">
            <a:solidFill>
              <a:srgbClr val="C8962F"/>
            </a:solidFill>
            <a:prstDash val="solid"/>
          </a:ln>
        </p:spPr>
      </p:sp>
      <p:sp>
        <p:nvSpPr>
          <p:cNvPr id="3" name="Text 1"/>
          <p:cNvSpPr txBox="1"/>
          <p:nvPr/>
        </p:nvSpPr>
        <p:spPr>
          <a:xfrm>
            <a:off x="685800" y="457200"/>
            <a:ext cx="10820095" cy="274320"/>
          </a:xfrm>
          <a:prstGeom prst="rect">
            <a:avLst/>
          </a:prstGeom>
          <a:noFill/>
          <a:ln/>
        </p:spPr>
        <p:txBody>
          <a:bodyPr wrap="square" lIns="0" tIns="0" rIns="0" bIns="0" rtlCol="0" anchor="ctr"/>
          <a:lstStyle/>
          <a:p>
            <a:pPr indent="0" marL="0">
              <a:buNone/>
            </a:pPr>
            <a:r>
              <a:rPr lang="en-US" sz="1150" b="1" spc="300" kern="0" dirty="0">
                <a:solidFill>
                  <a:srgbClr val="8A5F0D"/>
                </a:solidFill>
                <a:latin typeface="Calibri" pitchFamily="34" charset="0"/>
                <a:ea typeface="Calibri" pitchFamily="34" charset="-122"/>
                <a:cs typeface="Calibri" pitchFamily="34" charset="-120"/>
              </a:rPr>
              <a:t>JUSTIFICATIVAS E ANDAMENTO</a:t>
            </a:r>
            <a:endParaRPr lang="en-US" sz="1150" dirty="0"/>
          </a:p>
        </p:txBody>
      </p:sp>
      <p:sp>
        <p:nvSpPr>
          <p:cNvPr id="4" name="Text 2"/>
          <p:cNvSpPr txBox="1"/>
          <p:nvPr/>
        </p:nvSpPr>
        <p:spPr>
          <a:xfrm>
            <a:off x="685800" y="749808"/>
            <a:ext cx="10820095" cy="658368"/>
          </a:xfrm>
          <a:prstGeom prst="rect">
            <a:avLst/>
          </a:prstGeom>
          <a:noFill/>
          <a:ln/>
        </p:spPr>
        <p:txBody>
          <a:bodyPr wrap="square" lIns="0" tIns="0" rIns="0" bIns="0" rtlCol="0" anchor="t"/>
          <a:lstStyle/>
          <a:p>
            <a:pPr indent="0" marL="0">
              <a:buNone/>
            </a:pPr>
            <a:r>
              <a:rPr lang="en-US" sz="3200" b="1" dirty="0">
                <a:solidFill>
                  <a:srgbClr val="16284D"/>
                </a:solidFill>
                <a:latin typeface="Cambria" pitchFamily="34" charset="0"/>
                <a:ea typeface="Cambria" pitchFamily="34" charset="-122"/>
                <a:cs typeface="Cambria" pitchFamily="34" charset="-120"/>
              </a:rPr>
              <a:t>Situação das justificativas das áreas demandantes</a:t>
            </a:r>
            <a:endParaRPr lang="en-US" sz="3200" dirty="0"/>
          </a:p>
        </p:txBody>
      </p:sp>
      <p:sp>
        <p:nvSpPr>
          <p:cNvPr id="5" name="Shape 3"/>
          <p:cNvSpPr/>
          <p:nvPr/>
        </p:nvSpPr>
        <p:spPr>
          <a:xfrm>
            <a:off x="685800" y="1481328"/>
            <a:ext cx="1005840" cy="0"/>
          </a:xfrm>
          <a:prstGeom prst="line">
            <a:avLst/>
          </a:prstGeom>
          <a:noFill/>
          <a:ln w="25400">
            <a:solidFill>
              <a:srgbClr val="C8962F"/>
            </a:solidFill>
            <a:prstDash val="solid"/>
          </a:ln>
        </p:spPr>
      </p:sp>
      <p:sp>
        <p:nvSpPr>
          <p:cNvPr id="6" name="Shape 4"/>
          <p:cNvSpPr/>
          <p:nvPr/>
        </p:nvSpPr>
        <p:spPr>
          <a:xfrm>
            <a:off x="685800" y="1856232"/>
            <a:ext cx="822960" cy="530352"/>
          </a:xfrm>
          <a:prstGeom prst="rect">
            <a:avLst/>
          </a:prstGeom>
          <a:solidFill>
            <a:srgbClr val="16284D"/>
          </a:solidFill>
          <a:ln w="12700">
            <a:solidFill>
              <a:srgbClr val="16284D"/>
            </a:solidFill>
            <a:prstDash val="solid"/>
          </a:ln>
        </p:spPr>
      </p:sp>
      <p:sp>
        <p:nvSpPr>
          <p:cNvPr id="7" name="Text 5"/>
          <p:cNvSpPr txBox="1"/>
          <p:nvPr/>
        </p:nvSpPr>
        <p:spPr>
          <a:xfrm>
            <a:off x="685800" y="1856232"/>
            <a:ext cx="822960"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8" name="Text 6"/>
          <p:cNvSpPr txBox="1"/>
          <p:nvPr/>
        </p:nvSpPr>
        <p:spPr>
          <a:xfrm>
            <a:off x="1691640" y="1783080"/>
            <a:ext cx="3108960" cy="676656"/>
          </a:xfrm>
          <a:prstGeom prst="rect">
            <a:avLst/>
          </a:prstGeom>
          <a:noFill/>
          <a:ln/>
        </p:spPr>
        <p:txBody>
          <a:bodyPr wrap="square" lIns="0" tIns="0" rIns="0" bIns="0" rtlCol="0" anchor="ctr"/>
          <a:lstStyle/>
          <a:p>
            <a:pPr indent="0" marL="0">
              <a:buNone/>
            </a:pPr>
            <a:r>
              <a:rPr lang="en-US" sz="1500" b="1" dirty="0">
                <a:solidFill>
                  <a:srgbClr val="1B2236"/>
                </a:solidFill>
                <a:latin typeface="Calibri" pitchFamily="34" charset="0"/>
                <a:ea typeface="Calibri" pitchFamily="34" charset="-122"/>
                <a:cs typeface="Calibri" pitchFamily="34" charset="-120"/>
              </a:rPr>
              <a:t>Encaminhadas para análise</a:t>
            </a:r>
            <a:endParaRPr lang="en-US" sz="1500" dirty="0"/>
          </a:p>
        </p:txBody>
      </p:sp>
      <p:sp>
        <p:nvSpPr>
          <p:cNvPr id="9" name="Text 7"/>
          <p:cNvSpPr txBox="1"/>
          <p:nvPr/>
        </p:nvSpPr>
        <p:spPr>
          <a:xfrm>
            <a:off x="4800600" y="1783080"/>
            <a:ext cx="2377440" cy="676656"/>
          </a:xfrm>
          <a:prstGeom prst="rect">
            <a:avLst/>
          </a:prstGeom>
          <a:noFill/>
          <a:ln/>
        </p:spPr>
        <p:txBody>
          <a:bodyPr wrap="square" lIns="0" tIns="0" rIns="0" bIns="0" rtlCol="0" anchor="ctr"/>
          <a:lstStyle/>
          <a:p>
            <a:pPr indent="0" marL="0">
              <a:buNone/>
            </a:pPr>
            <a:r>
              <a:rPr lang="en-US" sz="1300" b="1" dirty="0">
                <a:solidFill>
                  <a:srgbClr val="16284D"/>
                </a:solidFill>
                <a:latin typeface="Calibri" pitchFamily="34" charset="0"/>
                <a:ea typeface="Calibri" pitchFamily="34" charset="-122"/>
                <a:cs typeface="Calibri" pitchFamily="34" charset="-120"/>
              </a:rPr>
              <a:t>Itens 01, 03 e 06</a:t>
            </a:r>
            <a:endParaRPr lang="en-US" sz="1300" dirty="0"/>
          </a:p>
        </p:txBody>
      </p:sp>
      <p:sp>
        <p:nvSpPr>
          <p:cNvPr id="10" name="Text 8"/>
          <p:cNvSpPr txBox="1"/>
          <p:nvPr/>
        </p:nvSpPr>
        <p:spPr>
          <a:xfrm>
            <a:off x="7178040" y="1783080"/>
            <a:ext cx="4327855" cy="676656"/>
          </a:xfrm>
          <a:prstGeom prst="rect">
            <a:avLst/>
          </a:prstGeom>
          <a:noFill/>
          <a:ln/>
        </p:spPr>
        <p:txBody>
          <a:bodyPr wrap="square" lIns="0" tIns="0" rIns="0" bIns="0" rtlCol="0" anchor="ctr"/>
          <a:lstStyle/>
          <a:p>
            <a:pPr indent="0" marL="0">
              <a:buNone/>
            </a:pPr>
            <a:r>
              <a:rPr lang="en-US" sz="1200" dirty="0">
                <a:solidFill>
                  <a:srgbClr val="3E3A30"/>
                </a:solidFill>
                <a:latin typeface="Calibri" pitchFamily="34" charset="0"/>
                <a:ea typeface="Calibri" pitchFamily="34" charset="-122"/>
                <a:cs typeface="Calibri" pitchFamily="34" charset="-120"/>
              </a:rPr>
              <a:t>Observação: “Enviado para análise – Luene”.</a:t>
            </a:r>
            <a:endParaRPr lang="en-US" sz="1200" dirty="0"/>
          </a:p>
        </p:txBody>
      </p:sp>
      <p:sp>
        <p:nvSpPr>
          <p:cNvPr id="11" name="Shape 9"/>
          <p:cNvSpPr/>
          <p:nvPr/>
        </p:nvSpPr>
        <p:spPr>
          <a:xfrm>
            <a:off x="685800" y="2459736"/>
            <a:ext cx="10820095" cy="0"/>
          </a:xfrm>
          <a:prstGeom prst="line">
            <a:avLst/>
          </a:prstGeom>
          <a:noFill/>
          <a:ln w="6350">
            <a:solidFill>
              <a:srgbClr val="E4DED1"/>
            </a:solidFill>
            <a:prstDash val="solid"/>
          </a:ln>
        </p:spPr>
      </p:sp>
      <p:sp>
        <p:nvSpPr>
          <p:cNvPr id="12" name="Shape 10"/>
          <p:cNvSpPr/>
          <p:nvPr/>
        </p:nvSpPr>
        <p:spPr>
          <a:xfrm>
            <a:off x="685800" y="2532888"/>
            <a:ext cx="822960" cy="530352"/>
          </a:xfrm>
          <a:prstGeom prst="rect">
            <a:avLst/>
          </a:prstGeom>
          <a:solidFill>
            <a:srgbClr val="3A5184"/>
          </a:solidFill>
          <a:ln w="12700">
            <a:solidFill>
              <a:srgbClr val="3A5184"/>
            </a:solidFill>
            <a:prstDash val="solid"/>
          </a:ln>
        </p:spPr>
      </p:sp>
      <p:sp>
        <p:nvSpPr>
          <p:cNvPr id="13" name="Text 11"/>
          <p:cNvSpPr txBox="1"/>
          <p:nvPr/>
        </p:nvSpPr>
        <p:spPr>
          <a:xfrm>
            <a:off x="685800" y="2532888"/>
            <a:ext cx="822960"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14" name="Text 12"/>
          <p:cNvSpPr txBox="1"/>
          <p:nvPr/>
        </p:nvSpPr>
        <p:spPr>
          <a:xfrm>
            <a:off x="1691640" y="2459736"/>
            <a:ext cx="3108960" cy="676656"/>
          </a:xfrm>
          <a:prstGeom prst="rect">
            <a:avLst/>
          </a:prstGeom>
          <a:noFill/>
          <a:ln/>
        </p:spPr>
        <p:txBody>
          <a:bodyPr wrap="square" lIns="0" tIns="0" rIns="0" bIns="0" rtlCol="0" anchor="ctr"/>
          <a:lstStyle/>
          <a:p>
            <a:pPr indent="0" marL="0">
              <a:buNone/>
            </a:pPr>
            <a:r>
              <a:rPr lang="en-US" sz="1500" b="1" dirty="0">
                <a:solidFill>
                  <a:srgbClr val="1B2236"/>
                </a:solidFill>
                <a:latin typeface="Calibri" pitchFamily="34" charset="0"/>
                <a:ea typeface="Calibri" pitchFamily="34" charset="-122"/>
                <a:cs typeface="Calibri" pitchFamily="34" charset="-120"/>
              </a:rPr>
              <a:t>Registradas como recebidas</a:t>
            </a:r>
            <a:endParaRPr lang="en-US" sz="1500" dirty="0"/>
          </a:p>
        </p:txBody>
      </p:sp>
      <p:sp>
        <p:nvSpPr>
          <p:cNvPr id="15" name="Text 13"/>
          <p:cNvSpPr txBox="1"/>
          <p:nvPr/>
        </p:nvSpPr>
        <p:spPr>
          <a:xfrm>
            <a:off x="4800600" y="2459736"/>
            <a:ext cx="2377440" cy="676656"/>
          </a:xfrm>
          <a:prstGeom prst="rect">
            <a:avLst/>
          </a:prstGeom>
          <a:noFill/>
          <a:ln/>
        </p:spPr>
        <p:txBody>
          <a:bodyPr wrap="square" lIns="0" tIns="0" rIns="0" bIns="0" rtlCol="0" anchor="ctr"/>
          <a:lstStyle/>
          <a:p>
            <a:pPr indent="0" marL="0">
              <a:buNone/>
            </a:pPr>
            <a:r>
              <a:rPr lang="en-US" sz="1300" b="1" dirty="0">
                <a:solidFill>
                  <a:srgbClr val="16284D"/>
                </a:solidFill>
                <a:latin typeface="Calibri" pitchFamily="34" charset="0"/>
                <a:ea typeface="Calibri" pitchFamily="34" charset="-122"/>
                <a:cs typeface="Calibri" pitchFamily="34" charset="-120"/>
              </a:rPr>
              <a:t>Itens 07, 08, 10 e 20</a:t>
            </a:r>
            <a:endParaRPr lang="en-US" sz="1300" dirty="0"/>
          </a:p>
        </p:txBody>
      </p:sp>
      <p:sp>
        <p:nvSpPr>
          <p:cNvPr id="16" name="Text 14"/>
          <p:cNvSpPr txBox="1"/>
          <p:nvPr/>
        </p:nvSpPr>
        <p:spPr>
          <a:xfrm>
            <a:off x="7178040" y="2459736"/>
            <a:ext cx="4327855" cy="676656"/>
          </a:xfrm>
          <a:prstGeom prst="rect">
            <a:avLst/>
          </a:prstGeom>
          <a:noFill/>
          <a:ln/>
        </p:spPr>
        <p:txBody>
          <a:bodyPr wrap="square" lIns="0" tIns="0" rIns="0" bIns="0" rtlCol="0" anchor="ctr"/>
          <a:lstStyle/>
          <a:p>
            <a:pPr indent="0" marL="0">
              <a:buNone/>
            </a:pPr>
            <a:r>
              <a:rPr lang="en-US" sz="1200" dirty="0">
                <a:solidFill>
                  <a:srgbClr val="3E3A30"/>
                </a:solidFill>
                <a:latin typeface="Calibri" pitchFamily="34" charset="0"/>
                <a:ea typeface="Calibri" pitchFamily="34" charset="-122"/>
                <a:cs typeface="Calibri" pitchFamily="34" charset="-120"/>
              </a:rPr>
              <a:t>Itens 07, 08 e 10: “Recebido 18/10”. Item 20: “Recebido 23/09”.</a:t>
            </a:r>
            <a:endParaRPr lang="en-US" sz="1200" dirty="0"/>
          </a:p>
        </p:txBody>
      </p:sp>
      <p:sp>
        <p:nvSpPr>
          <p:cNvPr id="17" name="Shape 15"/>
          <p:cNvSpPr/>
          <p:nvPr/>
        </p:nvSpPr>
        <p:spPr>
          <a:xfrm>
            <a:off x="685800" y="3136392"/>
            <a:ext cx="10820095" cy="0"/>
          </a:xfrm>
          <a:prstGeom prst="line">
            <a:avLst/>
          </a:prstGeom>
          <a:noFill/>
          <a:ln w="6350">
            <a:solidFill>
              <a:srgbClr val="E4DED1"/>
            </a:solidFill>
            <a:prstDash val="solid"/>
          </a:ln>
        </p:spPr>
      </p:sp>
      <p:sp>
        <p:nvSpPr>
          <p:cNvPr id="18" name="Shape 16"/>
          <p:cNvSpPr/>
          <p:nvPr/>
        </p:nvSpPr>
        <p:spPr>
          <a:xfrm>
            <a:off x="685800" y="3209544"/>
            <a:ext cx="822960" cy="530352"/>
          </a:xfrm>
          <a:prstGeom prst="rect">
            <a:avLst/>
          </a:prstGeom>
          <a:solidFill>
            <a:srgbClr val="C8962F"/>
          </a:solidFill>
          <a:ln w="12700">
            <a:solidFill>
              <a:srgbClr val="C8962F"/>
            </a:solidFill>
            <a:prstDash val="solid"/>
          </a:ln>
        </p:spPr>
      </p:sp>
      <p:sp>
        <p:nvSpPr>
          <p:cNvPr id="19" name="Text 17"/>
          <p:cNvSpPr txBox="1"/>
          <p:nvPr/>
        </p:nvSpPr>
        <p:spPr>
          <a:xfrm>
            <a:off x="685800" y="3209544"/>
            <a:ext cx="822960"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20" name="Text 18"/>
          <p:cNvSpPr txBox="1"/>
          <p:nvPr/>
        </p:nvSpPr>
        <p:spPr>
          <a:xfrm>
            <a:off x="1691640" y="3136392"/>
            <a:ext cx="3108960" cy="676656"/>
          </a:xfrm>
          <a:prstGeom prst="rect">
            <a:avLst/>
          </a:prstGeom>
          <a:noFill/>
          <a:ln/>
        </p:spPr>
        <p:txBody>
          <a:bodyPr wrap="square" lIns="0" tIns="0" rIns="0" bIns="0" rtlCol="0" anchor="ctr"/>
          <a:lstStyle/>
          <a:p>
            <a:pPr indent="0" marL="0">
              <a:buNone/>
            </a:pPr>
            <a:r>
              <a:rPr lang="en-US" sz="1500" b="1" dirty="0">
                <a:solidFill>
                  <a:srgbClr val="1B2236"/>
                </a:solidFill>
                <a:latin typeface="Calibri" pitchFamily="34" charset="0"/>
                <a:ea typeface="Calibri" pitchFamily="34" charset="-122"/>
                <a:cs typeface="Calibri" pitchFamily="34" charset="-120"/>
              </a:rPr>
              <a:t>Em revisão</a:t>
            </a:r>
            <a:endParaRPr lang="en-US" sz="1500" dirty="0"/>
          </a:p>
        </p:txBody>
      </p:sp>
      <p:sp>
        <p:nvSpPr>
          <p:cNvPr id="21" name="Text 19"/>
          <p:cNvSpPr txBox="1"/>
          <p:nvPr/>
        </p:nvSpPr>
        <p:spPr>
          <a:xfrm>
            <a:off x="4800600" y="3136392"/>
            <a:ext cx="2377440" cy="676656"/>
          </a:xfrm>
          <a:prstGeom prst="rect">
            <a:avLst/>
          </a:prstGeom>
          <a:noFill/>
          <a:ln/>
        </p:spPr>
        <p:txBody>
          <a:bodyPr wrap="square" lIns="0" tIns="0" rIns="0" bIns="0" rtlCol="0" anchor="ctr"/>
          <a:lstStyle/>
          <a:p>
            <a:pPr indent="0" marL="0">
              <a:buNone/>
            </a:pPr>
            <a:r>
              <a:rPr lang="en-US" sz="1300" b="1" dirty="0">
                <a:solidFill>
                  <a:srgbClr val="16284D"/>
                </a:solidFill>
                <a:latin typeface="Calibri" pitchFamily="34" charset="0"/>
                <a:ea typeface="Calibri" pitchFamily="34" charset="-122"/>
                <a:cs typeface="Calibri" pitchFamily="34" charset="-120"/>
              </a:rPr>
              <a:t>Itens 02</a:t>
            </a:r>
            <a:endParaRPr lang="en-US" sz="1300" dirty="0"/>
          </a:p>
        </p:txBody>
      </p:sp>
      <p:sp>
        <p:nvSpPr>
          <p:cNvPr id="22" name="Text 20"/>
          <p:cNvSpPr txBox="1"/>
          <p:nvPr/>
        </p:nvSpPr>
        <p:spPr>
          <a:xfrm>
            <a:off x="7178040" y="3136392"/>
            <a:ext cx="4327855" cy="676656"/>
          </a:xfrm>
          <a:prstGeom prst="rect">
            <a:avLst/>
          </a:prstGeom>
          <a:noFill/>
          <a:ln/>
        </p:spPr>
        <p:txBody>
          <a:bodyPr wrap="square" lIns="0" tIns="0" rIns="0" bIns="0" rtlCol="0" anchor="ctr"/>
          <a:lstStyle/>
          <a:p>
            <a:pPr indent="0" marL="0">
              <a:buNone/>
            </a:pPr>
            <a:r>
              <a:rPr lang="en-US" sz="1200" dirty="0">
                <a:solidFill>
                  <a:srgbClr val="3E3A30"/>
                </a:solidFill>
                <a:latin typeface="Calibri" pitchFamily="34" charset="0"/>
                <a:ea typeface="Calibri" pitchFamily="34" charset="-122"/>
                <a:cs typeface="Calibri" pitchFamily="34" charset="-120"/>
              </a:rPr>
              <a:t>Retornou ao GT com observações; necessária atualização da justificativa por divergência de quantidade.</a:t>
            </a:r>
            <a:endParaRPr lang="en-US" sz="1200" dirty="0"/>
          </a:p>
        </p:txBody>
      </p:sp>
      <p:sp>
        <p:nvSpPr>
          <p:cNvPr id="23" name="Shape 21"/>
          <p:cNvSpPr/>
          <p:nvPr/>
        </p:nvSpPr>
        <p:spPr>
          <a:xfrm>
            <a:off x="685800" y="3813048"/>
            <a:ext cx="10820095" cy="0"/>
          </a:xfrm>
          <a:prstGeom prst="line">
            <a:avLst/>
          </a:prstGeom>
          <a:noFill/>
          <a:ln w="6350">
            <a:solidFill>
              <a:srgbClr val="E4DED1"/>
            </a:solidFill>
            <a:prstDash val="solid"/>
          </a:ln>
        </p:spPr>
      </p:sp>
      <p:sp>
        <p:nvSpPr>
          <p:cNvPr id="24" name="Shape 22"/>
          <p:cNvSpPr/>
          <p:nvPr/>
        </p:nvSpPr>
        <p:spPr>
          <a:xfrm>
            <a:off x="685800" y="3886200"/>
            <a:ext cx="822960" cy="530352"/>
          </a:xfrm>
          <a:prstGeom prst="rect">
            <a:avLst/>
          </a:prstGeom>
          <a:solidFill>
            <a:srgbClr val="D08A3E"/>
          </a:solidFill>
          <a:ln w="12700">
            <a:solidFill>
              <a:srgbClr val="D08A3E"/>
            </a:solidFill>
            <a:prstDash val="solid"/>
          </a:ln>
        </p:spPr>
      </p:sp>
      <p:sp>
        <p:nvSpPr>
          <p:cNvPr id="25" name="Text 23"/>
          <p:cNvSpPr txBox="1"/>
          <p:nvPr/>
        </p:nvSpPr>
        <p:spPr>
          <a:xfrm>
            <a:off x="685800" y="3886200"/>
            <a:ext cx="822960"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26" name="Text 24"/>
          <p:cNvSpPr txBox="1"/>
          <p:nvPr/>
        </p:nvSpPr>
        <p:spPr>
          <a:xfrm>
            <a:off x="1691640" y="3813048"/>
            <a:ext cx="3108960" cy="676656"/>
          </a:xfrm>
          <a:prstGeom prst="rect">
            <a:avLst/>
          </a:prstGeom>
          <a:noFill/>
          <a:ln/>
        </p:spPr>
        <p:txBody>
          <a:bodyPr wrap="square" lIns="0" tIns="0" rIns="0" bIns="0" rtlCol="0" anchor="ctr"/>
          <a:lstStyle/>
          <a:p>
            <a:pPr indent="0" marL="0">
              <a:buNone/>
            </a:pPr>
            <a:r>
              <a:rPr lang="en-US" sz="1500" b="1" dirty="0">
                <a:solidFill>
                  <a:srgbClr val="1B2236"/>
                </a:solidFill>
                <a:latin typeface="Calibri" pitchFamily="34" charset="0"/>
                <a:ea typeface="Calibri" pitchFamily="34" charset="-122"/>
                <a:cs typeface="Calibri" pitchFamily="34" charset="-120"/>
              </a:rPr>
              <a:t>Devolvidas à área técnica</a:t>
            </a:r>
            <a:endParaRPr lang="en-US" sz="1500" dirty="0"/>
          </a:p>
        </p:txBody>
      </p:sp>
      <p:sp>
        <p:nvSpPr>
          <p:cNvPr id="27" name="Text 25"/>
          <p:cNvSpPr txBox="1"/>
          <p:nvPr/>
        </p:nvSpPr>
        <p:spPr>
          <a:xfrm>
            <a:off x="4800600" y="3813048"/>
            <a:ext cx="2377440" cy="676656"/>
          </a:xfrm>
          <a:prstGeom prst="rect">
            <a:avLst/>
          </a:prstGeom>
          <a:noFill/>
          <a:ln/>
        </p:spPr>
        <p:txBody>
          <a:bodyPr wrap="square" lIns="0" tIns="0" rIns="0" bIns="0" rtlCol="0" anchor="ctr"/>
          <a:lstStyle/>
          <a:p>
            <a:pPr indent="0" marL="0">
              <a:buNone/>
            </a:pPr>
            <a:r>
              <a:rPr lang="en-US" sz="1300" b="1" dirty="0">
                <a:solidFill>
                  <a:srgbClr val="16284D"/>
                </a:solidFill>
                <a:latin typeface="Calibri" pitchFamily="34" charset="0"/>
                <a:ea typeface="Calibri" pitchFamily="34" charset="-122"/>
                <a:cs typeface="Calibri" pitchFamily="34" charset="-120"/>
              </a:rPr>
              <a:t>Itens 04 e 05</a:t>
            </a:r>
            <a:endParaRPr lang="en-US" sz="1300" dirty="0"/>
          </a:p>
        </p:txBody>
      </p:sp>
      <p:sp>
        <p:nvSpPr>
          <p:cNvPr id="28" name="Text 26"/>
          <p:cNvSpPr txBox="1"/>
          <p:nvPr/>
        </p:nvSpPr>
        <p:spPr>
          <a:xfrm>
            <a:off x="7178040" y="3813048"/>
            <a:ext cx="4327855" cy="676656"/>
          </a:xfrm>
          <a:prstGeom prst="rect">
            <a:avLst/>
          </a:prstGeom>
          <a:noFill/>
          <a:ln/>
        </p:spPr>
        <p:txBody>
          <a:bodyPr wrap="square" lIns="0" tIns="0" rIns="0" bIns="0" rtlCol="0" anchor="ctr"/>
          <a:lstStyle/>
          <a:p>
            <a:pPr indent="0" marL="0">
              <a:buNone/>
            </a:pPr>
            <a:r>
              <a:rPr lang="en-US" sz="1200" dirty="0">
                <a:solidFill>
                  <a:srgbClr val="3E3A30"/>
                </a:solidFill>
                <a:latin typeface="Calibri" pitchFamily="34" charset="0"/>
                <a:ea typeface="Calibri" pitchFamily="34" charset="-122"/>
                <a:cs typeface="Calibri" pitchFamily="34" charset="-120"/>
              </a:rPr>
              <a:t>Análise do quantitativo e dos itens; “justificativa carece de elementos da pretensa contratação”.</a:t>
            </a:r>
            <a:endParaRPr lang="en-US" sz="1200" dirty="0"/>
          </a:p>
        </p:txBody>
      </p:sp>
      <p:sp>
        <p:nvSpPr>
          <p:cNvPr id="29" name="Shape 27"/>
          <p:cNvSpPr/>
          <p:nvPr/>
        </p:nvSpPr>
        <p:spPr>
          <a:xfrm>
            <a:off x="685800" y="4489704"/>
            <a:ext cx="10820095" cy="0"/>
          </a:xfrm>
          <a:prstGeom prst="line">
            <a:avLst/>
          </a:prstGeom>
          <a:noFill/>
          <a:ln w="6350">
            <a:solidFill>
              <a:srgbClr val="E4DED1"/>
            </a:solidFill>
            <a:prstDash val="solid"/>
          </a:ln>
        </p:spPr>
      </p:sp>
      <p:sp>
        <p:nvSpPr>
          <p:cNvPr id="30" name="Shape 28"/>
          <p:cNvSpPr/>
          <p:nvPr/>
        </p:nvSpPr>
        <p:spPr>
          <a:xfrm>
            <a:off x="685800" y="4562856"/>
            <a:ext cx="822960" cy="530352"/>
          </a:xfrm>
          <a:prstGeom prst="rect">
            <a:avLst/>
          </a:prstGeom>
          <a:solidFill>
            <a:srgbClr val="A8322A"/>
          </a:solidFill>
          <a:ln w="12700">
            <a:solidFill>
              <a:srgbClr val="A8322A"/>
            </a:solidFill>
            <a:prstDash val="solid"/>
          </a:ln>
        </p:spPr>
      </p:sp>
      <p:sp>
        <p:nvSpPr>
          <p:cNvPr id="31" name="Text 29"/>
          <p:cNvSpPr txBox="1"/>
          <p:nvPr/>
        </p:nvSpPr>
        <p:spPr>
          <a:xfrm>
            <a:off x="685800" y="4562856"/>
            <a:ext cx="822960"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9</a:t>
            </a:r>
            <a:endParaRPr lang="en-US" sz="2400" dirty="0"/>
          </a:p>
        </p:txBody>
      </p:sp>
      <p:sp>
        <p:nvSpPr>
          <p:cNvPr id="32" name="Text 30"/>
          <p:cNvSpPr txBox="1"/>
          <p:nvPr/>
        </p:nvSpPr>
        <p:spPr>
          <a:xfrm>
            <a:off x="1691640" y="4489704"/>
            <a:ext cx="3108960" cy="676656"/>
          </a:xfrm>
          <a:prstGeom prst="rect">
            <a:avLst/>
          </a:prstGeom>
          <a:noFill/>
          <a:ln/>
        </p:spPr>
        <p:txBody>
          <a:bodyPr wrap="square" lIns="0" tIns="0" rIns="0" bIns="0" rtlCol="0" anchor="ctr"/>
          <a:lstStyle/>
          <a:p>
            <a:pPr indent="0" marL="0">
              <a:buNone/>
            </a:pPr>
            <a:r>
              <a:rPr lang="en-US" sz="1500" b="1" dirty="0">
                <a:solidFill>
                  <a:srgbClr val="1B2236"/>
                </a:solidFill>
                <a:latin typeface="Calibri" pitchFamily="34" charset="0"/>
                <a:ea typeface="Calibri" pitchFamily="34" charset="-122"/>
                <a:cs typeface="Calibri" pitchFamily="34" charset="-120"/>
              </a:rPr>
              <a:t>Sem justificativa no drive</a:t>
            </a:r>
            <a:endParaRPr lang="en-US" sz="1500" dirty="0"/>
          </a:p>
        </p:txBody>
      </p:sp>
      <p:sp>
        <p:nvSpPr>
          <p:cNvPr id="33" name="Text 31"/>
          <p:cNvSpPr txBox="1"/>
          <p:nvPr/>
        </p:nvSpPr>
        <p:spPr>
          <a:xfrm>
            <a:off x="4800600" y="4489704"/>
            <a:ext cx="2377440" cy="676656"/>
          </a:xfrm>
          <a:prstGeom prst="rect">
            <a:avLst/>
          </a:prstGeom>
          <a:noFill/>
          <a:ln/>
        </p:spPr>
        <p:txBody>
          <a:bodyPr wrap="square" lIns="0" tIns="0" rIns="0" bIns="0" rtlCol="0" anchor="ctr"/>
          <a:lstStyle/>
          <a:p>
            <a:pPr indent="0" marL="0">
              <a:buNone/>
            </a:pPr>
            <a:r>
              <a:rPr lang="en-US" sz="1300" b="1" dirty="0">
                <a:solidFill>
                  <a:srgbClr val="16284D"/>
                </a:solidFill>
                <a:latin typeface="Calibri" pitchFamily="34" charset="0"/>
                <a:ea typeface="Calibri" pitchFamily="34" charset="-122"/>
                <a:cs typeface="Calibri" pitchFamily="34" charset="-120"/>
              </a:rPr>
              <a:t>Itens 11, 12, 13, 14, 15, 16, 17, 18 e 19</a:t>
            </a:r>
            <a:endParaRPr lang="en-US" sz="1300" dirty="0"/>
          </a:p>
        </p:txBody>
      </p:sp>
      <p:sp>
        <p:nvSpPr>
          <p:cNvPr id="34" name="Text 32"/>
          <p:cNvSpPr txBox="1"/>
          <p:nvPr/>
        </p:nvSpPr>
        <p:spPr>
          <a:xfrm>
            <a:off x="7178040" y="4489704"/>
            <a:ext cx="4327855" cy="676656"/>
          </a:xfrm>
          <a:prstGeom prst="rect">
            <a:avLst/>
          </a:prstGeom>
          <a:noFill/>
          <a:ln/>
        </p:spPr>
        <p:txBody>
          <a:bodyPr wrap="square" lIns="0" tIns="0" rIns="0" bIns="0" rtlCol="0" anchor="ctr"/>
          <a:lstStyle/>
          <a:p>
            <a:pPr indent="0" marL="0">
              <a:buNone/>
            </a:pPr>
            <a:r>
              <a:rPr lang="en-US" sz="1200" dirty="0">
                <a:solidFill>
                  <a:srgbClr val="3E3A30"/>
                </a:solidFill>
                <a:latin typeface="Calibri" pitchFamily="34" charset="0"/>
                <a:ea typeface="Calibri" pitchFamily="34" charset="-122"/>
                <a:cs typeface="Calibri" pitchFamily="34" charset="-120"/>
              </a:rPr>
              <a:t>Registro na coluna de observação.</a:t>
            </a:r>
            <a:endParaRPr lang="en-US" sz="1200" dirty="0"/>
          </a:p>
        </p:txBody>
      </p:sp>
      <p:sp>
        <p:nvSpPr>
          <p:cNvPr id="35" name="Shape 33"/>
          <p:cNvSpPr/>
          <p:nvPr/>
        </p:nvSpPr>
        <p:spPr>
          <a:xfrm>
            <a:off x="685800" y="5166360"/>
            <a:ext cx="10820095" cy="0"/>
          </a:xfrm>
          <a:prstGeom prst="line">
            <a:avLst/>
          </a:prstGeom>
          <a:noFill/>
          <a:ln w="6350">
            <a:solidFill>
              <a:srgbClr val="E4DED1"/>
            </a:solidFill>
            <a:prstDash val="solid"/>
          </a:ln>
        </p:spPr>
      </p:sp>
      <p:sp>
        <p:nvSpPr>
          <p:cNvPr id="36" name="Shape 34"/>
          <p:cNvSpPr/>
          <p:nvPr/>
        </p:nvSpPr>
        <p:spPr>
          <a:xfrm>
            <a:off x="685800" y="5239512"/>
            <a:ext cx="822960" cy="530352"/>
          </a:xfrm>
          <a:prstGeom prst="rect">
            <a:avLst/>
          </a:prstGeom>
          <a:solidFill>
            <a:srgbClr val="B9B2A3"/>
          </a:solidFill>
          <a:ln w="12700">
            <a:solidFill>
              <a:srgbClr val="B9B2A3"/>
            </a:solidFill>
            <a:prstDash val="solid"/>
          </a:ln>
        </p:spPr>
      </p:sp>
      <p:sp>
        <p:nvSpPr>
          <p:cNvPr id="37" name="Text 35"/>
          <p:cNvSpPr txBox="1"/>
          <p:nvPr/>
        </p:nvSpPr>
        <p:spPr>
          <a:xfrm>
            <a:off x="685800" y="5239512"/>
            <a:ext cx="822960"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38" name="Text 36"/>
          <p:cNvSpPr txBox="1"/>
          <p:nvPr/>
        </p:nvSpPr>
        <p:spPr>
          <a:xfrm>
            <a:off x="1691640" y="5166360"/>
            <a:ext cx="3108960" cy="676656"/>
          </a:xfrm>
          <a:prstGeom prst="rect">
            <a:avLst/>
          </a:prstGeom>
          <a:noFill/>
          <a:ln/>
        </p:spPr>
        <p:txBody>
          <a:bodyPr wrap="square" lIns="0" tIns="0" rIns="0" bIns="0" rtlCol="0" anchor="ctr"/>
          <a:lstStyle/>
          <a:p>
            <a:pPr indent="0" marL="0">
              <a:buNone/>
            </a:pPr>
            <a:r>
              <a:rPr lang="en-US" sz="1500" b="1" dirty="0">
                <a:solidFill>
                  <a:srgbClr val="1B2236"/>
                </a:solidFill>
                <a:latin typeface="Calibri" pitchFamily="34" charset="0"/>
                <a:ea typeface="Calibri" pitchFamily="34" charset="-122"/>
                <a:cs typeface="Calibri" pitchFamily="34" charset="-120"/>
              </a:rPr>
              <a:t>Sem registro</a:t>
            </a:r>
            <a:endParaRPr lang="en-US" sz="1500" dirty="0"/>
          </a:p>
        </p:txBody>
      </p:sp>
      <p:sp>
        <p:nvSpPr>
          <p:cNvPr id="39" name="Text 37"/>
          <p:cNvSpPr txBox="1"/>
          <p:nvPr/>
        </p:nvSpPr>
        <p:spPr>
          <a:xfrm>
            <a:off x="4800600" y="5166360"/>
            <a:ext cx="2377440" cy="676656"/>
          </a:xfrm>
          <a:prstGeom prst="rect">
            <a:avLst/>
          </a:prstGeom>
          <a:noFill/>
          <a:ln/>
        </p:spPr>
        <p:txBody>
          <a:bodyPr wrap="square" lIns="0" tIns="0" rIns="0" bIns="0" rtlCol="0" anchor="ctr"/>
          <a:lstStyle/>
          <a:p>
            <a:pPr indent="0" marL="0">
              <a:buNone/>
            </a:pPr>
            <a:r>
              <a:rPr lang="en-US" sz="1300" b="1" dirty="0">
                <a:solidFill>
                  <a:srgbClr val="16284D"/>
                </a:solidFill>
                <a:latin typeface="Calibri" pitchFamily="34" charset="0"/>
                <a:ea typeface="Calibri" pitchFamily="34" charset="-122"/>
                <a:cs typeface="Calibri" pitchFamily="34" charset="-120"/>
              </a:rPr>
              <a:t>Itens 09</a:t>
            </a:r>
            <a:endParaRPr lang="en-US" sz="1300" dirty="0"/>
          </a:p>
        </p:txBody>
      </p:sp>
      <p:sp>
        <p:nvSpPr>
          <p:cNvPr id="40" name="Text 38"/>
          <p:cNvSpPr txBox="1"/>
          <p:nvPr/>
        </p:nvSpPr>
        <p:spPr>
          <a:xfrm>
            <a:off x="7178040" y="5166360"/>
            <a:ext cx="4327855" cy="676656"/>
          </a:xfrm>
          <a:prstGeom prst="rect">
            <a:avLst/>
          </a:prstGeom>
          <a:noFill/>
          <a:ln/>
        </p:spPr>
        <p:txBody>
          <a:bodyPr wrap="square" lIns="0" tIns="0" rIns="0" bIns="0" rtlCol="0" anchor="ctr"/>
          <a:lstStyle/>
          <a:p>
            <a:pPr indent="0" marL="0">
              <a:buNone/>
            </a:pPr>
            <a:r>
              <a:rPr lang="en-US" sz="1200" dirty="0">
                <a:solidFill>
                  <a:srgbClr val="3E3A30"/>
                </a:solidFill>
                <a:latin typeface="Calibri" pitchFamily="34" charset="0"/>
                <a:ea typeface="Calibri" pitchFamily="34" charset="-122"/>
                <a:cs typeface="Calibri" pitchFamily="34" charset="-120"/>
              </a:rPr>
              <a:t>Nenhuma anotação de andamento ou observação.</a:t>
            </a:r>
            <a:endParaRPr lang="en-US" sz="1200" dirty="0"/>
          </a:p>
        </p:txBody>
      </p:sp>
      <p:sp>
        <p:nvSpPr>
          <p:cNvPr id="41" name="Shape 39"/>
          <p:cNvSpPr/>
          <p:nvPr/>
        </p:nvSpPr>
        <p:spPr>
          <a:xfrm>
            <a:off x="685800" y="6355080"/>
            <a:ext cx="10820095" cy="0"/>
          </a:xfrm>
          <a:prstGeom prst="line">
            <a:avLst/>
          </a:prstGeom>
          <a:noFill/>
          <a:ln w="6350">
            <a:solidFill>
              <a:srgbClr val="D9D2C3"/>
            </a:solidFill>
            <a:prstDash val="solid"/>
          </a:ln>
        </p:spPr>
      </p:sp>
      <p:sp>
        <p:nvSpPr>
          <p:cNvPr id="42" name="Text 40"/>
          <p:cNvSpPr txBox="1"/>
          <p:nvPr/>
        </p:nvSpPr>
        <p:spPr>
          <a:xfrm>
            <a:off x="685800" y="6419088"/>
            <a:ext cx="9601200" cy="256032"/>
          </a:xfrm>
          <a:prstGeom prst="rect">
            <a:avLst/>
          </a:prstGeom>
          <a:noFill/>
          <a:ln/>
        </p:spPr>
        <p:txBody>
          <a:bodyPr wrap="square" lIns="0" tIns="0" rIns="0" bIns="0" rtlCol="0" anchor="ctr"/>
          <a:lstStyle/>
          <a:p>
            <a:pPr indent="0" marL="0">
              <a:buNone/>
            </a:pPr>
            <a:r>
              <a:rPr lang="en-US" sz="1000" dirty="0">
                <a:solidFill>
                  <a:srgbClr val="6E6758"/>
                </a:solidFill>
                <a:latin typeface="Calibri" pitchFamily="34" charset="0"/>
                <a:ea typeface="Calibri" pitchFamily="34" charset="-122"/>
                <a:cs typeface="Calibri" pitchFamily="34" charset="-120"/>
              </a:rPr>
              <a:t>GT PROPAG · Compras Públicas · Fonte: Planilha de andamento do GT PROPAG · posição de 25/09/2026</a:t>
            </a:r>
            <a:endParaRPr lang="en-US" sz="1000" dirty="0"/>
          </a:p>
        </p:txBody>
      </p:sp>
      <p:sp>
        <p:nvSpPr>
          <p:cNvPr id="43" name="Text 41"/>
          <p:cNvSpPr txBox="1"/>
          <p:nvPr/>
        </p:nvSpPr>
        <p:spPr>
          <a:xfrm>
            <a:off x="10591495" y="6419088"/>
            <a:ext cx="914400" cy="256032"/>
          </a:xfrm>
          <a:prstGeom prst="rect">
            <a:avLst/>
          </a:prstGeom>
          <a:noFill/>
          <a:ln/>
        </p:spPr>
        <p:txBody>
          <a:bodyPr wrap="square" lIns="0" tIns="0" rIns="0" bIns="0" rtlCol="0" anchor="ctr"/>
          <a:lstStyle/>
          <a:p>
            <a:pPr algn="r" indent="0" marL="0">
              <a:buNone/>
            </a:pPr>
            <a:r>
              <a:rPr lang="en-US" sz="1050" b="1" dirty="0">
                <a:solidFill>
                  <a:srgbClr val="16284D"/>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8962F"/>
          </a:solidFill>
          <a:ln w="12700">
            <a:solidFill>
              <a:srgbClr val="C8962F"/>
            </a:solidFill>
            <a:prstDash val="solid"/>
          </a:ln>
        </p:spPr>
      </p:sp>
      <p:sp>
        <p:nvSpPr>
          <p:cNvPr id="3" name="Text 1"/>
          <p:cNvSpPr txBox="1"/>
          <p:nvPr/>
        </p:nvSpPr>
        <p:spPr>
          <a:xfrm>
            <a:off x="685800" y="457200"/>
            <a:ext cx="10820095" cy="274320"/>
          </a:xfrm>
          <a:prstGeom prst="rect">
            <a:avLst/>
          </a:prstGeom>
          <a:noFill/>
          <a:ln/>
        </p:spPr>
        <p:txBody>
          <a:bodyPr wrap="square" lIns="0" tIns="0" rIns="0" bIns="0" rtlCol="0" anchor="ctr"/>
          <a:lstStyle/>
          <a:p>
            <a:pPr indent="0" marL="0">
              <a:buNone/>
            </a:pPr>
            <a:r>
              <a:rPr lang="en-US" sz="1150" b="1" spc="300" kern="0" dirty="0">
                <a:solidFill>
                  <a:srgbClr val="8A5F0D"/>
                </a:solidFill>
                <a:latin typeface="Calibri" pitchFamily="34" charset="0"/>
                <a:ea typeface="Calibri" pitchFamily="34" charset="-122"/>
                <a:cs typeface="Calibri" pitchFamily="34" charset="-120"/>
              </a:rPr>
              <a:t>DEMANDAS EM ESTÁGIO MAIS AVANÇADO</a:t>
            </a:r>
            <a:endParaRPr lang="en-US" sz="1150" dirty="0"/>
          </a:p>
        </p:txBody>
      </p:sp>
      <p:sp>
        <p:nvSpPr>
          <p:cNvPr id="4" name="Text 2"/>
          <p:cNvSpPr txBox="1"/>
          <p:nvPr/>
        </p:nvSpPr>
        <p:spPr>
          <a:xfrm>
            <a:off x="685800" y="749808"/>
            <a:ext cx="10820095" cy="658368"/>
          </a:xfrm>
          <a:prstGeom prst="rect">
            <a:avLst/>
          </a:prstGeom>
          <a:noFill/>
          <a:ln/>
        </p:spPr>
        <p:txBody>
          <a:bodyPr wrap="square" lIns="0" tIns="0" rIns="0" bIns="0" rtlCol="0" anchor="t"/>
          <a:lstStyle/>
          <a:p>
            <a:pPr indent="0" marL="0">
              <a:buNone/>
            </a:pPr>
            <a:r>
              <a:rPr lang="en-US" sz="3200" b="1" dirty="0">
                <a:solidFill>
                  <a:srgbClr val="16284D"/>
                </a:solidFill>
                <a:latin typeface="Cambria" pitchFamily="34" charset="0"/>
                <a:ea typeface="Cambria" pitchFamily="34" charset="-122"/>
                <a:cs typeface="Cambria" pitchFamily="34" charset="-120"/>
              </a:rPr>
              <a:t>DOD elaborado e manifestação favorável do TI</a:t>
            </a:r>
            <a:endParaRPr lang="en-US" sz="3200" dirty="0"/>
          </a:p>
        </p:txBody>
      </p:sp>
      <p:sp>
        <p:nvSpPr>
          <p:cNvPr id="5" name="Shape 3"/>
          <p:cNvSpPr/>
          <p:nvPr/>
        </p:nvSpPr>
        <p:spPr>
          <a:xfrm>
            <a:off x="685800" y="1481328"/>
            <a:ext cx="1005840" cy="0"/>
          </a:xfrm>
          <a:prstGeom prst="line">
            <a:avLst/>
          </a:prstGeom>
          <a:noFill/>
          <a:ln w="25400">
            <a:solidFill>
              <a:srgbClr val="C8962F"/>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20095" cy="914400"/>
        </p:xfrm>
        <a:graphic>
          <a:graphicData uri="http://schemas.openxmlformats.org/drawingml/2006/table">
            <a:tbl>
              <a:tblPr/>
              <a:tblGrid>
                <a:gridCol w="3291840"/>
                <a:gridCol w="1325880"/>
                <a:gridCol w="2651760"/>
                <a:gridCol w="3459175"/>
              </a:tblGrid>
              <a:tr h="640080">
                <a:tc>
                  <a:txBody>
                    <a:bodyPr/>
                    <a:lstStyle/>
                    <a:p>
                      <a:pPr algn="l" indent="0" marL="0">
                        <a:buNone/>
                      </a:pPr>
                      <a:r>
                        <a:rPr lang="en-US" sz="1100" b="1" dirty="0">
                          <a:solidFill>
                            <a:srgbClr val="FBFAF6"/>
                          </a:solidFill>
                          <a:latin typeface="Calibri" pitchFamily="34" charset="0"/>
                          <a:ea typeface="Calibri" pitchFamily="34" charset="-122"/>
                          <a:cs typeface="Calibri" pitchFamily="34" charset="-120"/>
                        </a:rPr>
                        <a:t>Demanda</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r" indent="0" marL="0">
                        <a:buNone/>
                      </a:pPr>
                      <a:r>
                        <a:rPr lang="en-US" sz="1100" b="1" dirty="0">
                          <a:solidFill>
                            <a:srgbClr val="FBFAF6"/>
                          </a:solidFill>
                          <a:latin typeface="Calibri" pitchFamily="34" charset="0"/>
                          <a:ea typeface="Calibri" pitchFamily="34" charset="-122"/>
                          <a:cs typeface="Calibri" pitchFamily="34" charset="-120"/>
                        </a:rPr>
                        <a:t>Valor</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l" indent="0" marL="0">
                        <a:buNone/>
                      </a:pPr>
                      <a:r>
                        <a:rPr lang="en-US" sz="1100" b="1" dirty="0">
                          <a:solidFill>
                            <a:srgbClr val="FBFAF6"/>
                          </a:solidFill>
                          <a:latin typeface="Calibri" pitchFamily="34" charset="0"/>
                          <a:ea typeface="Calibri" pitchFamily="34" charset="-122"/>
                          <a:cs typeface="Calibri" pitchFamily="34" charset="-120"/>
                        </a:rPr>
                        <a:t>Documentos da fase preparatória</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l" indent="0" marL="0">
                        <a:buNone/>
                      </a:pPr>
                      <a:r>
                        <a:rPr lang="en-US" sz="1100" b="1" dirty="0">
                          <a:solidFill>
                            <a:srgbClr val="FBFAF6"/>
                          </a:solidFill>
                          <a:latin typeface="Calibri" pitchFamily="34" charset="0"/>
                          <a:ea typeface="Calibri" pitchFamily="34" charset="-122"/>
                          <a:cs typeface="Calibri" pitchFamily="34" charset="-120"/>
                        </a:rPr>
                        <a:t>Último registro</a:t>
                      </a:r>
                      <a:endParaRPr lang="en-US" sz="11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r>
              <a:tr h="640080">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01 · Chromebooks</a:t>
                      </a:r>
                      <a:endParaRPr lang="en-US" sz="1150" dirty="0">
                        <a:latin typeface="Calibri" charset="0"/>
                        <a:ea typeface="Calibri" charset="0"/>
                        <a:cs typeface="Calibri" charset="0"/>
                      </a:endParaRPr>
                    </a:p>
                    <a:p>
                      <a:pPr algn="l" indent="0" marL="0">
                        <a:buNone/>
                      </a:pPr>
                      <a:r>
                        <a:rPr lang="en-US" sz="1050" dirty="0">
                          <a:solidFill>
                            <a:srgbClr val="5F5A4E"/>
                          </a:solidFill>
                          <a:latin typeface="Calibri" pitchFamily="34" charset="0"/>
                          <a:ea typeface="Calibri" pitchFamily="34" charset="-122"/>
                          <a:cs typeface="Calibri" pitchFamily="34" charset="-120"/>
                        </a:rPr>
                        <a:t>Ata: ARP 032/2026 SEAD/MA (observação)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16284D"/>
                          </a:solidFill>
                          <a:latin typeface="Calibri" pitchFamily="34" charset="0"/>
                          <a:ea typeface="Calibri" pitchFamily="34" charset="-122"/>
                          <a:cs typeface="Calibri" pitchFamily="34" charset="-120"/>
                        </a:rPr>
                        <a:t>R$ 64,82 mi</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236"/>
                          </a:solidFill>
                          <a:latin typeface="Calibri" pitchFamily="34" charset="0"/>
                          <a:ea typeface="Calibri" pitchFamily="34" charset="-122"/>
                          <a:cs typeface="Calibri" pitchFamily="34" charset="-120"/>
                        </a:rPr>
                        <a:t>Documentos da fase preparatória elaborados</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236"/>
                          </a:solidFill>
                          <a:latin typeface="Calibri" pitchFamily="34" charset="0"/>
                          <a:ea typeface="Calibri" pitchFamily="34" charset="-122"/>
                          <a:cs typeface="Calibri" pitchFamily="34" charset="-120"/>
                        </a:rPr>
                        <a:t>Enviado para análise – Luene</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640080">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02 · Softwares de edição e arquitetura</a:t>
                      </a:r>
                      <a:endParaRPr lang="en-US" sz="1150" dirty="0">
                        <a:latin typeface="Calibri" charset="0"/>
                        <a:ea typeface="Calibri" charset="0"/>
                        <a:cs typeface="Calibri" charset="0"/>
                      </a:endParaRPr>
                    </a:p>
                    <a:p>
                      <a:pPr algn="l" indent="0" marL="0">
                        <a:buNone/>
                      </a:pPr>
                      <a:r>
                        <a:rPr lang="en-US" sz="1050" dirty="0">
                          <a:solidFill>
                            <a:srgbClr val="5F5A4E"/>
                          </a:solidFill>
                          <a:latin typeface="Calibri" pitchFamily="34" charset="0"/>
                          <a:ea typeface="Calibri" pitchFamily="34" charset="-122"/>
                          <a:cs typeface="Calibri" pitchFamily="34" charset="-120"/>
                        </a:rPr>
                        <a:t>Ata: ARP CELIC/RS</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r" indent="0" marL="0">
                        <a:buNone/>
                      </a:pPr>
                      <a:r>
                        <a:rPr lang="en-US" sz="1150" b="1" dirty="0">
                          <a:solidFill>
                            <a:srgbClr val="16284D"/>
                          </a:solidFill>
                          <a:latin typeface="Calibri" pitchFamily="34" charset="0"/>
                          <a:ea typeface="Calibri" pitchFamily="34" charset="-122"/>
                          <a:cs typeface="Calibri" pitchFamily="34" charset="-120"/>
                        </a:rPr>
                        <a:t>R$ 1,30 mi</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50" dirty="0">
                          <a:solidFill>
                            <a:srgbClr val="1B2236"/>
                          </a:solidFill>
                          <a:latin typeface="Calibri" pitchFamily="34" charset="0"/>
                          <a:ea typeface="Calibri" pitchFamily="34" charset="-122"/>
                          <a:cs typeface="Calibri" pitchFamily="34" charset="-120"/>
                        </a:rPr>
                        <a:t>Documentos da fase preparatória elaborados</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50" dirty="0">
                          <a:solidFill>
                            <a:srgbClr val="1B2236"/>
                          </a:solidFill>
                          <a:latin typeface="Calibri" pitchFamily="34" charset="0"/>
                          <a:ea typeface="Calibri" pitchFamily="34" charset="-122"/>
                          <a:cs typeface="Calibri" pitchFamily="34" charset="-120"/>
                        </a:rPr>
                        <a:t>Retornou ao GT com observações; atualização da justificativa por divergência de quantidade</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r h="640080">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03 · Telefonia VoIP</a:t>
                      </a:r>
                      <a:endParaRPr lang="en-US" sz="1150" dirty="0">
                        <a:latin typeface="Calibri" charset="0"/>
                        <a:ea typeface="Calibri" charset="0"/>
                        <a:cs typeface="Calibri" charset="0"/>
                      </a:endParaRPr>
                    </a:p>
                    <a:p>
                      <a:pPr algn="l" indent="0" marL="0">
                        <a:buNone/>
                      </a:pPr>
                      <a:r>
                        <a:rPr lang="en-US" sz="1050" dirty="0">
                          <a:solidFill>
                            <a:srgbClr val="5F5A4E"/>
                          </a:solidFill>
                          <a:latin typeface="Calibri" pitchFamily="34" charset="0"/>
                          <a:ea typeface="Calibri" pitchFamily="34" charset="-122"/>
                          <a:cs typeface="Calibri" pitchFamily="34" charset="-120"/>
                        </a:rPr>
                        <a:t>Partícipe: PE-RP nº 012/2024</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236"/>
                          </a:solidFill>
                          <a:latin typeface="Calibri" pitchFamily="34" charset="0"/>
                          <a:ea typeface="Calibri" pitchFamily="34" charset="-122"/>
                          <a:cs typeface="Calibri" pitchFamily="34" charset="-120"/>
                        </a:rPr>
                        <a:t>Utilização do ETP do PRODERJ</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236"/>
                          </a:solidFill>
                          <a:latin typeface="Calibri" pitchFamily="34" charset="0"/>
                          <a:ea typeface="Calibri" pitchFamily="34" charset="-122"/>
                          <a:cs typeface="Calibri" pitchFamily="34" charset="-120"/>
                        </a:rPr>
                        <a:t>Enviado para análise – Luene</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640080">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06 · Licenciamento Microsoft</a:t>
                      </a:r>
                      <a:endParaRPr lang="en-US" sz="1150" dirty="0">
                        <a:latin typeface="Calibri" charset="0"/>
                        <a:ea typeface="Calibri" charset="0"/>
                        <a:cs typeface="Calibri" charset="0"/>
                      </a:endParaRPr>
                    </a:p>
                    <a:p>
                      <a:pPr algn="l" indent="0" marL="0">
                        <a:buNone/>
                      </a:pPr>
                      <a:r>
                        <a:rPr lang="en-US" sz="1050" dirty="0">
                          <a:solidFill>
                            <a:srgbClr val="5F5A4E"/>
                          </a:solidFill>
                          <a:latin typeface="Calibri" pitchFamily="34" charset="0"/>
                          <a:ea typeface="Calibri" pitchFamily="34" charset="-122"/>
                          <a:cs typeface="Calibri" pitchFamily="34" charset="-120"/>
                        </a:rPr>
                        <a:t>Partícipe: PERP 12/25</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r" indent="0" marL="0">
                        <a:buNone/>
                      </a:pPr>
                      <a:r>
                        <a:rPr lang="en-US" sz="1150" dirty="0">
                          <a:solidFill>
                            <a:srgbClr val="8A847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50" dirty="0">
                          <a:solidFill>
                            <a:srgbClr val="1B2236"/>
                          </a:solidFill>
                          <a:latin typeface="Calibri" pitchFamily="34" charset="0"/>
                          <a:ea typeface="Calibri" pitchFamily="34" charset="-122"/>
                          <a:cs typeface="Calibri" pitchFamily="34" charset="-120"/>
                        </a:rPr>
                        <a:t>Utilização do ETP do PRODERJ</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150" dirty="0">
                          <a:solidFill>
                            <a:srgbClr val="1B2236"/>
                          </a:solidFill>
                          <a:latin typeface="Calibri" pitchFamily="34" charset="0"/>
                          <a:ea typeface="Calibri" pitchFamily="34" charset="-122"/>
                          <a:cs typeface="Calibri" pitchFamily="34" charset="-120"/>
                        </a:rPr>
                        <a:t>TI: aguardando análise e remanejamento do quantitativo pelo PRODERJ; enviado para análise – Luene</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r h="640080">
                <a:tc>
                  <a:txBody>
                    <a:bodyPr/>
                    <a:lstStyle/>
                    <a:p>
                      <a:pPr algn="l" indent="0" marL="0">
                        <a:buNone/>
                      </a:pPr>
                      <a:r>
                        <a:rPr lang="en-US" sz="1150" b="1" dirty="0">
                          <a:solidFill>
                            <a:srgbClr val="1B2236"/>
                          </a:solidFill>
                          <a:latin typeface="Calibri" pitchFamily="34" charset="0"/>
                          <a:ea typeface="Calibri" pitchFamily="34" charset="-122"/>
                          <a:cs typeface="Calibri" pitchFamily="34" charset="-120"/>
                        </a:rPr>
                        <a:t>10 · Appliances para backup</a:t>
                      </a:r>
                      <a:endParaRPr lang="en-US" sz="1150" dirty="0">
                        <a:latin typeface="Calibri" charset="0"/>
                        <a:ea typeface="Calibri" charset="0"/>
                        <a:cs typeface="Calibri" charset="0"/>
                      </a:endParaRPr>
                    </a:p>
                    <a:p>
                      <a:pPr algn="l" indent="0" marL="0">
                        <a:buNone/>
                      </a:pPr>
                      <a:r>
                        <a:rPr lang="en-US" sz="1050" dirty="0">
                          <a:solidFill>
                            <a:srgbClr val="5F5A4E"/>
                          </a:solidFill>
                          <a:latin typeface="Calibri" pitchFamily="34" charset="0"/>
                          <a:ea typeface="Calibri" pitchFamily="34" charset="-122"/>
                          <a:cs typeface="Calibri" pitchFamily="34" charset="-120"/>
                        </a:rPr>
                        <a:t>Ata: PE-RP nº 016/2024 PRODERJ</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16284D"/>
                          </a:solidFill>
                          <a:latin typeface="Calibri" pitchFamily="34" charset="0"/>
                          <a:ea typeface="Calibri" pitchFamily="34" charset="-122"/>
                          <a:cs typeface="Calibri" pitchFamily="34" charset="-120"/>
                        </a:rPr>
                        <a:t>R$ 3,56 mi</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236"/>
                          </a:solidFill>
                          <a:latin typeface="Calibri" pitchFamily="34" charset="0"/>
                          <a:ea typeface="Calibri" pitchFamily="34" charset="-122"/>
                          <a:cs typeface="Calibri" pitchFamily="34" charset="-120"/>
                        </a:rPr>
                        <a:t>ETP elaborado; TR em elaboração</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236"/>
                          </a:solidFill>
                          <a:latin typeface="Calibri" pitchFamily="34" charset="0"/>
                          <a:ea typeface="Calibri" pitchFamily="34" charset="-122"/>
                          <a:cs typeface="Calibri" pitchFamily="34" charset="-120"/>
                        </a:rPr>
                        <a:t>DOD elaborado com base na justificativa da área técnica</a:t>
                      </a:r>
                      <a:endParaRPr lang="en-US" sz="11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85800" y="5870448"/>
            <a:ext cx="10820095" cy="365760"/>
          </a:xfrm>
          <a:prstGeom prst="rect">
            <a:avLst/>
          </a:prstGeom>
          <a:noFill/>
          <a:ln/>
        </p:spPr>
        <p:txBody>
          <a:bodyPr wrap="square" lIns="0" tIns="0" rIns="0" bIns="0" rtlCol="0" anchor="ctr"/>
          <a:lstStyle/>
          <a:p>
            <a:pPr indent="0" marL="0">
              <a:buNone/>
            </a:pPr>
            <a:r>
              <a:rPr lang="en-US" sz="1300" b="1" dirty="0">
                <a:solidFill>
                  <a:srgbClr val="16284D"/>
                </a:solidFill>
                <a:latin typeface="Calibri" pitchFamily="34" charset="0"/>
                <a:ea typeface="Calibri" pitchFamily="34" charset="-122"/>
                <a:cs typeface="Calibri" pitchFamily="34" charset="-120"/>
              </a:rPr>
              <a:t>Critério: </a:t>
            </a:r>
            <a:pPr indent="0" marL="0">
              <a:buNone/>
            </a:pPr>
            <a:r>
              <a:rPr lang="en-US" sz="1300" dirty="0">
                <a:solidFill>
                  <a:srgbClr val="3E3A30"/>
                </a:solidFill>
                <a:latin typeface="Calibri" pitchFamily="34" charset="0"/>
                <a:ea typeface="Calibri" pitchFamily="34" charset="-122"/>
                <a:cs typeface="Calibri" pitchFamily="34" charset="-120"/>
              </a:rPr>
              <a:t>DOD com status “Elaborado” e manifestação do TI com status “SIM”. As cinco demandas incluem as três com valor estimado (itens 01, 02 e 10).</a:t>
            </a:r>
            <a:endParaRPr lang="en-US" sz="1300" dirty="0"/>
          </a:p>
        </p:txBody>
      </p:sp>
      <p:sp>
        <p:nvSpPr>
          <p:cNvPr id="8" name="Shape 5"/>
          <p:cNvSpPr/>
          <p:nvPr/>
        </p:nvSpPr>
        <p:spPr>
          <a:xfrm>
            <a:off x="685800" y="6355080"/>
            <a:ext cx="10820095" cy="0"/>
          </a:xfrm>
          <a:prstGeom prst="line">
            <a:avLst/>
          </a:prstGeom>
          <a:noFill/>
          <a:ln w="6350">
            <a:solidFill>
              <a:srgbClr val="D9D2C3"/>
            </a:solidFill>
            <a:prstDash val="solid"/>
          </a:ln>
        </p:spPr>
      </p:sp>
      <p:sp>
        <p:nvSpPr>
          <p:cNvPr id="9" name="Text 6"/>
          <p:cNvSpPr txBox="1"/>
          <p:nvPr/>
        </p:nvSpPr>
        <p:spPr>
          <a:xfrm>
            <a:off x="685800" y="6419088"/>
            <a:ext cx="9601200" cy="256032"/>
          </a:xfrm>
          <a:prstGeom prst="rect">
            <a:avLst/>
          </a:prstGeom>
          <a:noFill/>
          <a:ln/>
        </p:spPr>
        <p:txBody>
          <a:bodyPr wrap="square" lIns="0" tIns="0" rIns="0" bIns="0" rtlCol="0" anchor="ctr"/>
          <a:lstStyle/>
          <a:p>
            <a:pPr indent="0" marL="0">
              <a:buNone/>
            </a:pPr>
            <a:r>
              <a:rPr lang="en-US" sz="1000" dirty="0">
                <a:solidFill>
                  <a:srgbClr val="6E6758"/>
                </a:solidFill>
                <a:latin typeface="Calibri" pitchFamily="34" charset="0"/>
                <a:ea typeface="Calibri" pitchFamily="34" charset="-122"/>
                <a:cs typeface="Calibri" pitchFamily="34" charset="-120"/>
              </a:rPr>
              <a:t>GT PROPAG · Compras Públicas · Fonte: Planilha de andamento do GT PROPAG · posição de 25/09/2026</a:t>
            </a:r>
            <a:endParaRPr lang="en-US" sz="1000" dirty="0"/>
          </a:p>
        </p:txBody>
      </p:sp>
      <p:sp>
        <p:nvSpPr>
          <p:cNvPr id="10" name="Text 7"/>
          <p:cNvSpPr txBox="1"/>
          <p:nvPr/>
        </p:nvSpPr>
        <p:spPr>
          <a:xfrm>
            <a:off x="10591495" y="6419088"/>
            <a:ext cx="914400" cy="256032"/>
          </a:xfrm>
          <a:prstGeom prst="rect">
            <a:avLst/>
          </a:prstGeom>
          <a:noFill/>
          <a:ln/>
        </p:spPr>
        <p:txBody>
          <a:bodyPr wrap="square" lIns="0" tIns="0" rIns="0" bIns="0" rtlCol="0" anchor="ctr"/>
          <a:lstStyle/>
          <a:p>
            <a:pPr algn="r" indent="0" marL="0">
              <a:buNone/>
            </a:pPr>
            <a:r>
              <a:rPr lang="en-US" sz="1050" b="1" dirty="0">
                <a:solidFill>
                  <a:srgbClr val="16284D"/>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8962F"/>
          </a:solidFill>
          <a:ln w="12700">
            <a:solidFill>
              <a:srgbClr val="C8962F"/>
            </a:solidFill>
            <a:prstDash val="solid"/>
          </a:ln>
        </p:spPr>
      </p:sp>
      <p:sp>
        <p:nvSpPr>
          <p:cNvPr id="3" name="Text 1"/>
          <p:cNvSpPr txBox="1"/>
          <p:nvPr/>
        </p:nvSpPr>
        <p:spPr>
          <a:xfrm>
            <a:off x="685800" y="457200"/>
            <a:ext cx="10820095" cy="274320"/>
          </a:xfrm>
          <a:prstGeom prst="rect">
            <a:avLst/>
          </a:prstGeom>
          <a:noFill/>
          <a:ln/>
        </p:spPr>
        <p:txBody>
          <a:bodyPr wrap="square" lIns="0" tIns="0" rIns="0" bIns="0" rtlCol="0" anchor="ctr"/>
          <a:lstStyle/>
          <a:p>
            <a:pPr indent="0" marL="0">
              <a:buNone/>
            </a:pPr>
            <a:r>
              <a:rPr lang="en-US" sz="1150" b="1" spc="300" kern="0" dirty="0">
                <a:solidFill>
                  <a:srgbClr val="8A5F0D"/>
                </a:solidFill>
                <a:latin typeface="Calibri" pitchFamily="34" charset="0"/>
                <a:ea typeface="Calibri" pitchFamily="34" charset="-122"/>
                <a:cs typeface="Calibri" pitchFamily="34" charset="-120"/>
              </a:rPr>
              <a:t>PONTOS DE ATENÇÃO</a:t>
            </a:r>
            <a:endParaRPr lang="en-US" sz="1150" dirty="0"/>
          </a:p>
        </p:txBody>
      </p:sp>
      <p:sp>
        <p:nvSpPr>
          <p:cNvPr id="4" name="Text 2"/>
          <p:cNvSpPr txBox="1"/>
          <p:nvPr/>
        </p:nvSpPr>
        <p:spPr>
          <a:xfrm>
            <a:off x="685800" y="749808"/>
            <a:ext cx="10820095" cy="658368"/>
          </a:xfrm>
          <a:prstGeom prst="rect">
            <a:avLst/>
          </a:prstGeom>
          <a:noFill/>
          <a:ln/>
        </p:spPr>
        <p:txBody>
          <a:bodyPr wrap="square" lIns="0" tIns="0" rIns="0" bIns="0" rtlCol="0" anchor="t"/>
          <a:lstStyle/>
          <a:p>
            <a:pPr indent="0" marL="0">
              <a:buNone/>
            </a:pPr>
            <a:r>
              <a:rPr lang="en-US" sz="3200" b="1" dirty="0">
                <a:solidFill>
                  <a:srgbClr val="16284D"/>
                </a:solidFill>
                <a:latin typeface="Cambria" pitchFamily="34" charset="0"/>
                <a:ea typeface="Cambria" pitchFamily="34" charset="-122"/>
                <a:cs typeface="Cambria" pitchFamily="34" charset="-120"/>
              </a:rPr>
              <a:t>Registros da planilha que requerem conferência</a:t>
            </a:r>
            <a:endParaRPr lang="en-US" sz="3200" dirty="0"/>
          </a:p>
        </p:txBody>
      </p:sp>
      <p:sp>
        <p:nvSpPr>
          <p:cNvPr id="5" name="Shape 3"/>
          <p:cNvSpPr/>
          <p:nvPr/>
        </p:nvSpPr>
        <p:spPr>
          <a:xfrm>
            <a:off x="685800" y="1481328"/>
            <a:ext cx="1005840" cy="0"/>
          </a:xfrm>
          <a:prstGeom prst="line">
            <a:avLst/>
          </a:prstGeom>
          <a:noFill/>
          <a:ln w="25400">
            <a:solidFill>
              <a:srgbClr val="C8962F"/>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20095" cy="914400"/>
        </p:xfrm>
        <a:graphic>
          <a:graphicData uri="http://schemas.openxmlformats.org/drawingml/2006/table">
            <a:tbl>
              <a:tblPr/>
              <a:tblGrid>
                <a:gridCol w="3291840"/>
                <a:gridCol w="1234440"/>
                <a:gridCol w="6202375"/>
              </a:tblGrid>
              <a:tr h="457200">
                <a:tc>
                  <a:txBody>
                    <a:bodyPr/>
                    <a:lstStyle/>
                    <a:p>
                      <a:pPr algn="l" indent="0" marL="0">
                        <a:buNone/>
                      </a:pPr>
                      <a:r>
                        <a:rPr lang="en-US" sz="1200" b="1" dirty="0">
                          <a:solidFill>
                            <a:srgbClr val="FBFAF6"/>
                          </a:solidFill>
                          <a:latin typeface="Calibri" pitchFamily="34" charset="0"/>
                          <a:ea typeface="Calibri" pitchFamily="34" charset="-122"/>
                          <a:cs typeface="Calibri" pitchFamily="34" charset="-120"/>
                        </a:rPr>
                        <a:t>Ponto</a:t>
                      </a:r>
                      <a:endParaRPr lang="en-US" sz="12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l" indent="0" marL="0">
                        <a:buNone/>
                      </a:pPr>
                      <a:r>
                        <a:rPr lang="en-US" sz="1200" b="1" dirty="0">
                          <a:solidFill>
                            <a:srgbClr val="FBFAF6"/>
                          </a:solidFill>
                          <a:latin typeface="Calibri" pitchFamily="34" charset="0"/>
                          <a:ea typeface="Calibri" pitchFamily="34" charset="-122"/>
                          <a:cs typeface="Calibri" pitchFamily="34" charset="-120"/>
                        </a:rPr>
                        <a:t>Itens</a:t>
                      </a:r>
                      <a:endParaRPr lang="en-US" sz="12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c>
                  <a:txBody>
                    <a:bodyPr/>
                    <a:lstStyle/>
                    <a:p>
                      <a:pPr algn="l" indent="0" marL="0">
                        <a:buNone/>
                      </a:pPr>
                      <a:r>
                        <a:rPr lang="en-US" sz="1200" b="1" dirty="0">
                          <a:solidFill>
                            <a:srgbClr val="FBFAF6"/>
                          </a:solidFill>
                          <a:latin typeface="Calibri" pitchFamily="34" charset="0"/>
                          <a:ea typeface="Calibri" pitchFamily="34" charset="-122"/>
                          <a:cs typeface="Calibri" pitchFamily="34" charset="-120"/>
                        </a:rPr>
                        <a:t>Registro na planilha</a:t>
                      </a:r>
                      <a:endParaRPr lang="en-US" sz="120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16284D"/>
                    </a:solidFill>
                  </a:tcPr>
                </a:tc>
              </a:tr>
              <a:tr h="457200">
                <a:tc>
                  <a:txBody>
                    <a:bodyPr/>
                    <a:lstStyle/>
                    <a:p>
                      <a:pPr algn="l" indent="0" marL="0">
                        <a:buNone/>
                      </a:pPr>
                      <a:r>
                        <a:rPr lang="en-US" sz="1250" b="1" dirty="0">
                          <a:solidFill>
                            <a:srgbClr val="1B2236"/>
                          </a:solidFill>
                          <a:latin typeface="Calibri" pitchFamily="34" charset="0"/>
                          <a:ea typeface="Calibri" pitchFamily="34" charset="-122"/>
                          <a:cs typeface="Calibri" pitchFamily="34" charset="-120"/>
                        </a:rPr>
                        <a:t>Número da ata divergente</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8A5F0D"/>
                          </a:solidFill>
                          <a:latin typeface="Calibri" pitchFamily="34" charset="0"/>
                          <a:ea typeface="Calibri" pitchFamily="34" charset="-122"/>
                          <a:cs typeface="Calibri" pitchFamily="34" charset="-120"/>
                        </a:rPr>
                        <a:t>02</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236"/>
                          </a:solidFill>
                          <a:latin typeface="Calibri" pitchFamily="34" charset="0"/>
                          <a:ea typeface="Calibri" pitchFamily="34" charset="-122"/>
                          <a:cs typeface="Calibri" pitchFamily="34" charset="-120"/>
                        </a:rPr>
                        <a:t>DOD: “ARP nº 147/2024 – CELIC/RS”. Campo da ata: “ARP 1477/2024”.</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B2236"/>
                          </a:solidFill>
                          <a:latin typeface="Calibri" pitchFamily="34" charset="0"/>
                          <a:ea typeface="Calibri" pitchFamily="34" charset="-122"/>
                          <a:cs typeface="Calibri" pitchFamily="34" charset="-120"/>
                        </a:rPr>
                        <a:t>Órgão gerenciador divergente</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250" b="1" dirty="0">
                          <a:solidFill>
                            <a:srgbClr val="8A5F0D"/>
                          </a:solidFill>
                          <a:latin typeface="Calibri" pitchFamily="34" charset="0"/>
                          <a:ea typeface="Calibri" pitchFamily="34" charset="-122"/>
                          <a:cs typeface="Calibri" pitchFamily="34" charset="-120"/>
                        </a:rPr>
                        <a:t>18</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250" dirty="0">
                          <a:solidFill>
                            <a:srgbClr val="1B2236"/>
                          </a:solidFill>
                          <a:latin typeface="Calibri" pitchFamily="34" charset="0"/>
                          <a:ea typeface="Calibri" pitchFamily="34" charset="-122"/>
                          <a:cs typeface="Calibri" pitchFamily="34" charset="-120"/>
                        </a:rPr>
                        <a:t>DOD: “ARP nº 40/2026 – SEPLAG/RS”. Campo da ata: “Nº 40/2026 – I – SPLAG/MG”.</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r h="457200">
                <a:tc>
                  <a:txBody>
                    <a:bodyPr/>
                    <a:lstStyle/>
                    <a:p>
                      <a:pPr algn="l" indent="0" marL="0">
                        <a:buNone/>
                      </a:pPr>
                      <a:r>
                        <a:rPr lang="en-US" sz="1250" b="1" dirty="0">
                          <a:solidFill>
                            <a:srgbClr val="1B2236"/>
                          </a:solidFill>
                          <a:latin typeface="Calibri" pitchFamily="34" charset="0"/>
                          <a:ea typeface="Calibri" pitchFamily="34" charset="-122"/>
                          <a:cs typeface="Calibri" pitchFamily="34" charset="-120"/>
                        </a:rPr>
                        <a:t>Status da ata não preenchido</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8A5F0D"/>
                          </a:solidFill>
                          <a:latin typeface="Calibri" pitchFamily="34" charset="0"/>
                          <a:ea typeface="Calibri" pitchFamily="34" charset="-122"/>
                          <a:cs typeface="Calibri" pitchFamily="34" charset="-120"/>
                        </a:rPr>
                        <a:t>01</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236"/>
                          </a:solidFill>
                          <a:latin typeface="Calibri" pitchFamily="34" charset="0"/>
                          <a:ea typeface="Calibri" pitchFamily="34" charset="-122"/>
                          <a:cs typeface="Calibri" pitchFamily="34" charset="-120"/>
                        </a:rPr>
                        <a:t>Status em branco; a observação cita a ARP 032/2026 SEAD/MA.</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B2236"/>
                          </a:solidFill>
                          <a:latin typeface="Calibri" pitchFamily="34" charset="0"/>
                          <a:ea typeface="Calibri" pitchFamily="34" charset="-122"/>
                          <a:cs typeface="Calibri" pitchFamily="34" charset="-120"/>
                        </a:rPr>
                        <a:t>DOD elaborado sem justificativa no drive</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250" b="1" dirty="0">
                          <a:solidFill>
                            <a:srgbClr val="8A5F0D"/>
                          </a:solidFill>
                          <a:latin typeface="Calibri" pitchFamily="34" charset="0"/>
                          <a:ea typeface="Calibri" pitchFamily="34" charset="-122"/>
                          <a:cs typeface="Calibri" pitchFamily="34" charset="-120"/>
                        </a:rPr>
                        <a:t>12 e 18</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250" dirty="0">
                          <a:solidFill>
                            <a:srgbClr val="1B2236"/>
                          </a:solidFill>
                          <a:latin typeface="Calibri" pitchFamily="34" charset="0"/>
                          <a:ea typeface="Calibri" pitchFamily="34" charset="-122"/>
                          <a:cs typeface="Calibri" pitchFamily="34" charset="-120"/>
                        </a:rPr>
                        <a:t>Status do DOD “Elaborado” e observação “Sem justificativa no drive”.</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r h="457200">
                <a:tc>
                  <a:txBody>
                    <a:bodyPr/>
                    <a:lstStyle/>
                    <a:p>
                      <a:pPr algn="l" indent="0" marL="0">
                        <a:buNone/>
                      </a:pPr>
                      <a:r>
                        <a:rPr lang="en-US" sz="1250" b="1" dirty="0">
                          <a:solidFill>
                            <a:srgbClr val="1B2236"/>
                          </a:solidFill>
                          <a:latin typeface="Calibri" pitchFamily="34" charset="0"/>
                          <a:ea typeface="Calibri" pitchFamily="34" charset="-122"/>
                          <a:cs typeface="Calibri" pitchFamily="34" charset="-120"/>
                        </a:rPr>
                        <a:t>Processo SEI com ano diferente de 2026</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8A5F0D"/>
                          </a:solidFill>
                          <a:latin typeface="Calibri" pitchFamily="34" charset="0"/>
                          <a:ea typeface="Calibri" pitchFamily="34" charset="-122"/>
                          <a:cs typeface="Calibri" pitchFamily="34" charset="-120"/>
                        </a:rPr>
                        <a:t>15, 16 e 17</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236"/>
                          </a:solidFill>
                          <a:latin typeface="Calibri" pitchFamily="34" charset="0"/>
                          <a:ea typeface="Calibri" pitchFamily="34" charset="-122"/>
                          <a:cs typeface="Calibri" pitchFamily="34" charset="-120"/>
                        </a:rPr>
                        <a:t>SEI-260005/009053/2028 · SEI-260005/009054/2029 · SEI-260005/008717/2025.</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B2236"/>
                          </a:solidFill>
                          <a:latin typeface="Calibri" pitchFamily="34" charset="0"/>
                          <a:ea typeface="Calibri" pitchFamily="34" charset="-122"/>
                          <a:cs typeface="Calibri" pitchFamily="34" charset="-120"/>
                        </a:rPr>
                        <a:t>Processo SEI não informado</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250" b="1" dirty="0">
                          <a:solidFill>
                            <a:srgbClr val="8A5F0D"/>
                          </a:solidFill>
                          <a:latin typeface="Calibri" pitchFamily="34" charset="0"/>
                          <a:ea typeface="Calibri" pitchFamily="34" charset="-122"/>
                          <a:cs typeface="Calibri" pitchFamily="34" charset="-120"/>
                        </a:rPr>
                        <a:t>14, 18 e 20</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c>
                  <a:txBody>
                    <a:bodyPr/>
                    <a:lstStyle/>
                    <a:p>
                      <a:pPr algn="l" indent="0" marL="0">
                        <a:buNone/>
                      </a:pPr>
                      <a:r>
                        <a:rPr lang="en-US" sz="1250" dirty="0">
                          <a:solidFill>
                            <a:srgbClr val="1B2236"/>
                          </a:solidFill>
                          <a:latin typeface="Calibri" pitchFamily="34" charset="0"/>
                          <a:ea typeface="Calibri" pitchFamily="34" charset="-122"/>
                          <a:cs typeface="Calibri" pitchFamily="34" charset="-120"/>
                        </a:rPr>
                        <a:t>“Não há processo informado”.</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AF8F3"/>
                    </a:solidFill>
                  </a:tcPr>
                </a:tc>
              </a:tr>
              <a:tr h="457200">
                <a:tc>
                  <a:txBody>
                    <a:bodyPr/>
                    <a:lstStyle/>
                    <a:p>
                      <a:pPr algn="l" indent="0" marL="0">
                        <a:buNone/>
                      </a:pPr>
                      <a:r>
                        <a:rPr lang="en-US" sz="1250" b="1" dirty="0">
                          <a:solidFill>
                            <a:srgbClr val="1B2236"/>
                          </a:solidFill>
                          <a:latin typeface="Calibri" pitchFamily="34" charset="0"/>
                          <a:ea typeface="Calibri" pitchFamily="34" charset="-122"/>
                          <a:cs typeface="Calibri" pitchFamily="34" charset="-120"/>
                        </a:rPr>
                        <a:t>Data de recebimento posterior à posição</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8A5F0D"/>
                          </a:solidFill>
                          <a:latin typeface="Calibri" pitchFamily="34" charset="0"/>
                          <a:ea typeface="Calibri" pitchFamily="34" charset="-122"/>
                          <a:cs typeface="Calibri" pitchFamily="34" charset="-120"/>
                        </a:rPr>
                        <a:t>07, 08 e 10</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236"/>
                          </a:solidFill>
                          <a:latin typeface="Calibri" pitchFamily="34" charset="0"/>
                          <a:ea typeface="Calibri" pitchFamily="34" charset="-122"/>
                          <a:cs typeface="Calibri" pitchFamily="34" charset="-120"/>
                        </a:rPr>
                        <a:t>Registro “Recebido 18/10” em planilha com posição de 25/09/2026.</a:t>
                      </a:r>
                      <a:endParaRPr lang="en-US" sz="1250" dirty="0">
                        <a:latin typeface="Calibri" charset="0"/>
                        <a:ea typeface="Calibri" charset="0"/>
                        <a:cs typeface="Calibri" charset="0"/>
                      </a:endParaRPr>
                    </a:p>
                  </a:txBody>
                  <a:tcPr marL="88900" marR="88900" marT="50800" marB="50800" anchor="ctr">
                    <a:lnL w="6350" cap="flat" cmpd="sng" algn="ctr">
                      <a:solidFill>
                        <a:srgbClr val="E2DCCF"/>
                      </a:solidFill>
                      <a:prstDash val="solid"/>
                      <a:round/>
                      <a:headEnd type="none" w="med" len="med"/>
                      <a:tailEnd type="none" w="med" len="med"/>
                    </a:lnL>
                    <a:lnR w="6350" cap="flat" cmpd="sng" algn="ctr">
                      <a:solidFill>
                        <a:srgbClr val="E2DCCF"/>
                      </a:solidFill>
                      <a:prstDash val="solid"/>
                      <a:round/>
                      <a:headEnd type="none" w="med" len="med"/>
                      <a:tailEnd type="none" w="med" len="med"/>
                    </a:lnR>
                    <a:lnT w="6350" cap="flat" cmpd="sng" algn="ctr">
                      <a:solidFill>
                        <a:srgbClr val="E2DCCF"/>
                      </a:solidFill>
                      <a:prstDash val="solid"/>
                      <a:round/>
                      <a:headEnd type="none" w="med" len="med"/>
                      <a:tailEnd type="none" w="med" len="med"/>
                    </a:lnT>
                    <a:lnB w="6350" cap="flat" cmpd="sng" algn="ctr">
                      <a:solidFill>
                        <a:srgbClr val="E2DCCF"/>
                      </a:solidFill>
                      <a:prstDash val="solid"/>
                      <a:round/>
                      <a:headEnd type="none" w="med" len="med"/>
                      <a:tailEnd type="none" w="med" len="med"/>
                    </a:lnB>
                    <a:solidFill>
                      <a:srgbClr val="FFFFFF"/>
                    </a:solidFill>
                  </a:tcPr>
                </a:tc>
              </a:tr>
            </a:tbl>
          </a:graphicData>
        </a:graphic>
      </p:graphicFrame>
      <p:sp>
        <p:nvSpPr>
          <p:cNvPr id="7" name="Shape 4"/>
          <p:cNvSpPr/>
          <p:nvPr/>
        </p:nvSpPr>
        <p:spPr>
          <a:xfrm>
            <a:off x="685800" y="6355080"/>
            <a:ext cx="10820095" cy="0"/>
          </a:xfrm>
          <a:prstGeom prst="line">
            <a:avLst/>
          </a:prstGeom>
          <a:noFill/>
          <a:ln w="6350">
            <a:solidFill>
              <a:srgbClr val="D9D2C3"/>
            </a:solidFill>
            <a:prstDash val="solid"/>
          </a:ln>
        </p:spPr>
      </p:sp>
      <p:sp>
        <p:nvSpPr>
          <p:cNvPr id="8" name="Text 5"/>
          <p:cNvSpPr txBox="1"/>
          <p:nvPr/>
        </p:nvSpPr>
        <p:spPr>
          <a:xfrm>
            <a:off x="685800" y="6419088"/>
            <a:ext cx="9601200" cy="256032"/>
          </a:xfrm>
          <a:prstGeom prst="rect">
            <a:avLst/>
          </a:prstGeom>
          <a:noFill/>
          <a:ln/>
        </p:spPr>
        <p:txBody>
          <a:bodyPr wrap="square" lIns="0" tIns="0" rIns="0" bIns="0" rtlCol="0" anchor="ctr"/>
          <a:lstStyle/>
          <a:p>
            <a:pPr indent="0" marL="0">
              <a:buNone/>
            </a:pPr>
            <a:r>
              <a:rPr lang="en-US" sz="1000" dirty="0">
                <a:solidFill>
                  <a:srgbClr val="6E6758"/>
                </a:solidFill>
                <a:latin typeface="Calibri" pitchFamily="34" charset="0"/>
                <a:ea typeface="Calibri" pitchFamily="34" charset="-122"/>
                <a:cs typeface="Calibri" pitchFamily="34" charset="-120"/>
              </a:rPr>
              <a:t>GT PROPAG · Compras Públicas · Fonte: Planilha de andamento do GT PROPAG · posição de 25/09/2026</a:t>
            </a:r>
            <a:endParaRPr lang="en-US" sz="1000" dirty="0"/>
          </a:p>
        </p:txBody>
      </p:sp>
      <p:sp>
        <p:nvSpPr>
          <p:cNvPr id="9" name="Text 6"/>
          <p:cNvSpPr txBox="1"/>
          <p:nvPr/>
        </p:nvSpPr>
        <p:spPr>
          <a:xfrm>
            <a:off x="10591495" y="6419088"/>
            <a:ext cx="914400" cy="256032"/>
          </a:xfrm>
          <a:prstGeom prst="rect">
            <a:avLst/>
          </a:prstGeom>
          <a:noFill/>
          <a:ln/>
        </p:spPr>
        <p:txBody>
          <a:bodyPr wrap="square" lIns="0" tIns="0" rIns="0" bIns="0" rtlCol="0" anchor="ctr"/>
          <a:lstStyle/>
          <a:p>
            <a:pPr algn="r" indent="0" marL="0">
              <a:buNone/>
            </a:pPr>
            <a:r>
              <a:rPr lang="en-US" sz="1050" b="1" dirty="0">
                <a:solidFill>
                  <a:srgbClr val="16284D"/>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8962F"/>
          </a:solidFill>
          <a:ln w="12700">
            <a:solidFill>
              <a:srgbClr val="C8962F"/>
            </a:solidFill>
            <a:prstDash val="solid"/>
          </a:ln>
        </p:spPr>
      </p:sp>
      <p:sp>
        <p:nvSpPr>
          <p:cNvPr id="3" name="Text 1"/>
          <p:cNvSpPr txBox="1"/>
          <p:nvPr/>
        </p:nvSpPr>
        <p:spPr>
          <a:xfrm>
            <a:off x="685800" y="457200"/>
            <a:ext cx="10820095" cy="274320"/>
          </a:xfrm>
          <a:prstGeom prst="rect">
            <a:avLst/>
          </a:prstGeom>
          <a:noFill/>
          <a:ln/>
        </p:spPr>
        <p:txBody>
          <a:bodyPr wrap="square" lIns="0" tIns="0" rIns="0" bIns="0" rtlCol="0" anchor="ctr"/>
          <a:lstStyle/>
          <a:p>
            <a:pPr indent="0" marL="0">
              <a:buNone/>
            </a:pPr>
            <a:r>
              <a:rPr lang="en-US" sz="1150" b="1" spc="300" kern="0" dirty="0">
                <a:solidFill>
                  <a:srgbClr val="8A5F0D"/>
                </a:solidFill>
                <a:latin typeface="Calibri" pitchFamily="34" charset="0"/>
                <a:ea typeface="Calibri" pitchFamily="34" charset="-122"/>
                <a:cs typeface="Calibri" pitchFamily="34" charset="-120"/>
              </a:rPr>
              <a:t>ENCAMINHAMENTOS PROPOSTOS</a:t>
            </a:r>
            <a:endParaRPr lang="en-US" sz="1150" dirty="0"/>
          </a:p>
        </p:txBody>
      </p:sp>
      <p:sp>
        <p:nvSpPr>
          <p:cNvPr id="4" name="Text 2"/>
          <p:cNvSpPr txBox="1"/>
          <p:nvPr/>
        </p:nvSpPr>
        <p:spPr>
          <a:xfrm>
            <a:off x="685800" y="749808"/>
            <a:ext cx="10820095" cy="658368"/>
          </a:xfrm>
          <a:prstGeom prst="rect">
            <a:avLst/>
          </a:prstGeom>
          <a:noFill/>
          <a:ln/>
        </p:spPr>
        <p:txBody>
          <a:bodyPr wrap="square" lIns="0" tIns="0" rIns="0" bIns="0" rtlCol="0" anchor="t"/>
          <a:lstStyle/>
          <a:p>
            <a:pPr indent="0" marL="0">
              <a:buNone/>
            </a:pPr>
            <a:r>
              <a:rPr lang="en-US" sz="3200" b="1" dirty="0">
                <a:solidFill>
                  <a:srgbClr val="16284D"/>
                </a:solidFill>
                <a:latin typeface="Cambria" pitchFamily="34" charset="0"/>
                <a:ea typeface="Cambria" pitchFamily="34" charset="-122"/>
                <a:cs typeface="Cambria" pitchFamily="34" charset="-120"/>
              </a:rPr>
              <a:t>Providências para o avanço da carteira</a:t>
            </a:r>
            <a:endParaRPr lang="en-US" sz="3200" dirty="0"/>
          </a:p>
        </p:txBody>
      </p:sp>
      <p:sp>
        <p:nvSpPr>
          <p:cNvPr id="5" name="Shape 3"/>
          <p:cNvSpPr/>
          <p:nvPr/>
        </p:nvSpPr>
        <p:spPr>
          <a:xfrm>
            <a:off x="685800" y="1481328"/>
            <a:ext cx="1005840" cy="0"/>
          </a:xfrm>
          <a:prstGeom prst="line">
            <a:avLst/>
          </a:prstGeom>
          <a:noFill/>
          <a:ln w="25400">
            <a:solidFill>
              <a:srgbClr val="C8962F"/>
            </a:solidFill>
            <a:prstDash val="solid"/>
          </a:ln>
        </p:spPr>
      </p:sp>
      <p:sp>
        <p:nvSpPr>
          <p:cNvPr id="6" name="Shape 4"/>
          <p:cNvSpPr/>
          <p:nvPr/>
        </p:nvSpPr>
        <p:spPr>
          <a:xfrm>
            <a:off x="685800" y="1783080"/>
            <a:ext cx="3423818" cy="1965960"/>
          </a:xfrm>
          <a:prstGeom prst="rect">
            <a:avLst/>
          </a:prstGeom>
          <a:solidFill>
            <a:srgbClr val="FFFFFF"/>
          </a:solidFill>
          <a:ln w="9525">
            <a:solidFill>
              <a:srgbClr val="E2DCCF"/>
            </a:solidFill>
            <a:prstDash val="solid"/>
          </a:ln>
          <a:effectLst>
            <a:outerShdw sx="100000" sy="100000" kx="0" ky="0" algn="bl" rotWithShape="0" blurRad="101600" dist="25400" dir="5400000">
              <a:srgbClr val="16284D">
                <a:alpha val="7000"/>
              </a:srgbClr>
            </a:outerShdw>
          </a:effectLst>
        </p:spPr>
      </p:sp>
      <p:sp>
        <p:nvSpPr>
          <p:cNvPr id="7" name="Shape 5"/>
          <p:cNvSpPr/>
          <p:nvPr/>
        </p:nvSpPr>
        <p:spPr>
          <a:xfrm>
            <a:off x="685800" y="1783080"/>
            <a:ext cx="3423818" cy="64008"/>
          </a:xfrm>
          <a:prstGeom prst="rect">
            <a:avLst/>
          </a:prstGeom>
          <a:solidFill>
            <a:srgbClr val="C8962F"/>
          </a:solidFill>
          <a:ln w="12700">
            <a:solidFill>
              <a:srgbClr val="C8962F"/>
            </a:solidFill>
            <a:prstDash val="solid"/>
          </a:ln>
        </p:spPr>
      </p:sp>
      <p:sp>
        <p:nvSpPr>
          <p:cNvPr id="8" name="Text 6"/>
          <p:cNvSpPr txBox="1"/>
          <p:nvPr/>
        </p:nvSpPr>
        <p:spPr>
          <a:xfrm>
            <a:off x="960120" y="2011680"/>
            <a:ext cx="731520" cy="457200"/>
          </a:xfrm>
          <a:prstGeom prst="rect">
            <a:avLst/>
          </a:prstGeom>
          <a:noFill/>
          <a:ln/>
        </p:spPr>
        <p:txBody>
          <a:bodyPr wrap="square" lIns="0" tIns="0" rIns="0" bIns="0" rtlCol="0" anchor="ctr"/>
          <a:lstStyle/>
          <a:p>
            <a:pPr indent="0" marL="0">
              <a:buNone/>
            </a:pPr>
            <a:r>
              <a:rPr lang="en-US" sz="2400" b="1" dirty="0">
                <a:solidFill>
                  <a:srgbClr val="C8962F"/>
                </a:solidFill>
                <a:latin typeface="Cambria" pitchFamily="34" charset="0"/>
                <a:ea typeface="Cambria" pitchFamily="34" charset="-122"/>
                <a:cs typeface="Cambria" pitchFamily="34" charset="-120"/>
              </a:rPr>
              <a:t>01</a:t>
            </a:r>
            <a:endParaRPr lang="en-US" sz="2400" dirty="0"/>
          </a:p>
        </p:txBody>
      </p:sp>
      <p:sp>
        <p:nvSpPr>
          <p:cNvPr id="9" name="Text 7"/>
          <p:cNvSpPr txBox="1"/>
          <p:nvPr/>
        </p:nvSpPr>
        <p:spPr>
          <a:xfrm>
            <a:off x="1645920" y="2011680"/>
            <a:ext cx="2235098" cy="457200"/>
          </a:xfrm>
          <a:prstGeom prst="rect">
            <a:avLst/>
          </a:prstGeom>
          <a:noFill/>
          <a:ln/>
        </p:spPr>
        <p:txBody>
          <a:bodyPr wrap="square" lIns="0" tIns="0" rIns="0" bIns="0" rtlCol="0" anchor="ctr"/>
          <a:lstStyle/>
          <a:p>
            <a:pPr indent="0" marL="0">
              <a:buNone/>
            </a:pPr>
            <a:r>
              <a:rPr lang="en-US" sz="1500" b="1" dirty="0">
                <a:solidFill>
                  <a:srgbClr val="16284D"/>
                </a:solidFill>
                <a:latin typeface="Calibri" pitchFamily="34" charset="0"/>
                <a:ea typeface="Calibri" pitchFamily="34" charset="-122"/>
                <a:cs typeface="Calibri" pitchFamily="34" charset="-120"/>
              </a:rPr>
              <a:t>Justificativas</a:t>
            </a:r>
            <a:endParaRPr lang="en-US" sz="1500" dirty="0"/>
          </a:p>
        </p:txBody>
      </p:sp>
      <p:sp>
        <p:nvSpPr>
          <p:cNvPr id="10" name="Text 8"/>
          <p:cNvSpPr txBox="1"/>
          <p:nvPr/>
        </p:nvSpPr>
        <p:spPr>
          <a:xfrm>
            <a:off x="960120" y="2606040"/>
            <a:ext cx="2875178" cy="1005840"/>
          </a:xfrm>
          <a:prstGeom prst="rect">
            <a:avLst/>
          </a:prstGeom>
          <a:noFill/>
          <a:ln/>
        </p:spPr>
        <p:txBody>
          <a:bodyPr wrap="square" lIns="0" tIns="0" rIns="0" bIns="0" rtlCol="0" anchor="t"/>
          <a:lstStyle/>
          <a:p>
            <a:pPr indent="0" marL="0">
              <a:buNone/>
            </a:pPr>
            <a:r>
              <a:rPr lang="en-US" sz="1300" dirty="0">
                <a:solidFill>
                  <a:srgbClr val="3E3A30"/>
                </a:solidFill>
                <a:latin typeface="Calibri" pitchFamily="34" charset="0"/>
                <a:ea typeface="Calibri" pitchFamily="34" charset="-122"/>
                <a:cs typeface="Calibri" pitchFamily="34" charset="-120"/>
              </a:rPr>
              <a:t>Obter as justificativas das 9 demandas sem registro no drive (itens 11 a 19).</a:t>
            </a:r>
            <a:endParaRPr lang="en-US" sz="1300" dirty="0"/>
          </a:p>
        </p:txBody>
      </p:sp>
      <p:sp>
        <p:nvSpPr>
          <p:cNvPr id="11" name="Shape 9"/>
          <p:cNvSpPr/>
          <p:nvPr/>
        </p:nvSpPr>
        <p:spPr>
          <a:xfrm>
            <a:off x="4383938" y="1783080"/>
            <a:ext cx="3423818" cy="1965960"/>
          </a:xfrm>
          <a:prstGeom prst="rect">
            <a:avLst/>
          </a:prstGeom>
          <a:solidFill>
            <a:srgbClr val="FFFFFF"/>
          </a:solidFill>
          <a:ln w="9525">
            <a:solidFill>
              <a:srgbClr val="E2DCCF"/>
            </a:solidFill>
            <a:prstDash val="solid"/>
          </a:ln>
          <a:effectLst>
            <a:outerShdw sx="100000" sy="100000" kx="0" ky="0" algn="bl" rotWithShape="0" blurRad="101600" dist="25400" dir="5400000">
              <a:srgbClr val="16284D">
                <a:alpha val="7000"/>
              </a:srgbClr>
            </a:outerShdw>
          </a:effectLst>
        </p:spPr>
      </p:sp>
      <p:sp>
        <p:nvSpPr>
          <p:cNvPr id="12" name="Shape 10"/>
          <p:cNvSpPr/>
          <p:nvPr/>
        </p:nvSpPr>
        <p:spPr>
          <a:xfrm>
            <a:off x="4383938" y="1783080"/>
            <a:ext cx="3423818" cy="64008"/>
          </a:xfrm>
          <a:prstGeom prst="rect">
            <a:avLst/>
          </a:prstGeom>
          <a:solidFill>
            <a:srgbClr val="C8962F"/>
          </a:solidFill>
          <a:ln w="12700">
            <a:solidFill>
              <a:srgbClr val="C8962F"/>
            </a:solidFill>
            <a:prstDash val="solid"/>
          </a:ln>
        </p:spPr>
      </p:sp>
      <p:sp>
        <p:nvSpPr>
          <p:cNvPr id="13" name="Text 11"/>
          <p:cNvSpPr txBox="1"/>
          <p:nvPr/>
        </p:nvSpPr>
        <p:spPr>
          <a:xfrm>
            <a:off x="4658258" y="2011680"/>
            <a:ext cx="731520" cy="457200"/>
          </a:xfrm>
          <a:prstGeom prst="rect">
            <a:avLst/>
          </a:prstGeom>
          <a:noFill/>
          <a:ln/>
        </p:spPr>
        <p:txBody>
          <a:bodyPr wrap="square" lIns="0" tIns="0" rIns="0" bIns="0" rtlCol="0" anchor="ctr"/>
          <a:lstStyle/>
          <a:p>
            <a:pPr indent="0" marL="0">
              <a:buNone/>
            </a:pPr>
            <a:r>
              <a:rPr lang="en-US" sz="2400" b="1" dirty="0">
                <a:solidFill>
                  <a:srgbClr val="C8962F"/>
                </a:solidFill>
                <a:latin typeface="Cambria" pitchFamily="34" charset="0"/>
                <a:ea typeface="Cambria" pitchFamily="34" charset="-122"/>
                <a:cs typeface="Cambria" pitchFamily="34" charset="-120"/>
              </a:rPr>
              <a:t>02</a:t>
            </a:r>
            <a:endParaRPr lang="en-US" sz="2400" dirty="0"/>
          </a:p>
        </p:txBody>
      </p:sp>
      <p:sp>
        <p:nvSpPr>
          <p:cNvPr id="14" name="Text 12"/>
          <p:cNvSpPr txBox="1"/>
          <p:nvPr/>
        </p:nvSpPr>
        <p:spPr>
          <a:xfrm>
            <a:off x="5344058" y="2011680"/>
            <a:ext cx="2235098" cy="457200"/>
          </a:xfrm>
          <a:prstGeom prst="rect">
            <a:avLst/>
          </a:prstGeom>
          <a:noFill/>
          <a:ln/>
        </p:spPr>
        <p:txBody>
          <a:bodyPr wrap="square" lIns="0" tIns="0" rIns="0" bIns="0" rtlCol="0" anchor="ctr"/>
          <a:lstStyle/>
          <a:p>
            <a:pPr indent="0" marL="0">
              <a:buNone/>
            </a:pPr>
            <a:r>
              <a:rPr lang="en-US" sz="1500" b="1" dirty="0">
                <a:solidFill>
                  <a:srgbClr val="16284D"/>
                </a:solidFill>
                <a:latin typeface="Calibri" pitchFamily="34" charset="0"/>
                <a:ea typeface="Calibri" pitchFamily="34" charset="-122"/>
                <a:cs typeface="Calibri" pitchFamily="34" charset="-120"/>
              </a:rPr>
              <a:t>Análises em curso</a:t>
            </a:r>
            <a:endParaRPr lang="en-US" sz="1500" dirty="0"/>
          </a:p>
        </p:txBody>
      </p:sp>
      <p:sp>
        <p:nvSpPr>
          <p:cNvPr id="15" name="Text 13"/>
          <p:cNvSpPr txBox="1"/>
          <p:nvPr/>
        </p:nvSpPr>
        <p:spPr>
          <a:xfrm>
            <a:off x="4658258" y="2606040"/>
            <a:ext cx="2875178" cy="1005840"/>
          </a:xfrm>
          <a:prstGeom prst="rect">
            <a:avLst/>
          </a:prstGeom>
          <a:noFill/>
          <a:ln/>
        </p:spPr>
        <p:txBody>
          <a:bodyPr wrap="square" lIns="0" tIns="0" rIns="0" bIns="0" rtlCol="0" anchor="t"/>
          <a:lstStyle/>
          <a:p>
            <a:pPr indent="0" marL="0">
              <a:buNone/>
            </a:pPr>
            <a:r>
              <a:rPr lang="en-US" sz="1300" dirty="0">
                <a:solidFill>
                  <a:srgbClr val="3E3A30"/>
                </a:solidFill>
                <a:latin typeface="Calibri" pitchFamily="34" charset="0"/>
                <a:ea typeface="Calibri" pitchFamily="34" charset="-122"/>
                <a:cs typeface="Calibri" pitchFamily="34" charset="-120"/>
              </a:rPr>
              <a:t>Concluir a análise das demandas encaminhadas (itens 01, 03 e 06) e o reexame das demandas 02, 04 e 05.</a:t>
            </a:r>
            <a:endParaRPr lang="en-US" sz="1300" dirty="0"/>
          </a:p>
        </p:txBody>
      </p:sp>
      <p:sp>
        <p:nvSpPr>
          <p:cNvPr id="16" name="Shape 14"/>
          <p:cNvSpPr/>
          <p:nvPr/>
        </p:nvSpPr>
        <p:spPr>
          <a:xfrm>
            <a:off x="8082077" y="1783080"/>
            <a:ext cx="3423818" cy="1965960"/>
          </a:xfrm>
          <a:prstGeom prst="rect">
            <a:avLst/>
          </a:prstGeom>
          <a:solidFill>
            <a:srgbClr val="FFFFFF"/>
          </a:solidFill>
          <a:ln w="9525">
            <a:solidFill>
              <a:srgbClr val="E2DCCF"/>
            </a:solidFill>
            <a:prstDash val="solid"/>
          </a:ln>
          <a:effectLst>
            <a:outerShdw sx="100000" sy="100000" kx="0" ky="0" algn="bl" rotWithShape="0" blurRad="101600" dist="25400" dir="5400000">
              <a:srgbClr val="16284D">
                <a:alpha val="7000"/>
              </a:srgbClr>
            </a:outerShdw>
          </a:effectLst>
        </p:spPr>
      </p:sp>
      <p:sp>
        <p:nvSpPr>
          <p:cNvPr id="17" name="Shape 15"/>
          <p:cNvSpPr/>
          <p:nvPr/>
        </p:nvSpPr>
        <p:spPr>
          <a:xfrm>
            <a:off x="8082077" y="1783080"/>
            <a:ext cx="3423818" cy="64008"/>
          </a:xfrm>
          <a:prstGeom prst="rect">
            <a:avLst/>
          </a:prstGeom>
          <a:solidFill>
            <a:srgbClr val="C8962F"/>
          </a:solidFill>
          <a:ln w="12700">
            <a:solidFill>
              <a:srgbClr val="C8962F"/>
            </a:solidFill>
            <a:prstDash val="solid"/>
          </a:ln>
        </p:spPr>
      </p:sp>
      <p:sp>
        <p:nvSpPr>
          <p:cNvPr id="18" name="Text 16"/>
          <p:cNvSpPr txBox="1"/>
          <p:nvPr/>
        </p:nvSpPr>
        <p:spPr>
          <a:xfrm>
            <a:off x="8356397" y="2011680"/>
            <a:ext cx="731520" cy="457200"/>
          </a:xfrm>
          <a:prstGeom prst="rect">
            <a:avLst/>
          </a:prstGeom>
          <a:noFill/>
          <a:ln/>
        </p:spPr>
        <p:txBody>
          <a:bodyPr wrap="square" lIns="0" tIns="0" rIns="0" bIns="0" rtlCol="0" anchor="ctr"/>
          <a:lstStyle/>
          <a:p>
            <a:pPr indent="0" marL="0">
              <a:buNone/>
            </a:pPr>
            <a:r>
              <a:rPr lang="en-US" sz="2400" b="1" dirty="0">
                <a:solidFill>
                  <a:srgbClr val="C8962F"/>
                </a:solidFill>
                <a:latin typeface="Cambria" pitchFamily="34" charset="0"/>
                <a:ea typeface="Cambria" pitchFamily="34" charset="-122"/>
                <a:cs typeface="Cambria" pitchFamily="34" charset="-120"/>
              </a:rPr>
              <a:t>03</a:t>
            </a:r>
            <a:endParaRPr lang="en-US" sz="2400" dirty="0"/>
          </a:p>
        </p:txBody>
      </p:sp>
      <p:sp>
        <p:nvSpPr>
          <p:cNvPr id="19" name="Text 17"/>
          <p:cNvSpPr txBox="1"/>
          <p:nvPr/>
        </p:nvSpPr>
        <p:spPr>
          <a:xfrm>
            <a:off x="9042197" y="2011680"/>
            <a:ext cx="2235098" cy="457200"/>
          </a:xfrm>
          <a:prstGeom prst="rect">
            <a:avLst/>
          </a:prstGeom>
          <a:noFill/>
          <a:ln/>
        </p:spPr>
        <p:txBody>
          <a:bodyPr wrap="square" lIns="0" tIns="0" rIns="0" bIns="0" rtlCol="0" anchor="ctr"/>
          <a:lstStyle/>
          <a:p>
            <a:pPr indent="0" marL="0">
              <a:buNone/>
            </a:pPr>
            <a:r>
              <a:rPr lang="en-US" sz="1500" b="1" dirty="0">
                <a:solidFill>
                  <a:srgbClr val="16284D"/>
                </a:solidFill>
                <a:latin typeface="Calibri" pitchFamily="34" charset="0"/>
                <a:ea typeface="Calibri" pitchFamily="34" charset="-122"/>
                <a:cs typeface="Calibri" pitchFamily="34" charset="-120"/>
              </a:rPr>
              <a:t>Manifestação do TI</a:t>
            </a:r>
            <a:endParaRPr lang="en-US" sz="1500" dirty="0"/>
          </a:p>
        </p:txBody>
      </p:sp>
      <p:sp>
        <p:nvSpPr>
          <p:cNvPr id="20" name="Text 18"/>
          <p:cNvSpPr txBox="1"/>
          <p:nvPr/>
        </p:nvSpPr>
        <p:spPr>
          <a:xfrm>
            <a:off x="8356397" y="2606040"/>
            <a:ext cx="2875178" cy="1005840"/>
          </a:xfrm>
          <a:prstGeom prst="rect">
            <a:avLst/>
          </a:prstGeom>
          <a:noFill/>
          <a:ln/>
        </p:spPr>
        <p:txBody>
          <a:bodyPr wrap="square" lIns="0" tIns="0" rIns="0" bIns="0" rtlCol="0" anchor="t"/>
          <a:lstStyle/>
          <a:p>
            <a:pPr indent="0" marL="0">
              <a:buNone/>
            </a:pPr>
            <a:r>
              <a:rPr lang="en-US" sz="1300" dirty="0">
                <a:solidFill>
                  <a:srgbClr val="3E3A30"/>
                </a:solidFill>
                <a:latin typeface="Calibri" pitchFamily="34" charset="0"/>
                <a:ea typeface="Calibri" pitchFamily="34" charset="-122"/>
                <a:cs typeface="Calibri" pitchFamily="34" charset="-120"/>
              </a:rPr>
              <a:t>Obter a manifestação do TI nas demandas com ata indicada e status “NÃO” (itens 07, 12, 13, 14, 18 e 19).</a:t>
            </a:r>
            <a:endParaRPr lang="en-US" sz="1300" dirty="0"/>
          </a:p>
        </p:txBody>
      </p:sp>
      <p:sp>
        <p:nvSpPr>
          <p:cNvPr id="21" name="Shape 19"/>
          <p:cNvSpPr/>
          <p:nvPr/>
        </p:nvSpPr>
        <p:spPr>
          <a:xfrm>
            <a:off x="685800" y="4023360"/>
            <a:ext cx="3423818" cy="1965960"/>
          </a:xfrm>
          <a:prstGeom prst="rect">
            <a:avLst/>
          </a:prstGeom>
          <a:solidFill>
            <a:srgbClr val="FFFFFF"/>
          </a:solidFill>
          <a:ln w="9525">
            <a:solidFill>
              <a:srgbClr val="E2DCCF"/>
            </a:solidFill>
            <a:prstDash val="solid"/>
          </a:ln>
          <a:effectLst>
            <a:outerShdw sx="100000" sy="100000" kx="0" ky="0" algn="bl" rotWithShape="0" blurRad="101600" dist="25400" dir="5400000">
              <a:srgbClr val="16284D">
                <a:alpha val="7000"/>
              </a:srgbClr>
            </a:outerShdw>
          </a:effectLst>
        </p:spPr>
      </p:sp>
      <p:sp>
        <p:nvSpPr>
          <p:cNvPr id="22" name="Shape 20"/>
          <p:cNvSpPr/>
          <p:nvPr/>
        </p:nvSpPr>
        <p:spPr>
          <a:xfrm>
            <a:off x="685800" y="4023360"/>
            <a:ext cx="3423818" cy="64008"/>
          </a:xfrm>
          <a:prstGeom prst="rect">
            <a:avLst/>
          </a:prstGeom>
          <a:solidFill>
            <a:srgbClr val="C8962F"/>
          </a:solidFill>
          <a:ln w="12700">
            <a:solidFill>
              <a:srgbClr val="C8962F"/>
            </a:solidFill>
            <a:prstDash val="solid"/>
          </a:ln>
        </p:spPr>
      </p:sp>
      <p:sp>
        <p:nvSpPr>
          <p:cNvPr id="23" name="Text 21"/>
          <p:cNvSpPr txBox="1"/>
          <p:nvPr/>
        </p:nvSpPr>
        <p:spPr>
          <a:xfrm>
            <a:off x="960120" y="4251960"/>
            <a:ext cx="731520" cy="457200"/>
          </a:xfrm>
          <a:prstGeom prst="rect">
            <a:avLst/>
          </a:prstGeom>
          <a:noFill/>
          <a:ln/>
        </p:spPr>
        <p:txBody>
          <a:bodyPr wrap="square" lIns="0" tIns="0" rIns="0" bIns="0" rtlCol="0" anchor="ctr"/>
          <a:lstStyle/>
          <a:p>
            <a:pPr indent="0" marL="0">
              <a:buNone/>
            </a:pPr>
            <a:r>
              <a:rPr lang="en-US" sz="2400" b="1" dirty="0">
                <a:solidFill>
                  <a:srgbClr val="C8962F"/>
                </a:solidFill>
                <a:latin typeface="Cambria" pitchFamily="34" charset="0"/>
                <a:ea typeface="Cambria" pitchFamily="34" charset="-122"/>
                <a:cs typeface="Cambria" pitchFamily="34" charset="-120"/>
              </a:rPr>
              <a:t>04</a:t>
            </a:r>
            <a:endParaRPr lang="en-US" sz="2400" dirty="0"/>
          </a:p>
        </p:txBody>
      </p:sp>
      <p:sp>
        <p:nvSpPr>
          <p:cNvPr id="24" name="Text 22"/>
          <p:cNvSpPr txBox="1"/>
          <p:nvPr/>
        </p:nvSpPr>
        <p:spPr>
          <a:xfrm>
            <a:off x="1645920" y="4251960"/>
            <a:ext cx="2235098" cy="457200"/>
          </a:xfrm>
          <a:prstGeom prst="rect">
            <a:avLst/>
          </a:prstGeom>
          <a:noFill/>
          <a:ln/>
        </p:spPr>
        <p:txBody>
          <a:bodyPr wrap="square" lIns="0" tIns="0" rIns="0" bIns="0" rtlCol="0" anchor="ctr"/>
          <a:lstStyle/>
          <a:p>
            <a:pPr indent="0" marL="0">
              <a:buNone/>
            </a:pPr>
            <a:r>
              <a:rPr lang="en-US" sz="1500" b="1" dirty="0">
                <a:solidFill>
                  <a:srgbClr val="16284D"/>
                </a:solidFill>
                <a:latin typeface="Calibri" pitchFamily="34" charset="0"/>
                <a:ea typeface="Calibri" pitchFamily="34" charset="-122"/>
                <a:cs typeface="Calibri" pitchFamily="34" charset="-120"/>
              </a:rPr>
              <a:t>Pesquisa de atas</a:t>
            </a:r>
            <a:endParaRPr lang="en-US" sz="1500" dirty="0"/>
          </a:p>
        </p:txBody>
      </p:sp>
      <p:sp>
        <p:nvSpPr>
          <p:cNvPr id="25" name="Text 23"/>
          <p:cNvSpPr txBox="1"/>
          <p:nvPr/>
        </p:nvSpPr>
        <p:spPr>
          <a:xfrm>
            <a:off x="960120" y="4846320"/>
            <a:ext cx="2875178" cy="1005840"/>
          </a:xfrm>
          <a:prstGeom prst="rect">
            <a:avLst/>
          </a:prstGeom>
          <a:noFill/>
          <a:ln/>
        </p:spPr>
        <p:txBody>
          <a:bodyPr wrap="square" lIns="0" tIns="0" rIns="0" bIns="0" rtlCol="0" anchor="t"/>
          <a:lstStyle/>
          <a:p>
            <a:pPr indent="0" marL="0">
              <a:buNone/>
            </a:pPr>
            <a:r>
              <a:rPr lang="en-US" sz="1300" dirty="0">
                <a:solidFill>
                  <a:srgbClr val="3E3A30"/>
                </a:solidFill>
                <a:latin typeface="Calibri" pitchFamily="34" charset="0"/>
                <a:ea typeface="Calibri" pitchFamily="34" charset="-122"/>
                <a:cs typeface="Calibri" pitchFamily="34" charset="-120"/>
              </a:rPr>
              <a:t>Concluir a nova pesquisa de atas registrada para 8 demandas (itens 04, 08, 09, 11, 15, 16, 17 e 20).</a:t>
            </a:r>
            <a:endParaRPr lang="en-US" sz="1300" dirty="0"/>
          </a:p>
        </p:txBody>
      </p:sp>
      <p:sp>
        <p:nvSpPr>
          <p:cNvPr id="26" name="Shape 24"/>
          <p:cNvSpPr/>
          <p:nvPr/>
        </p:nvSpPr>
        <p:spPr>
          <a:xfrm>
            <a:off x="4383938" y="4023360"/>
            <a:ext cx="3423818" cy="1965960"/>
          </a:xfrm>
          <a:prstGeom prst="rect">
            <a:avLst/>
          </a:prstGeom>
          <a:solidFill>
            <a:srgbClr val="FFFFFF"/>
          </a:solidFill>
          <a:ln w="9525">
            <a:solidFill>
              <a:srgbClr val="E2DCCF"/>
            </a:solidFill>
            <a:prstDash val="solid"/>
          </a:ln>
          <a:effectLst>
            <a:outerShdw sx="100000" sy="100000" kx="0" ky="0" algn="bl" rotWithShape="0" blurRad="101600" dist="25400" dir="5400000">
              <a:srgbClr val="16284D">
                <a:alpha val="7000"/>
              </a:srgbClr>
            </a:outerShdw>
          </a:effectLst>
        </p:spPr>
      </p:sp>
      <p:sp>
        <p:nvSpPr>
          <p:cNvPr id="27" name="Shape 25"/>
          <p:cNvSpPr/>
          <p:nvPr/>
        </p:nvSpPr>
        <p:spPr>
          <a:xfrm>
            <a:off x="4383938" y="4023360"/>
            <a:ext cx="3423818" cy="64008"/>
          </a:xfrm>
          <a:prstGeom prst="rect">
            <a:avLst/>
          </a:prstGeom>
          <a:solidFill>
            <a:srgbClr val="C8962F"/>
          </a:solidFill>
          <a:ln w="12700">
            <a:solidFill>
              <a:srgbClr val="C8962F"/>
            </a:solidFill>
            <a:prstDash val="solid"/>
          </a:ln>
        </p:spPr>
      </p:sp>
      <p:sp>
        <p:nvSpPr>
          <p:cNvPr id="28" name="Text 26"/>
          <p:cNvSpPr txBox="1"/>
          <p:nvPr/>
        </p:nvSpPr>
        <p:spPr>
          <a:xfrm>
            <a:off x="4658258" y="4251960"/>
            <a:ext cx="731520" cy="457200"/>
          </a:xfrm>
          <a:prstGeom prst="rect">
            <a:avLst/>
          </a:prstGeom>
          <a:noFill/>
          <a:ln/>
        </p:spPr>
        <p:txBody>
          <a:bodyPr wrap="square" lIns="0" tIns="0" rIns="0" bIns="0" rtlCol="0" anchor="ctr"/>
          <a:lstStyle/>
          <a:p>
            <a:pPr indent="0" marL="0">
              <a:buNone/>
            </a:pPr>
            <a:r>
              <a:rPr lang="en-US" sz="2400" b="1" dirty="0">
                <a:solidFill>
                  <a:srgbClr val="C8962F"/>
                </a:solidFill>
                <a:latin typeface="Cambria" pitchFamily="34" charset="0"/>
                <a:ea typeface="Cambria" pitchFamily="34" charset="-122"/>
                <a:cs typeface="Cambria" pitchFamily="34" charset="-120"/>
              </a:rPr>
              <a:t>05</a:t>
            </a:r>
            <a:endParaRPr lang="en-US" sz="2400" dirty="0"/>
          </a:p>
        </p:txBody>
      </p:sp>
      <p:sp>
        <p:nvSpPr>
          <p:cNvPr id="29" name="Text 27"/>
          <p:cNvSpPr txBox="1"/>
          <p:nvPr/>
        </p:nvSpPr>
        <p:spPr>
          <a:xfrm>
            <a:off x="5344058" y="4251960"/>
            <a:ext cx="2235098" cy="457200"/>
          </a:xfrm>
          <a:prstGeom prst="rect">
            <a:avLst/>
          </a:prstGeom>
          <a:noFill/>
          <a:ln/>
        </p:spPr>
        <p:txBody>
          <a:bodyPr wrap="square" lIns="0" tIns="0" rIns="0" bIns="0" rtlCol="0" anchor="ctr"/>
          <a:lstStyle/>
          <a:p>
            <a:pPr indent="0" marL="0">
              <a:buNone/>
            </a:pPr>
            <a:r>
              <a:rPr lang="en-US" sz="1500" b="1" dirty="0">
                <a:solidFill>
                  <a:srgbClr val="16284D"/>
                </a:solidFill>
                <a:latin typeface="Calibri" pitchFamily="34" charset="0"/>
                <a:ea typeface="Calibri" pitchFamily="34" charset="-122"/>
                <a:cs typeface="Calibri" pitchFamily="34" charset="-120"/>
              </a:rPr>
              <a:t>Adesões em tratativa</a:t>
            </a:r>
            <a:endParaRPr lang="en-US" sz="1500" dirty="0"/>
          </a:p>
        </p:txBody>
      </p:sp>
      <p:sp>
        <p:nvSpPr>
          <p:cNvPr id="30" name="Text 28"/>
          <p:cNvSpPr txBox="1"/>
          <p:nvPr/>
        </p:nvSpPr>
        <p:spPr>
          <a:xfrm>
            <a:off x="4658258" y="4846320"/>
            <a:ext cx="2875178" cy="1005840"/>
          </a:xfrm>
          <a:prstGeom prst="rect">
            <a:avLst/>
          </a:prstGeom>
          <a:noFill/>
          <a:ln/>
        </p:spPr>
        <p:txBody>
          <a:bodyPr wrap="square" lIns="0" tIns="0" rIns="0" bIns="0" rtlCol="0" anchor="t"/>
          <a:lstStyle/>
          <a:p>
            <a:pPr indent="0" marL="0">
              <a:buNone/>
            </a:pPr>
            <a:r>
              <a:rPr lang="en-US" sz="1300" dirty="0">
                <a:solidFill>
                  <a:srgbClr val="3E3A30"/>
                </a:solidFill>
                <a:latin typeface="Calibri" pitchFamily="34" charset="0"/>
                <a:ea typeface="Calibri" pitchFamily="34" charset="-122"/>
                <a:cs typeface="Calibri" pitchFamily="34" charset="-120"/>
              </a:rPr>
              <a:t>Item 12: anuência do órgão gerenciador por meio do Compras.gov. Item 18: retorno da empresa quanto ao saldo da ata.</a:t>
            </a:r>
            <a:endParaRPr lang="en-US" sz="1300" dirty="0"/>
          </a:p>
        </p:txBody>
      </p:sp>
      <p:sp>
        <p:nvSpPr>
          <p:cNvPr id="31" name="Shape 29"/>
          <p:cNvSpPr/>
          <p:nvPr/>
        </p:nvSpPr>
        <p:spPr>
          <a:xfrm>
            <a:off x="8082077" y="4023360"/>
            <a:ext cx="3423818" cy="1965960"/>
          </a:xfrm>
          <a:prstGeom prst="rect">
            <a:avLst/>
          </a:prstGeom>
          <a:solidFill>
            <a:srgbClr val="FFFFFF"/>
          </a:solidFill>
          <a:ln w="9525">
            <a:solidFill>
              <a:srgbClr val="E2DCCF"/>
            </a:solidFill>
            <a:prstDash val="solid"/>
          </a:ln>
          <a:effectLst>
            <a:outerShdw sx="100000" sy="100000" kx="0" ky="0" algn="bl" rotWithShape="0" blurRad="101600" dist="25400" dir="5400000">
              <a:srgbClr val="16284D">
                <a:alpha val="7000"/>
              </a:srgbClr>
            </a:outerShdw>
          </a:effectLst>
        </p:spPr>
      </p:sp>
      <p:sp>
        <p:nvSpPr>
          <p:cNvPr id="32" name="Shape 30"/>
          <p:cNvSpPr/>
          <p:nvPr/>
        </p:nvSpPr>
        <p:spPr>
          <a:xfrm>
            <a:off x="8082077" y="4023360"/>
            <a:ext cx="3423818" cy="64008"/>
          </a:xfrm>
          <a:prstGeom prst="rect">
            <a:avLst/>
          </a:prstGeom>
          <a:solidFill>
            <a:srgbClr val="C8962F"/>
          </a:solidFill>
          <a:ln w="12700">
            <a:solidFill>
              <a:srgbClr val="C8962F"/>
            </a:solidFill>
            <a:prstDash val="solid"/>
          </a:ln>
        </p:spPr>
      </p:sp>
      <p:sp>
        <p:nvSpPr>
          <p:cNvPr id="33" name="Text 31"/>
          <p:cNvSpPr txBox="1"/>
          <p:nvPr/>
        </p:nvSpPr>
        <p:spPr>
          <a:xfrm>
            <a:off x="8356397" y="4251960"/>
            <a:ext cx="731520" cy="457200"/>
          </a:xfrm>
          <a:prstGeom prst="rect">
            <a:avLst/>
          </a:prstGeom>
          <a:noFill/>
          <a:ln/>
        </p:spPr>
        <p:txBody>
          <a:bodyPr wrap="square" lIns="0" tIns="0" rIns="0" bIns="0" rtlCol="0" anchor="ctr"/>
          <a:lstStyle/>
          <a:p>
            <a:pPr indent="0" marL="0">
              <a:buNone/>
            </a:pPr>
            <a:r>
              <a:rPr lang="en-US" sz="2400" b="1" dirty="0">
                <a:solidFill>
                  <a:srgbClr val="C8962F"/>
                </a:solidFill>
                <a:latin typeface="Cambria" pitchFamily="34" charset="0"/>
                <a:ea typeface="Cambria" pitchFamily="34" charset="-122"/>
                <a:cs typeface="Cambria" pitchFamily="34" charset="-120"/>
              </a:rPr>
              <a:t>06</a:t>
            </a:r>
            <a:endParaRPr lang="en-US" sz="2400" dirty="0"/>
          </a:p>
        </p:txBody>
      </p:sp>
      <p:sp>
        <p:nvSpPr>
          <p:cNvPr id="34" name="Text 32"/>
          <p:cNvSpPr txBox="1"/>
          <p:nvPr/>
        </p:nvSpPr>
        <p:spPr>
          <a:xfrm>
            <a:off x="9042197" y="4251960"/>
            <a:ext cx="2235098" cy="457200"/>
          </a:xfrm>
          <a:prstGeom prst="rect">
            <a:avLst/>
          </a:prstGeom>
          <a:noFill/>
          <a:ln/>
        </p:spPr>
        <p:txBody>
          <a:bodyPr wrap="square" lIns="0" tIns="0" rIns="0" bIns="0" rtlCol="0" anchor="ctr"/>
          <a:lstStyle/>
          <a:p>
            <a:pPr indent="0" marL="0">
              <a:buNone/>
            </a:pPr>
            <a:r>
              <a:rPr lang="en-US" sz="1500" b="1" dirty="0">
                <a:solidFill>
                  <a:srgbClr val="16284D"/>
                </a:solidFill>
                <a:latin typeface="Calibri" pitchFamily="34" charset="0"/>
                <a:ea typeface="Calibri" pitchFamily="34" charset="-122"/>
                <a:cs typeface="Calibri" pitchFamily="34" charset="-120"/>
              </a:rPr>
              <a:t>Saneamento dos registros</a:t>
            </a:r>
            <a:endParaRPr lang="en-US" sz="1500" dirty="0"/>
          </a:p>
        </p:txBody>
      </p:sp>
      <p:sp>
        <p:nvSpPr>
          <p:cNvPr id="35" name="Text 33"/>
          <p:cNvSpPr txBox="1"/>
          <p:nvPr/>
        </p:nvSpPr>
        <p:spPr>
          <a:xfrm>
            <a:off x="8356397" y="4846320"/>
            <a:ext cx="2875178" cy="1005840"/>
          </a:xfrm>
          <a:prstGeom prst="rect">
            <a:avLst/>
          </a:prstGeom>
          <a:noFill/>
          <a:ln/>
        </p:spPr>
        <p:txBody>
          <a:bodyPr wrap="square" lIns="0" tIns="0" rIns="0" bIns="0" rtlCol="0" anchor="t"/>
          <a:lstStyle/>
          <a:p>
            <a:pPr indent="0" marL="0">
              <a:buNone/>
            </a:pPr>
            <a:r>
              <a:rPr lang="en-US" sz="1300" dirty="0">
                <a:solidFill>
                  <a:srgbClr val="3E3A30"/>
                </a:solidFill>
                <a:latin typeface="Calibri" pitchFamily="34" charset="0"/>
                <a:ea typeface="Calibri" pitchFamily="34" charset="-122"/>
                <a:cs typeface="Calibri" pitchFamily="34" charset="-120"/>
              </a:rPr>
              <a:t>Conferir os pontos de atenção e registrar o valor estimado das 17 demandas sem valor.</a:t>
            </a:r>
            <a:endParaRPr lang="en-US" sz="1300" dirty="0"/>
          </a:p>
        </p:txBody>
      </p:sp>
      <p:sp>
        <p:nvSpPr>
          <p:cNvPr id="36" name="Shape 34"/>
          <p:cNvSpPr/>
          <p:nvPr/>
        </p:nvSpPr>
        <p:spPr>
          <a:xfrm>
            <a:off x="685800" y="6355080"/>
            <a:ext cx="10820095" cy="0"/>
          </a:xfrm>
          <a:prstGeom prst="line">
            <a:avLst/>
          </a:prstGeom>
          <a:noFill/>
          <a:ln w="6350">
            <a:solidFill>
              <a:srgbClr val="D9D2C3"/>
            </a:solidFill>
            <a:prstDash val="solid"/>
          </a:ln>
        </p:spPr>
      </p:sp>
      <p:sp>
        <p:nvSpPr>
          <p:cNvPr id="37" name="Text 35"/>
          <p:cNvSpPr txBox="1"/>
          <p:nvPr/>
        </p:nvSpPr>
        <p:spPr>
          <a:xfrm>
            <a:off x="685800" y="6419088"/>
            <a:ext cx="9601200" cy="256032"/>
          </a:xfrm>
          <a:prstGeom prst="rect">
            <a:avLst/>
          </a:prstGeom>
          <a:noFill/>
          <a:ln/>
        </p:spPr>
        <p:txBody>
          <a:bodyPr wrap="square" lIns="0" tIns="0" rIns="0" bIns="0" rtlCol="0" anchor="ctr"/>
          <a:lstStyle/>
          <a:p>
            <a:pPr indent="0" marL="0">
              <a:buNone/>
            </a:pPr>
            <a:r>
              <a:rPr lang="en-US" sz="1000" dirty="0">
                <a:solidFill>
                  <a:srgbClr val="6E6758"/>
                </a:solidFill>
                <a:latin typeface="Calibri" pitchFamily="34" charset="0"/>
                <a:ea typeface="Calibri" pitchFamily="34" charset="-122"/>
                <a:cs typeface="Calibri" pitchFamily="34" charset="-120"/>
              </a:rPr>
              <a:t>GT PROPAG · Compras Públicas · Fonte: Planilha de andamento do GT PROPAG · posição de 25/09/2026</a:t>
            </a:r>
            <a:endParaRPr lang="en-US" sz="1000" dirty="0"/>
          </a:p>
        </p:txBody>
      </p:sp>
      <p:sp>
        <p:nvSpPr>
          <p:cNvPr id="38" name="Text 36"/>
          <p:cNvSpPr txBox="1"/>
          <p:nvPr/>
        </p:nvSpPr>
        <p:spPr>
          <a:xfrm>
            <a:off x="10591495" y="6419088"/>
            <a:ext cx="914400" cy="256032"/>
          </a:xfrm>
          <a:prstGeom prst="rect">
            <a:avLst/>
          </a:prstGeom>
          <a:noFill/>
          <a:ln/>
        </p:spPr>
        <p:txBody>
          <a:bodyPr wrap="square" lIns="0" tIns="0" rIns="0" bIns="0" rtlCol="0" anchor="ctr"/>
          <a:lstStyle/>
          <a:p>
            <a:pPr algn="r" indent="0" marL="0">
              <a:buNone/>
            </a:pPr>
            <a:r>
              <a:rPr lang="en-US" sz="1050" b="1" dirty="0">
                <a:solidFill>
                  <a:srgbClr val="16284D"/>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84D"/>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8962F"/>
          </a:solidFill>
          <a:ln w="12700">
            <a:solidFill>
              <a:srgbClr val="C8962F"/>
            </a:solidFill>
            <a:prstDash val="solid"/>
          </a:ln>
        </p:spPr>
      </p:sp>
      <p:sp>
        <p:nvSpPr>
          <p:cNvPr id="3" name="Text 1"/>
          <p:cNvSpPr txBox="1"/>
          <p:nvPr/>
        </p:nvSpPr>
        <p:spPr>
          <a:xfrm>
            <a:off x="685800" y="457200"/>
            <a:ext cx="10820095" cy="274320"/>
          </a:xfrm>
          <a:prstGeom prst="rect">
            <a:avLst/>
          </a:prstGeom>
          <a:noFill/>
          <a:ln/>
        </p:spPr>
        <p:txBody>
          <a:bodyPr wrap="square" lIns="0" tIns="0" rIns="0" bIns="0" rtlCol="0" anchor="ctr"/>
          <a:lstStyle/>
          <a:p>
            <a:pPr indent="0" marL="0">
              <a:buNone/>
            </a:pPr>
            <a:r>
              <a:rPr lang="en-US" sz="1150" b="1" spc="300" kern="0" dirty="0">
                <a:solidFill>
                  <a:srgbClr val="E0B45A"/>
                </a:solidFill>
                <a:latin typeface="Calibri" pitchFamily="34" charset="0"/>
                <a:ea typeface="Calibri" pitchFamily="34" charset="-122"/>
                <a:cs typeface="Calibri" pitchFamily="34" charset="-120"/>
              </a:rPr>
              <a:t>CONSIDERAÇÕES FINAIS</a:t>
            </a:r>
            <a:endParaRPr lang="en-US" sz="1150" dirty="0"/>
          </a:p>
        </p:txBody>
      </p:sp>
      <p:sp>
        <p:nvSpPr>
          <p:cNvPr id="4" name="Text 2"/>
          <p:cNvSpPr txBox="1"/>
          <p:nvPr/>
        </p:nvSpPr>
        <p:spPr>
          <a:xfrm>
            <a:off x="685800" y="749808"/>
            <a:ext cx="10820095" cy="658368"/>
          </a:xfrm>
          <a:prstGeom prst="rect">
            <a:avLst/>
          </a:prstGeom>
          <a:noFill/>
          <a:ln/>
        </p:spPr>
        <p:txBody>
          <a:bodyPr wrap="square" lIns="0" tIns="0" rIns="0" bIns="0" rtlCol="0" anchor="t"/>
          <a:lstStyle/>
          <a:p>
            <a:pPr indent="0" marL="0">
              <a:buNone/>
            </a:pPr>
            <a:r>
              <a:rPr lang="en-US" sz="3200" b="1" dirty="0">
                <a:solidFill>
                  <a:srgbClr val="FBFAF6"/>
                </a:solidFill>
                <a:latin typeface="Cambria" pitchFamily="34" charset="0"/>
                <a:ea typeface="Cambria" pitchFamily="34" charset="-122"/>
                <a:cs typeface="Cambria" pitchFamily="34" charset="-120"/>
              </a:rPr>
              <a:t>Síntese para deliberação</a:t>
            </a:r>
            <a:endParaRPr lang="en-US" sz="3200" dirty="0"/>
          </a:p>
        </p:txBody>
      </p:sp>
      <p:sp>
        <p:nvSpPr>
          <p:cNvPr id="5" name="Shape 3"/>
          <p:cNvSpPr/>
          <p:nvPr/>
        </p:nvSpPr>
        <p:spPr>
          <a:xfrm>
            <a:off x="685800" y="1481328"/>
            <a:ext cx="1005840" cy="0"/>
          </a:xfrm>
          <a:prstGeom prst="line">
            <a:avLst/>
          </a:prstGeom>
          <a:noFill/>
          <a:ln w="25400">
            <a:solidFill>
              <a:srgbClr val="C8962F"/>
            </a:solidFill>
            <a:prstDash val="solid"/>
          </a:ln>
        </p:spPr>
      </p:sp>
      <p:sp>
        <p:nvSpPr>
          <p:cNvPr id="6" name="Text 4"/>
          <p:cNvSpPr txBox="1"/>
          <p:nvPr/>
        </p:nvSpPr>
        <p:spPr>
          <a:xfrm>
            <a:off x="685800" y="1828800"/>
            <a:ext cx="822960" cy="822960"/>
          </a:xfrm>
          <a:prstGeom prst="rect">
            <a:avLst/>
          </a:prstGeom>
          <a:noFill/>
          <a:ln/>
        </p:spPr>
        <p:txBody>
          <a:bodyPr wrap="square" lIns="0" tIns="0" rIns="0" bIns="0" rtlCol="0" anchor="t"/>
          <a:lstStyle/>
          <a:p>
            <a:pPr indent="0" marL="0">
              <a:buNone/>
            </a:pPr>
            <a:r>
              <a:rPr lang="en-US" sz="3000" b="1" dirty="0">
                <a:solidFill>
                  <a:srgbClr val="E0B45A"/>
                </a:solidFill>
                <a:latin typeface="Cambria" pitchFamily="34" charset="0"/>
                <a:ea typeface="Cambria" pitchFamily="34" charset="-122"/>
                <a:cs typeface="Cambria" pitchFamily="34" charset="-120"/>
              </a:rPr>
              <a:t>01</a:t>
            </a:r>
            <a:endParaRPr lang="en-US" sz="3000" dirty="0"/>
          </a:p>
        </p:txBody>
      </p:sp>
      <p:sp>
        <p:nvSpPr>
          <p:cNvPr id="7" name="Text 5"/>
          <p:cNvSpPr txBox="1"/>
          <p:nvPr/>
        </p:nvSpPr>
        <p:spPr>
          <a:xfrm>
            <a:off x="1600200" y="1828800"/>
            <a:ext cx="9905695" cy="914400"/>
          </a:xfrm>
          <a:prstGeom prst="rect">
            <a:avLst/>
          </a:prstGeom>
          <a:noFill/>
          <a:ln/>
        </p:spPr>
        <p:txBody>
          <a:bodyPr wrap="square" lIns="0" tIns="0" rIns="0" bIns="0" rtlCol="0" anchor="t"/>
          <a:lstStyle/>
          <a:p>
            <a:pPr indent="0" marL="0">
              <a:buNone/>
            </a:pPr>
            <a:r>
              <a:rPr lang="en-US" sz="1700" b="1" dirty="0">
                <a:solidFill>
                  <a:srgbClr val="FBFAF6"/>
                </a:solidFill>
                <a:latin typeface="Calibri" pitchFamily="34" charset="0"/>
                <a:ea typeface="Calibri" pitchFamily="34" charset="-122"/>
                <a:cs typeface="Calibri" pitchFamily="34" charset="-120"/>
              </a:rPr>
              <a:t>Estágio da carteira</a:t>
            </a:r>
            <a:endParaRPr lang="en-US" sz="1700" dirty="0"/>
          </a:p>
          <a:p>
            <a:pPr indent="0" marL="0">
              <a:buNone/>
            </a:pPr>
            <a:r>
              <a:rPr lang="en-US" sz="1450" dirty="0">
                <a:solidFill>
                  <a:srgbClr val="CBD3E4"/>
                </a:solidFill>
                <a:latin typeface="Calibri" pitchFamily="34" charset="0"/>
                <a:ea typeface="Calibri" pitchFamily="34" charset="-122"/>
                <a:cs typeface="Calibri" pitchFamily="34" charset="-120"/>
              </a:rPr>
              <a:t>As 20 demandas encontram-se na fase preparatória. Nove possuem DOD elaborado e cinco contam com manifestação favorável do TI.</a:t>
            </a:r>
            <a:endParaRPr lang="en-US" sz="1700" dirty="0"/>
          </a:p>
        </p:txBody>
      </p:sp>
      <p:sp>
        <p:nvSpPr>
          <p:cNvPr id="8" name="Text 6"/>
          <p:cNvSpPr txBox="1"/>
          <p:nvPr/>
        </p:nvSpPr>
        <p:spPr>
          <a:xfrm>
            <a:off x="685800" y="2852928"/>
            <a:ext cx="822960" cy="822960"/>
          </a:xfrm>
          <a:prstGeom prst="rect">
            <a:avLst/>
          </a:prstGeom>
          <a:noFill/>
          <a:ln/>
        </p:spPr>
        <p:txBody>
          <a:bodyPr wrap="square" lIns="0" tIns="0" rIns="0" bIns="0" rtlCol="0" anchor="t"/>
          <a:lstStyle/>
          <a:p>
            <a:pPr indent="0" marL="0">
              <a:buNone/>
            </a:pPr>
            <a:r>
              <a:rPr lang="en-US" sz="3000" b="1" dirty="0">
                <a:solidFill>
                  <a:srgbClr val="E0B45A"/>
                </a:solidFill>
                <a:latin typeface="Cambria" pitchFamily="34" charset="0"/>
                <a:ea typeface="Cambria" pitchFamily="34" charset="-122"/>
                <a:cs typeface="Cambria" pitchFamily="34" charset="-120"/>
              </a:rPr>
              <a:t>02</a:t>
            </a:r>
            <a:endParaRPr lang="en-US" sz="3000" dirty="0"/>
          </a:p>
        </p:txBody>
      </p:sp>
      <p:sp>
        <p:nvSpPr>
          <p:cNvPr id="9" name="Text 7"/>
          <p:cNvSpPr txBox="1"/>
          <p:nvPr/>
        </p:nvSpPr>
        <p:spPr>
          <a:xfrm>
            <a:off x="1600200" y="2852928"/>
            <a:ext cx="9905695" cy="914400"/>
          </a:xfrm>
          <a:prstGeom prst="rect">
            <a:avLst/>
          </a:prstGeom>
          <a:noFill/>
          <a:ln/>
        </p:spPr>
        <p:txBody>
          <a:bodyPr wrap="square" lIns="0" tIns="0" rIns="0" bIns="0" rtlCol="0" anchor="t"/>
          <a:lstStyle/>
          <a:p>
            <a:pPr indent="0" marL="0">
              <a:buNone/>
            </a:pPr>
            <a:r>
              <a:rPr lang="en-US" sz="1700" b="1" dirty="0">
                <a:solidFill>
                  <a:srgbClr val="FBFAF6"/>
                </a:solidFill>
                <a:latin typeface="Calibri" pitchFamily="34" charset="0"/>
                <a:ea typeface="Calibri" pitchFamily="34" charset="-122"/>
                <a:cs typeface="Calibri" pitchFamily="34" charset="-120"/>
              </a:rPr>
              <a:t>Principal pendência</a:t>
            </a:r>
            <a:endParaRPr lang="en-US" sz="1700" dirty="0"/>
          </a:p>
          <a:p>
            <a:pPr indent="0" marL="0">
              <a:buNone/>
            </a:pPr>
            <a:r>
              <a:rPr lang="en-US" sz="1450" dirty="0">
                <a:solidFill>
                  <a:srgbClr val="CBD3E4"/>
                </a:solidFill>
                <a:latin typeface="Calibri" pitchFamily="34" charset="0"/>
                <a:ea typeface="Calibri" pitchFamily="34" charset="-122"/>
                <a:cs typeface="Calibri" pitchFamily="34" charset="-120"/>
              </a:rPr>
              <a:t>Nove demandas (itens 11 a 19) não possuem justificativa no drive, o que condiciona a continuidade da instrução.</a:t>
            </a:r>
            <a:endParaRPr lang="en-US" sz="1700" dirty="0"/>
          </a:p>
        </p:txBody>
      </p:sp>
      <p:sp>
        <p:nvSpPr>
          <p:cNvPr id="10" name="Text 8"/>
          <p:cNvSpPr txBox="1"/>
          <p:nvPr/>
        </p:nvSpPr>
        <p:spPr>
          <a:xfrm>
            <a:off x="685800" y="3877056"/>
            <a:ext cx="822960" cy="822960"/>
          </a:xfrm>
          <a:prstGeom prst="rect">
            <a:avLst/>
          </a:prstGeom>
          <a:noFill/>
          <a:ln/>
        </p:spPr>
        <p:txBody>
          <a:bodyPr wrap="square" lIns="0" tIns="0" rIns="0" bIns="0" rtlCol="0" anchor="t"/>
          <a:lstStyle/>
          <a:p>
            <a:pPr indent="0" marL="0">
              <a:buNone/>
            </a:pPr>
            <a:r>
              <a:rPr lang="en-US" sz="3000" b="1" dirty="0">
                <a:solidFill>
                  <a:srgbClr val="E0B45A"/>
                </a:solidFill>
                <a:latin typeface="Cambria" pitchFamily="34" charset="0"/>
                <a:ea typeface="Cambria" pitchFamily="34" charset="-122"/>
                <a:cs typeface="Cambria" pitchFamily="34" charset="-120"/>
              </a:rPr>
              <a:t>03</a:t>
            </a:r>
            <a:endParaRPr lang="en-US" sz="3000" dirty="0"/>
          </a:p>
        </p:txBody>
      </p:sp>
      <p:sp>
        <p:nvSpPr>
          <p:cNvPr id="11" name="Text 9"/>
          <p:cNvSpPr txBox="1"/>
          <p:nvPr/>
        </p:nvSpPr>
        <p:spPr>
          <a:xfrm>
            <a:off x="1600200" y="3877056"/>
            <a:ext cx="9905695" cy="914400"/>
          </a:xfrm>
          <a:prstGeom prst="rect">
            <a:avLst/>
          </a:prstGeom>
          <a:noFill/>
          <a:ln/>
        </p:spPr>
        <p:txBody>
          <a:bodyPr wrap="square" lIns="0" tIns="0" rIns="0" bIns="0" rtlCol="0" anchor="t"/>
          <a:lstStyle/>
          <a:p>
            <a:pPr indent="0" marL="0">
              <a:buNone/>
            </a:pPr>
            <a:r>
              <a:rPr lang="en-US" sz="1700" b="1" dirty="0">
                <a:solidFill>
                  <a:srgbClr val="FBFAF6"/>
                </a:solidFill>
                <a:latin typeface="Calibri" pitchFamily="34" charset="0"/>
                <a:ea typeface="Calibri" pitchFamily="34" charset="-122"/>
                <a:cs typeface="Calibri" pitchFamily="34" charset="-120"/>
              </a:rPr>
              <a:t>Vias de contratação</a:t>
            </a:r>
            <a:endParaRPr lang="en-US" sz="1700" dirty="0"/>
          </a:p>
          <a:p>
            <a:pPr indent="0" marL="0">
              <a:buNone/>
            </a:pPr>
            <a:r>
              <a:rPr lang="en-US" sz="1450" dirty="0">
                <a:solidFill>
                  <a:srgbClr val="CBD3E4"/>
                </a:solidFill>
                <a:latin typeface="Calibri" pitchFamily="34" charset="0"/>
                <a:ea typeface="Calibri" pitchFamily="34" charset="-122"/>
                <a:cs typeface="Calibri" pitchFamily="34" charset="-120"/>
              </a:rPr>
              <a:t>Dez demandas têm ata de registro de preços indicada (oito com status “SIM” e duas com status “PARTICIPE”); uma registra dispensa; oito aguardam nova pesquisa de atas.</a:t>
            </a:r>
            <a:endParaRPr lang="en-US" sz="1700" dirty="0"/>
          </a:p>
        </p:txBody>
      </p:sp>
      <p:sp>
        <p:nvSpPr>
          <p:cNvPr id="12" name="Text 10"/>
          <p:cNvSpPr txBox="1"/>
          <p:nvPr/>
        </p:nvSpPr>
        <p:spPr>
          <a:xfrm>
            <a:off x="685800" y="4901184"/>
            <a:ext cx="822960" cy="822960"/>
          </a:xfrm>
          <a:prstGeom prst="rect">
            <a:avLst/>
          </a:prstGeom>
          <a:noFill/>
          <a:ln/>
        </p:spPr>
        <p:txBody>
          <a:bodyPr wrap="square" lIns="0" tIns="0" rIns="0" bIns="0" rtlCol="0" anchor="t"/>
          <a:lstStyle/>
          <a:p>
            <a:pPr indent="0" marL="0">
              <a:buNone/>
            </a:pPr>
            <a:r>
              <a:rPr lang="en-US" sz="3000" b="1" dirty="0">
                <a:solidFill>
                  <a:srgbClr val="E0B45A"/>
                </a:solidFill>
                <a:latin typeface="Cambria" pitchFamily="34" charset="0"/>
                <a:ea typeface="Cambria" pitchFamily="34" charset="-122"/>
                <a:cs typeface="Cambria" pitchFamily="34" charset="-120"/>
              </a:rPr>
              <a:t>04</a:t>
            </a:r>
            <a:endParaRPr lang="en-US" sz="3000" dirty="0"/>
          </a:p>
        </p:txBody>
      </p:sp>
      <p:sp>
        <p:nvSpPr>
          <p:cNvPr id="13" name="Text 11"/>
          <p:cNvSpPr txBox="1"/>
          <p:nvPr/>
        </p:nvSpPr>
        <p:spPr>
          <a:xfrm>
            <a:off x="1600200" y="4901184"/>
            <a:ext cx="9905695" cy="914400"/>
          </a:xfrm>
          <a:prstGeom prst="rect">
            <a:avLst/>
          </a:prstGeom>
          <a:noFill/>
          <a:ln/>
        </p:spPr>
        <p:txBody>
          <a:bodyPr wrap="square" lIns="0" tIns="0" rIns="0" bIns="0" rtlCol="0" anchor="t"/>
          <a:lstStyle/>
          <a:p>
            <a:pPr indent="0" marL="0">
              <a:buNone/>
            </a:pPr>
            <a:r>
              <a:rPr lang="en-US" sz="1700" b="1" dirty="0">
                <a:solidFill>
                  <a:srgbClr val="FBFAF6"/>
                </a:solidFill>
                <a:latin typeface="Calibri" pitchFamily="34" charset="0"/>
                <a:ea typeface="Calibri" pitchFamily="34" charset="-122"/>
                <a:cs typeface="Calibri" pitchFamily="34" charset="-120"/>
              </a:rPr>
              <a:t>Dimensionamento</a:t>
            </a:r>
            <a:endParaRPr lang="en-US" sz="1700" dirty="0"/>
          </a:p>
          <a:p>
            <a:pPr indent="0" marL="0">
              <a:buNone/>
            </a:pPr>
            <a:r>
              <a:rPr lang="en-US" sz="1450" dirty="0">
                <a:solidFill>
                  <a:srgbClr val="CBD3E4"/>
                </a:solidFill>
                <a:latin typeface="Calibri" pitchFamily="34" charset="0"/>
                <a:ea typeface="Calibri" pitchFamily="34" charset="-122"/>
                <a:cs typeface="Calibri" pitchFamily="34" charset="-120"/>
              </a:rPr>
              <a:t>O valor estimado está registrado em três demandas, totalizando R$ 69,68 mi. As demais 17 ainda não possuem estimativa.</a:t>
            </a:r>
            <a:endParaRPr lang="en-US" sz="1700" dirty="0"/>
          </a:p>
        </p:txBody>
      </p:sp>
      <p:sp>
        <p:nvSpPr>
          <p:cNvPr id="14" name="Shape 12"/>
          <p:cNvSpPr/>
          <p:nvPr/>
        </p:nvSpPr>
        <p:spPr>
          <a:xfrm>
            <a:off x="685800" y="6355080"/>
            <a:ext cx="10820095" cy="0"/>
          </a:xfrm>
          <a:prstGeom prst="line">
            <a:avLst/>
          </a:prstGeom>
          <a:noFill/>
          <a:ln w="6350">
            <a:solidFill>
              <a:srgbClr val="3A5184"/>
            </a:solidFill>
            <a:prstDash val="solid"/>
          </a:ln>
        </p:spPr>
      </p:sp>
      <p:sp>
        <p:nvSpPr>
          <p:cNvPr id="15" name="Text 13"/>
          <p:cNvSpPr txBox="1"/>
          <p:nvPr/>
        </p:nvSpPr>
        <p:spPr>
          <a:xfrm>
            <a:off x="685800" y="6419088"/>
            <a:ext cx="9601200" cy="256032"/>
          </a:xfrm>
          <a:prstGeom prst="rect">
            <a:avLst/>
          </a:prstGeom>
          <a:noFill/>
          <a:ln/>
        </p:spPr>
        <p:txBody>
          <a:bodyPr wrap="square" lIns="0" tIns="0" rIns="0" bIns="0" rtlCol="0" anchor="ctr"/>
          <a:lstStyle/>
          <a:p>
            <a:pPr indent="0" marL="0">
              <a:buNone/>
            </a:pPr>
            <a:r>
              <a:rPr lang="en-US" sz="1000" dirty="0">
                <a:solidFill>
                  <a:srgbClr val="A9B4CD"/>
                </a:solidFill>
                <a:latin typeface="Calibri" pitchFamily="34" charset="0"/>
                <a:ea typeface="Calibri" pitchFamily="34" charset="-122"/>
                <a:cs typeface="Calibri" pitchFamily="34" charset="-120"/>
              </a:rPr>
              <a:t>GT PROPAG · Compras Públicas · Fonte: Planilha de andamento do GT PROPAG · posição de 25/09/2026</a:t>
            </a:r>
            <a:endParaRPr lang="en-US" sz="1000" dirty="0"/>
          </a:p>
        </p:txBody>
      </p:sp>
      <p:sp>
        <p:nvSpPr>
          <p:cNvPr id="16" name="Text 14"/>
          <p:cNvSpPr txBox="1"/>
          <p:nvPr/>
        </p:nvSpPr>
        <p:spPr>
          <a:xfrm>
            <a:off x="10591495" y="6419088"/>
            <a:ext cx="914400" cy="256032"/>
          </a:xfrm>
          <a:prstGeom prst="rect">
            <a:avLst/>
          </a:prstGeom>
          <a:noFill/>
          <a:ln/>
        </p:spPr>
        <p:txBody>
          <a:bodyPr wrap="square" lIns="0" tIns="0" rIns="0" bIns="0" rtlCol="0" anchor="ctr"/>
          <a:lstStyle/>
          <a:p>
            <a:pPr algn="r" indent="0" marL="0">
              <a:buNone/>
            </a:pPr>
            <a:r>
              <a:rPr lang="en-US" sz="1050" b="1" dirty="0">
                <a:solidFill>
                  <a:srgbClr val="E0B45A"/>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GT PROPAG · Compras Públicas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Situação das contratações de TI da FAETEC</dc:title>
  <dc:subject>Apresentação executiva · posição de 25/09/2026</dc:subject>
  <dc:creator>PptxGenJS</dc:creator>
  <cp:lastModifiedBy>PptxGenJS</cp:lastModifiedBy>
  <cp:revision>1</cp:revision>
  <dcterms:created xsi:type="dcterms:W3CDTF">2026-09-25T13:43:42Z</dcterms:created>
  <dcterms:modified xsi:type="dcterms:W3CDTF">2026-09-25T13:43:42Z</dcterms:modified>
</cp:coreProperties>
</file>